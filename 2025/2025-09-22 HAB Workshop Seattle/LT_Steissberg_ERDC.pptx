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6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  <p:sldMasterId id="2147483674" r:id="rId5"/>
    <p:sldMasterId id="2147483681" r:id="rId6"/>
    <p:sldMasterId id="2147483685" r:id="rId7"/>
    <p:sldMasterId id="2147483689" r:id="rId8"/>
    <p:sldMasterId id="2147483695" r:id="rId9"/>
    <p:sldMasterId id="2147483701" r:id="rId10"/>
    <p:sldMasterId id="2147483709" r:id="rId11"/>
  </p:sldMasterIdLst>
  <p:notesMasterIdLst>
    <p:notesMasterId r:id="rId24"/>
  </p:notesMasterIdLst>
  <p:handoutMasterIdLst>
    <p:handoutMasterId r:id="rId25"/>
  </p:handoutMasterIdLst>
  <p:sldIdLst>
    <p:sldId id="286" r:id="rId12"/>
    <p:sldId id="668" r:id="rId13"/>
    <p:sldId id="664" r:id="rId14"/>
    <p:sldId id="660" r:id="rId15"/>
    <p:sldId id="669" r:id="rId16"/>
    <p:sldId id="671" r:id="rId17"/>
    <p:sldId id="672" r:id="rId18"/>
    <p:sldId id="673" r:id="rId19"/>
    <p:sldId id="674" r:id="rId20"/>
    <p:sldId id="675" r:id="rId21"/>
    <p:sldId id="666" r:id="rId22"/>
    <p:sldId id="301" r:id="rId23"/>
  </p:sldIdLst>
  <p:sldSz cx="12192000" cy="6858000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96" userDrawn="1">
          <p15:clr>
            <a:srgbClr val="A4A3A4"/>
          </p15:clr>
        </p15:guide>
        <p15:guide id="4" orient="horz" pos="240" userDrawn="1">
          <p15:clr>
            <a:srgbClr val="A4A3A4"/>
          </p15:clr>
        </p15:guide>
        <p15:guide id="5" pos="73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BEDED"/>
    <a:srgbClr val="F1F8F9"/>
    <a:srgbClr val="ED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A75034-7653-4F4A-87CF-7A236482449F}" v="4" dt="2025-09-18T20:58:27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7"/>
    <p:restoredTop sz="94626"/>
  </p:normalViewPr>
  <p:slideViewPr>
    <p:cSldViewPr snapToGrid="0">
      <p:cViewPr varScale="1">
        <p:scale>
          <a:sx n="121" d="100"/>
          <a:sy n="121" d="100"/>
        </p:scale>
        <p:origin x="488" y="168"/>
      </p:cViewPr>
      <p:guideLst>
        <p:guide orient="horz" pos="2160"/>
        <p:guide pos="3840"/>
        <p:guide orient="horz" pos="696"/>
        <p:guide orient="horz" pos="240"/>
        <p:guide pos="73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issberg, Todd E CIV USARMY CEERD-EL (USA)" userId="7f67b811-0eb4-4751-9e4a-fa9f270e94fa" providerId="ADAL" clId="{FD14041F-B1B1-5F87-9818-47AA2B81B444}"/>
    <pc:docChg chg="custSel addSld modSld sldOrd">
      <pc:chgData name="Steissberg, Todd E CIV USARMY CEERD-EL (USA)" userId="7f67b811-0eb4-4751-9e4a-fa9f270e94fa" providerId="ADAL" clId="{FD14041F-B1B1-5F87-9818-47AA2B81B444}" dt="2025-09-18T20:59:56.535" v="556" actId="20577"/>
      <pc:docMkLst>
        <pc:docMk/>
      </pc:docMkLst>
      <pc:sldChg chg="addSp delSp modSp mod">
        <pc:chgData name="Steissberg, Todd E CIV USARMY CEERD-EL (USA)" userId="7f67b811-0eb4-4751-9e4a-fa9f270e94fa" providerId="ADAL" clId="{FD14041F-B1B1-5F87-9818-47AA2B81B444}" dt="2025-09-18T20:59:56.535" v="556" actId="20577"/>
        <pc:sldMkLst>
          <pc:docMk/>
          <pc:sldMk cId="3464538520" sldId="681"/>
        </pc:sldMkLst>
        <pc:spChg chg="mod">
          <ac:chgData name="Steissberg, Todd E CIV USARMY CEERD-EL (USA)" userId="7f67b811-0eb4-4751-9e4a-fa9f270e94fa" providerId="ADAL" clId="{FD14041F-B1B1-5F87-9818-47AA2B81B444}" dt="2025-09-18T20:54:12.858" v="420" actId="20577"/>
          <ac:spMkLst>
            <pc:docMk/>
            <pc:sldMk cId="3464538520" sldId="681"/>
            <ac:spMk id="6" creationId="{6D1B5E4B-4A6C-9B4D-C962-99F2C562D44F}"/>
          </ac:spMkLst>
        </pc:spChg>
        <pc:spChg chg="mod">
          <ac:chgData name="Steissberg, Todd E CIV USARMY CEERD-EL (USA)" userId="7f67b811-0eb4-4751-9e4a-fa9f270e94fa" providerId="ADAL" clId="{FD14041F-B1B1-5F87-9818-47AA2B81B444}" dt="2025-09-18T20:59:56.535" v="556" actId="20577"/>
          <ac:spMkLst>
            <pc:docMk/>
            <pc:sldMk cId="3464538520" sldId="681"/>
            <ac:spMk id="565" creationId="{EBB0A440-CA99-5F73-70D5-DCB5F2F1B3BA}"/>
          </ac:spMkLst>
        </pc:spChg>
        <pc:picChg chg="add mod">
          <ac:chgData name="Steissberg, Todd E CIV USARMY CEERD-EL (USA)" userId="7f67b811-0eb4-4751-9e4a-fa9f270e94fa" providerId="ADAL" clId="{FD14041F-B1B1-5F87-9818-47AA2B81B444}" dt="2025-09-18T20:59:07.477" v="468" actId="1038"/>
          <ac:picMkLst>
            <pc:docMk/>
            <pc:sldMk cId="3464538520" sldId="681"/>
            <ac:picMk id="4" creationId="{567A5A86-A801-1284-C6B0-9E1F860970D8}"/>
          </ac:picMkLst>
        </pc:picChg>
        <pc:picChg chg="add del mod">
          <ac:chgData name="Steissberg, Todd E CIV USARMY CEERD-EL (USA)" userId="7f67b811-0eb4-4751-9e4a-fa9f270e94fa" providerId="ADAL" clId="{FD14041F-B1B1-5F87-9818-47AA2B81B444}" dt="2025-09-18T20:58:22.558" v="427" actId="478"/>
          <ac:picMkLst>
            <pc:docMk/>
            <pc:sldMk cId="3464538520" sldId="681"/>
            <ac:picMk id="7" creationId="{77E43E63-2400-CB8B-8AB7-6792C4A4654F}"/>
          </ac:picMkLst>
        </pc:picChg>
        <pc:picChg chg="add mod">
          <ac:chgData name="Steissberg, Todd E CIV USARMY CEERD-EL (USA)" userId="7f67b811-0eb4-4751-9e4a-fa9f270e94fa" providerId="ADAL" clId="{FD14041F-B1B1-5F87-9818-47AA2B81B444}" dt="2025-09-18T20:59:04.375" v="455" actId="1038"/>
          <ac:picMkLst>
            <pc:docMk/>
            <pc:sldMk cId="3464538520" sldId="681"/>
            <ac:picMk id="9" creationId="{6C39314B-F6D1-9271-A41E-A0C21059F781}"/>
          </ac:picMkLst>
        </pc:picChg>
        <pc:picChg chg="del">
          <ac:chgData name="Steissberg, Todd E CIV USARMY CEERD-EL (USA)" userId="7f67b811-0eb4-4751-9e4a-fa9f270e94fa" providerId="ADAL" clId="{FD14041F-B1B1-5F87-9818-47AA2B81B444}" dt="2025-09-18T20:53:21.416" v="326" actId="478"/>
          <ac:picMkLst>
            <pc:docMk/>
            <pc:sldMk cId="3464538520" sldId="681"/>
            <ac:picMk id="17" creationId="{94D1FF9A-5148-F025-23EB-5941E4446C97}"/>
          </ac:picMkLst>
        </pc:picChg>
      </pc:sldChg>
      <pc:sldChg chg="add ord">
        <pc:chgData name="Steissberg, Todd E CIV USARMY CEERD-EL (USA)" userId="7f67b811-0eb4-4751-9e4a-fa9f270e94fa" providerId="ADAL" clId="{FD14041F-B1B1-5F87-9818-47AA2B81B444}" dt="2025-09-18T20:51:51.244" v="1" actId="20578"/>
        <pc:sldMkLst>
          <pc:docMk/>
          <pc:sldMk cId="2896808233" sldId="6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B980B342-48CC-406F-A9DE-42A3E8B5A7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12ED653F-54FD-4B51-976A-86F528DDF96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8275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0404" name="Rectangle 4">
            <a:extLst>
              <a:ext uri="{FF2B5EF4-FFF2-40B4-BE49-F238E27FC236}">
                <a16:creationId xmlns:a16="http://schemas.microsoft.com/office/drawing/2014/main" id="{D2627E17-93F4-44EC-BECE-43E4626A4E0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0405" name="Rectangle 5">
            <a:extLst>
              <a:ext uri="{FF2B5EF4-FFF2-40B4-BE49-F238E27FC236}">
                <a16:creationId xmlns:a16="http://schemas.microsoft.com/office/drawing/2014/main" id="{10D50539-3C7E-4B05-BE23-DFC38302C9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8275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8D299CB-C521-453D-A253-520B7CAA9D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1FA24A4E-64CE-4789-B4B6-3DB0934032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2" tIns="46656" rIns="93312" bIns="46656" numCol="1" anchor="t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6C34B1A6-3257-4EE6-BBB1-922240D3F1E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8275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2" tIns="46656" rIns="93312" bIns="46656" numCol="1" anchor="t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DF79CBD6-C23B-4E74-8450-63EC454DB2A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9575" y="698500"/>
            <a:ext cx="62039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B8EFD0B9-F181-4FAD-B15C-9BB0B110C00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21188"/>
            <a:ext cx="561975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2" tIns="46656" rIns="93312" bIns="466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CD574270-24D8-4A67-B7BC-73261641E4F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2" tIns="46656" rIns="93312" bIns="46656" numCol="1" anchor="b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9" name="Rectangle 7">
            <a:extLst>
              <a:ext uri="{FF2B5EF4-FFF2-40B4-BE49-F238E27FC236}">
                <a16:creationId xmlns:a16="http://schemas.microsoft.com/office/drawing/2014/main" id="{9911F5D5-3455-4900-8D66-95D79AE817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8275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2" tIns="46656" rIns="93312" bIns="46656" numCol="1" anchor="b" anchorCtr="0" compatLnSpc="1">
            <a:prstTxWarp prst="textNoShape">
              <a:avLst/>
            </a:prstTxWarp>
          </a:bodyPr>
          <a:lstStyle>
            <a:lvl1pPr algn="r" defTabSz="933450">
              <a:defRPr sz="1200"/>
            </a:lvl1pPr>
          </a:lstStyle>
          <a:p>
            <a:fld id="{36826D95-CC44-42FF-9962-D96C39633D1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/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/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3427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/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/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9783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/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/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4016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/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/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0733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CB08CA7F-73E8-690E-97B0-9A4BE327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6D59627B-B0EA-57CD-884C-EF969CE73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82A09F3A-0403-5665-152F-A1379ED1D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C6C7F804-969D-D2AE-7664-99FD5FDBFE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8803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F7D52C01-DAC5-D38C-CF0E-851BD19A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C0A4DCB4-D3F2-C34D-A6B3-6EAFBE050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E7C32F74-8977-4EE6-66B4-16A828B92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A8A7DA8B-D7CC-D828-AE75-45F9EE1774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6085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170D2B71-C9A4-D232-678D-F04F1301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4077F48F-2115-2C8B-9D3C-0E2680A959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AF1206FB-C562-84FE-F9E2-71069872D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99310DB6-9AC0-54DA-0C87-72AEB34BC0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217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CF44E686-BF09-FCE5-F2E3-A5CD236DB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35D5A001-42BD-BA0E-8042-E78B0BC0D8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0032EA64-7220-980B-33E5-5AAB618A8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FD6AB5DC-8CA8-EFB3-6EC3-1E10CA5672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2282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3A12B6C9-DC29-61F8-7FD3-64F5F886F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17485214-6F30-FBAA-FA31-708535BE5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27F8E43C-163A-D18C-3DBE-7A062463C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D78E3222-8664-FA8C-5E84-0C61013BD6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9377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/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/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8312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F7597A7-AAEE-4D44-8E25-193B18EC3F8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363AAD-A570-4E87-AA61-2CA271E91D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583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1EF2E2-F766-4EC3-BD3B-504C5A1606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C8A6C9-F883-4878-8D09-025D23FE82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453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3EEEFC-9449-4773-8C56-5CD8581E5B2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C88DC8-BEC8-44D6-84B6-B2DEAA2F93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242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FB7904-8178-4A84-9486-68E2B949E8B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F55399-BE6E-4785-9616-703F2E8C89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4564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C4A72-8B44-4049-B3BF-E737154DC9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E6D01C-8C09-40B6-87B8-4A340A8FDA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10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E1C0899-BB03-4C63-8285-B639CFEF57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31A7A9-3784-420E-8BC6-4C9B1E3D6E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854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37F3953-CFFE-4261-848B-29FCF841660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4C535B-4A7D-462D-8B25-8F47172E7D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667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FA6B355-CF6F-4E7D-A7FD-6959729240C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2F3CC9-ABEA-40F9-89AA-F60771B12D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528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83FE8D8-8451-4C6F-BED8-42F8B8577A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0B2391-B323-4970-9B18-79D08236C4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44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CD489CF-28CB-44CF-BE23-E7E443363D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34988D-3043-4292-A5F4-05A4FE8EB7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63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211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211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63FFC0C-B34F-4DA7-8FDB-EB71663EE8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724E34-502A-4DD5-B5DD-9BE9488FFA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92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5207714-DE9B-4B9B-8F2A-9AF85A8C26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FA8E84-A2D4-4833-A163-9E927A1153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819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2117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D55682C-BED2-4067-A7E9-7D2BCCBEEF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4F993-E6A8-4373-8023-B37EBBE7C0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4215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4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69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50">
                <a:solidFill>
                  <a:srgbClr val="83847A"/>
                </a:solidFill>
              </a:defRPr>
            </a:lvl2pPr>
            <a:lvl3pPr>
              <a:defRPr sz="1125">
                <a:solidFill>
                  <a:srgbClr val="83847A"/>
                </a:solidFill>
              </a:defRPr>
            </a:lvl3pPr>
            <a:lvl4pPr>
              <a:defRPr sz="1125">
                <a:solidFill>
                  <a:srgbClr val="83847A"/>
                </a:solidFill>
              </a:defRPr>
            </a:lvl4pPr>
            <a:lvl5pPr>
              <a:defRPr sz="1125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05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4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966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4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985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4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01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8"/>
            <a:ext cx="5486400" cy="666241"/>
          </a:xfrm>
        </p:spPr>
        <p:txBody>
          <a:bodyPr bIns="0" anchor="b"/>
          <a:lstStyle>
            <a:lvl1pPr>
              <a:defRPr sz="101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69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1EF2E2-F766-4EC3-BD3B-504C5A1606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C8A6C9-F883-4878-8D09-025D23FE82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4248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 userDrawn="1">
            <p:ph type="body" sz="quarter" idx="12"/>
          </p:nvPr>
        </p:nvSpPr>
        <p:spPr>
          <a:xfrm>
            <a:off x="609604" y="3200407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09600" y="1924057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" y="107000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257175" indent="0">
              <a:buFontTx/>
              <a:buNone/>
              <a:defRPr/>
            </a:lvl2pPr>
            <a:lvl3pPr marL="514350" indent="0">
              <a:buFontTx/>
              <a:buNone/>
              <a:defRPr/>
            </a:lvl3pPr>
            <a:lvl4pPr marL="771525" indent="0">
              <a:buFontTx/>
              <a:buNone/>
              <a:defRPr/>
            </a:lvl4pPr>
            <a:lvl5pPr marL="10287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9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5304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A249-0877-4181-9CEC-76809EE5C2F2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Water Quality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503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7A79-6C5F-4610-A09B-5F9FF9EEA428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Water Quality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2428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6998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31339617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F3C-CFEC-2FD7-F9F7-38425E5D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19CB-EE4F-A351-321D-9548229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8013-6DB5-4FC7-934F-82C2E8D3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06F7-6DC6-4586-B3ED-D4191F2A1E2A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CD9E4-0999-A20E-109B-CEE73D47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A9713-BDA6-635C-1862-6C7B17A4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8A6C9-F883-4878-8D09-025D23FE828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2537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4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437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674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09233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997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036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052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0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87815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599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9199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317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93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6110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834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359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761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0642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1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784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92886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952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274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934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6213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975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8.jp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jpg"/><Relationship Id="rId5" Type="http://schemas.openxmlformats.org/officeDocument/2006/relationships/image" Target="../media/image6.jpeg"/><Relationship Id="rId4" Type="http://schemas.openxmlformats.org/officeDocument/2006/relationships/theme" Target="../theme/theme4.xml"/><Relationship Id="rId9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39.xml"/><Relationship Id="rId9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3" descr="ppt_camo_bkgrnd-02">
            <a:extLst>
              <a:ext uri="{FF2B5EF4-FFF2-40B4-BE49-F238E27FC236}">
                <a16:creationId xmlns:a16="http://schemas.microsoft.com/office/drawing/2014/main" id="{07E0C119-AAC9-46DC-93D5-3C24913C9C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2">
            <a:extLst>
              <a:ext uri="{FF2B5EF4-FFF2-40B4-BE49-F238E27FC236}">
                <a16:creationId xmlns:a16="http://schemas.microsoft.com/office/drawing/2014/main" id="{D18D6CD7-0128-470E-89B3-5B525A010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1A921F5-BFF2-49E3-92E3-CBAB86368F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 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7662450-B012-4B7E-9A2B-590A2EC947D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768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fld id="{968E7F01-041C-4010-88FE-1B9185A755B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82" name="Line 10">
            <a:extLst>
              <a:ext uri="{FF2B5EF4-FFF2-40B4-BE49-F238E27FC236}">
                <a16:creationId xmlns:a16="http://schemas.microsoft.com/office/drawing/2014/main" id="{34F20E99-D30D-4ED6-AF0E-DB45751F4AAC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Font typeface="Arial" panose="020B0604020202020204" pitchFamily="34" charset="0"/>
        <a:buChar char="►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Wingdings 3" panose="05040102010807070707" pitchFamily="18" charset="2"/>
        <a:buChar char="w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50000"/>
        <a:buFont typeface="Wingdings" panose="05000000000000000000" pitchFamily="2" charset="2"/>
        <a:buChar char="¡"/>
        <a:defRPr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2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 userDrawn="1"/>
        </p:nvSpPr>
        <p:spPr>
          <a:xfrm>
            <a:off x="182881" y="217302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8" y="6580039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675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079067" y="3416307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7" y="6286500"/>
            <a:ext cx="113519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US Army Corps of Engineers  </a:t>
            </a:r>
            <a:r>
              <a:rPr lang="en-US" sz="1050" dirty="0">
                <a:sym typeface="Symbol" panose="05050102010706020507" pitchFamily="18" charset="2"/>
              </a:rPr>
              <a:t></a:t>
            </a:r>
            <a:r>
              <a:rPr lang="en-US" sz="105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2"/>
            <a:ext cx="121920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40"/>
            <a:ext cx="121920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220221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35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35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35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35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257175" algn="l" rtl="0" eaLnBrk="1" fontAlgn="base" hangingPunct="1"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charset="0"/>
          <a:cs typeface="Arial" charset="0"/>
        </a:defRPr>
      </a:lvl6pPr>
      <a:lvl7pPr marL="514350" algn="l" rtl="0" eaLnBrk="1" fontAlgn="base" hangingPunct="1"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charset="0"/>
          <a:cs typeface="Arial" charset="0"/>
        </a:defRPr>
      </a:lvl7pPr>
      <a:lvl8pPr marL="771525" algn="l" rtl="0" eaLnBrk="1" fontAlgn="base" hangingPunct="1"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charset="0"/>
          <a:cs typeface="Arial" charset="0"/>
        </a:defRPr>
      </a:lvl8pPr>
      <a:lvl9pPr marL="1028700" algn="l" rtl="0" eaLnBrk="1" fontAlgn="base" hangingPunct="1"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1450" indent="-171450" algn="l" rtl="0" eaLnBrk="1" fontAlgn="base" hangingPunct="1">
        <a:spcBef>
          <a:spcPts val="169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15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428625" indent="-160735" algn="l" rtl="0" eaLnBrk="1" fontAlgn="base" hangingPunct="1">
        <a:spcBef>
          <a:spcPts val="169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35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645319" indent="-128588" algn="l" rtl="0" eaLnBrk="1" fontAlgn="base" hangingPunct="1">
        <a:spcBef>
          <a:spcPts val="169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2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857250" indent="-128588" algn="l" rtl="0" eaLnBrk="1" fontAlgn="base" hangingPunct="1">
        <a:spcBef>
          <a:spcPts val="169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2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028700" indent="-128588" algn="l" rtl="0" eaLnBrk="1" fontAlgn="base" hangingPunct="1">
        <a:spcBef>
          <a:spcPts val="169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2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1" userDrawn="1">
          <p15:clr>
            <a:srgbClr val="5ACBF0"/>
          </p15:clr>
        </p15:guide>
        <p15:guide id="2" pos="9728" userDrawn="1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008FD0-E874-9065-B3B4-360B6ECE8BD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90" y="484122"/>
            <a:ext cx="4583495" cy="5043261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9639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 userDrawn="1">
            <p:ph type="ftr" sz="quarter" idx="3"/>
          </p:nvPr>
        </p:nvSpPr>
        <p:spPr>
          <a:xfrm>
            <a:off x="125347" y="6504411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3">
                <a:solidFill>
                  <a:schemeClr val="bg1"/>
                </a:solidFill>
              </a:defRPr>
            </a:lvl1pPr>
          </a:lstStyle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41" name="Title Placeholder 17"/>
          <p:cNvSpPr>
            <a:spLocks noGrp="1"/>
          </p:cNvSpPr>
          <p:nvPr userDrawn="1">
            <p:ph type="title"/>
          </p:nvPr>
        </p:nvSpPr>
        <p:spPr>
          <a:xfrm>
            <a:off x="654051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 userDrawn="1">
            <p:ph type="body" idx="1"/>
          </p:nvPr>
        </p:nvSpPr>
        <p:spPr>
          <a:xfrm>
            <a:off x="654051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190669" y="6577161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67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 userDrawn="1"/>
        </p:nvCxnSpPr>
        <p:spPr>
          <a:xfrm flipH="1">
            <a:off x="1476588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 userDrawn="1"/>
        </p:nvSpPr>
        <p:spPr>
          <a:xfrm>
            <a:off x="6224695" y="6442289"/>
            <a:ext cx="556768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50" i="1" dirty="0">
                <a:solidFill>
                  <a:prstClr val="black"/>
                </a:solidFill>
              </a:rPr>
              <a:t>DISCOVER  |  DEVELOP  |  DELIVER</a:t>
            </a:r>
          </a:p>
        </p:txBody>
      </p:sp>
    </p:spTree>
    <p:extLst>
      <p:ext uri="{BB962C8B-B14F-4D97-AF65-F5344CB8AC3E}">
        <p14:creationId xmlns:p14="http://schemas.microsoft.com/office/powerpoint/2010/main" val="383215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hf hdr="0" dt="0"/>
  <p:txStyles>
    <p:titleStyle>
      <a:lvl1pPr algn="l" defTabSz="514350" rtl="0" eaLnBrk="1" latinLnBrk="0" hangingPunct="1">
        <a:lnSpc>
          <a:spcPct val="100000"/>
        </a:lnSpc>
        <a:spcBef>
          <a:spcPct val="0"/>
        </a:spcBef>
        <a:buNone/>
        <a:defRPr sz="2025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2" userDrawn="1">
          <p15:clr>
            <a:srgbClr val="5ACBF0"/>
          </p15:clr>
        </p15:guide>
        <p15:guide id="2" pos="8192" userDrawn="1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078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9290" y="516571"/>
            <a:ext cx="4583494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>
            <p:ph type="ftr" sz="quarter" idx="3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41" name="Title Placeholder 17"/>
          <p:cNvSpPr>
            <a:spLocks noGrp="1"/>
          </p:cNvSpPr>
          <p:nvPr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968E7F01-041C-4010-88FE-1B9185A755B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/>
        </p:nvCxnSpPr>
        <p:spPr>
          <a:xfrm flipH="1">
            <a:off x="1476587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prstClr val="black"/>
                </a:solidFill>
              </a:rPr>
              <a:t>DISCOVER  |  DEVELOP  |  DELIVER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252E4D-CE85-CBED-6D6D-70324D8957F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2"/>
            <a:ext cx="12192000" cy="6857999"/>
          </a:xfrm>
          <a:prstGeom prst="rect">
            <a:avLst/>
          </a:prstGeom>
        </p:spPr>
      </p:pic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C5A60594-8795-72D7-D5FC-21E8BBFC1210}"/>
              </a:ext>
            </a:extLst>
          </p:cNvPr>
          <p:cNvSpPr/>
          <p:nvPr userDrawn="1"/>
        </p:nvSpPr>
        <p:spPr>
          <a:xfrm>
            <a:off x="182881" y="217302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3C5595-3DC5-7F8D-E4ED-37CC74ED5507}"/>
              </a:ext>
            </a:extLst>
          </p:cNvPr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787BE8D-DE47-5BFD-4EFF-EF21BA2A9669}"/>
              </a:ext>
            </a:extLst>
          </p:cNvPr>
          <p:cNvSpPr txBox="1"/>
          <p:nvPr userDrawn="1"/>
        </p:nvSpPr>
        <p:spPr>
          <a:xfrm>
            <a:off x="413317" y="6286500"/>
            <a:ext cx="113519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US Army Corps of Engineers  </a:t>
            </a:r>
            <a:r>
              <a:rPr lang="en-US" sz="1050" dirty="0">
                <a:sym typeface="Symbol" panose="05050102010706020507" pitchFamily="18" charset="2"/>
              </a:rPr>
              <a:t></a:t>
            </a:r>
            <a:r>
              <a:rPr lang="en-US" sz="1050" dirty="0"/>
              <a:t>   Engineer Research and Development Center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630B06-D8AC-D9E4-3994-46BCCA348611}"/>
              </a:ext>
            </a:extLst>
          </p:cNvPr>
          <p:cNvSpPr txBox="1"/>
          <p:nvPr userDrawn="1"/>
        </p:nvSpPr>
        <p:spPr>
          <a:xfrm>
            <a:off x="0" y="2"/>
            <a:ext cx="121920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F2FCCD-C564-9B60-15EF-A56909963F88}"/>
              </a:ext>
            </a:extLst>
          </p:cNvPr>
          <p:cNvSpPr txBox="1"/>
          <p:nvPr userDrawn="1"/>
        </p:nvSpPr>
        <p:spPr>
          <a:xfrm>
            <a:off x="-6773" y="6583540"/>
            <a:ext cx="121920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207653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5ACBF0"/>
          </p15:clr>
        </p15:guide>
        <p15:guide id="2" pos="6144">
          <p15:clr>
            <a:srgbClr val="5ACBF0"/>
          </p15:clr>
        </p15:guide>
        <p15:guide id="3" pos="341" userDrawn="1">
          <p15:clr>
            <a:srgbClr val="5ACBF0"/>
          </p15:clr>
        </p15:guide>
        <p15:guide id="4" pos="9728" userDrawn="1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32800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76156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E67D63-A09B-E760-5A10-8242BCEA7941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2808" y="6587122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67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CF4A6-EBC9-C2AC-2815-3FFFD71A1CF8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7522" y="-1985"/>
            <a:ext cx="9694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 b="1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fld id="{139BD942-CC14-44A4-87FB-46239297AF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</a:rPr>
              <a:t>US Army Corps of Engineers  </a:t>
            </a:r>
            <a:r>
              <a:rPr lang="en-US" sz="1400" dirty="0">
                <a:solidFill>
                  <a:prstClr val="black"/>
                </a:solidFill>
                <a:sym typeface="Symbol" panose="05050102010706020507" pitchFamily="18" charset="2"/>
              </a:rPr>
              <a:t></a:t>
            </a:r>
            <a:r>
              <a:rPr lang="en-US" sz="1400" dirty="0">
                <a:solidFill>
                  <a:prstClr val="black"/>
                </a:solidFill>
              </a:rPr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66662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4.jpg"/><Relationship Id="rId4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682876"/>
            <a:ext cx="7157542" cy="646331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pPr defTabSz="685800"/>
            <a:r>
              <a:rPr lang="en-US" sz="1800" dirty="0"/>
              <a:t>Advancing Water Quality Modeling with CE-QUAL-W2 for HAB Management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0"/>
          </p:nvPr>
        </p:nvSpPr>
        <p:spPr>
          <a:ln w="57150">
            <a:noFill/>
          </a:ln>
        </p:spPr>
        <p:txBody>
          <a:bodyPr/>
          <a:lstStyle/>
          <a:p>
            <a:pPr defTabSz="685800"/>
            <a:fld id="{744B3473-5193-4AC1-9169-6977ADF2DCFC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pPr defTabSz="685800"/>
              <a:t>1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  <a:latin typeface="Calibri" panose="020F0502020204030204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7223F22D-5DFC-42EB-8948-9B1384385F0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8951" y="5195795"/>
            <a:ext cx="733425" cy="719189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CB5D082-0125-EFFB-CA80-0A55E7EAB2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3" y="2421095"/>
            <a:ext cx="7672549" cy="3000821"/>
          </a:xfrm>
        </p:spPr>
        <p:txBody>
          <a:bodyPr vert="horz" wrap="square" lIns="91440" tIns="45720" rIns="91440" bIns="45720" rtlCol="0">
            <a:spAutoFit/>
          </a:bodyPr>
          <a:lstStyle/>
          <a:p>
            <a:r>
              <a:rPr lang="en-US" sz="1600" b="0" dirty="0">
                <a:solidFill>
                  <a:schemeClr val="bg1"/>
                </a:solidFill>
              </a:rPr>
              <a:t>Todd E. Steissberg, PhD, PE</a:t>
            </a:r>
          </a:p>
          <a:p>
            <a:r>
              <a:rPr lang="en-US" sz="1600" b="0" dirty="0">
                <a:solidFill>
                  <a:schemeClr val="bg1"/>
                </a:solidFill>
              </a:rPr>
              <a:t>Environmental Laboratory</a:t>
            </a:r>
          </a:p>
          <a:p>
            <a:r>
              <a:rPr lang="en-US" sz="1600" b="0" dirty="0">
                <a:solidFill>
                  <a:schemeClr val="bg1"/>
                </a:solidFill>
              </a:rPr>
              <a:t>Engineer Research and Development Center (ERDC)</a:t>
            </a:r>
          </a:p>
          <a:p>
            <a:r>
              <a:rPr lang="en-US" sz="1600" b="0" dirty="0">
                <a:solidFill>
                  <a:schemeClr val="bg1"/>
                </a:solidFill>
              </a:rPr>
              <a:t>U.S. Army Corps of Engineers</a:t>
            </a:r>
          </a:p>
          <a:p>
            <a:endParaRPr lang="en-US" sz="1600" b="0" dirty="0">
              <a:solidFill>
                <a:schemeClr val="bg1"/>
              </a:solidFill>
            </a:endParaRPr>
          </a:p>
          <a:p>
            <a:r>
              <a:rPr lang="en-US" sz="1600" b="0" dirty="0">
                <a:solidFill>
                  <a:schemeClr val="bg1"/>
                </a:solidFill>
              </a:rPr>
              <a:t>Co-PIs: Dr. Jodi Ryder, Dr. Emily Summers, Dr. Hailie Suk</a:t>
            </a:r>
          </a:p>
          <a:p>
            <a:endParaRPr lang="en-US" sz="1600" b="0" dirty="0">
              <a:solidFill>
                <a:schemeClr val="bg1"/>
              </a:solidFill>
            </a:endParaRPr>
          </a:p>
          <a:p>
            <a:r>
              <a:rPr lang="en-US" sz="1600" b="0" dirty="0">
                <a:solidFill>
                  <a:schemeClr val="bg1"/>
                </a:solidFill>
              </a:rPr>
              <a:t>5th Interagency Freshwater HAB R&amp;D Workshop, Seattle, WA</a:t>
            </a:r>
          </a:p>
          <a:p>
            <a:endParaRPr lang="en-US" sz="1600" b="0" dirty="0">
              <a:solidFill>
                <a:schemeClr val="bg1"/>
              </a:solidFill>
            </a:endParaRPr>
          </a:p>
          <a:p>
            <a:r>
              <a:rPr lang="en-US" sz="1600" b="0" dirty="0">
                <a:solidFill>
                  <a:schemeClr val="bg1"/>
                </a:solidFill>
              </a:rPr>
              <a:t>September 23,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/>
          <p:cNvSpPr txBox="1">
            <a:spLocks noGrp="1"/>
          </p:cNvSpPr>
          <p:nvPr>
            <p:ph type="body" idx="1"/>
          </p:nvPr>
        </p:nvSpPr>
        <p:spPr>
          <a:xfrm>
            <a:off x="406399" y="936437"/>
            <a:ext cx="6612966" cy="249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200" b="0" u="sng" dirty="0"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200" b="0" dirty="0">
                <a:latin typeface="Calibri" panose="020F0502020204030204" pitchFamily="34" charset="0"/>
                <a:cs typeface="Calibri" panose="020F0502020204030204" pitchFamily="34" charset="0"/>
              </a:rPr>
              <a:t>: Existing models inadequately predict the timing, frequency, intensity, spatial variability, and impacts of Harmful Algal Blooms (HABs).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200" b="0" u="sng" dirty="0"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sz="2200" b="0" dirty="0">
                <a:latin typeface="Calibri" panose="020F0502020204030204" pitchFamily="34" charset="0"/>
                <a:cs typeface="Calibri" panose="020F0502020204030204" pitchFamily="34" charset="0"/>
              </a:rPr>
              <a:t>: New capabilities have been added to CE-QUAL-W2 to improve its ability to simulate and manage HABs.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99530DC-599E-C9FE-1A56-239229E6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C20CB-D793-658D-0760-4C38BB51B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88" y="3541380"/>
            <a:ext cx="6041024" cy="2698245"/>
          </a:xfrm>
          <a:prstGeom prst="rect">
            <a:avLst/>
          </a:prstGeom>
          <a:effectLst>
            <a:softEdge rad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FF81E-403D-163F-32BF-EE8617D42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328" y="933123"/>
            <a:ext cx="4248083" cy="2832055"/>
          </a:xfrm>
          <a:prstGeom prst="rect">
            <a:avLst/>
          </a:prstGeom>
          <a:effectLst>
            <a:softEdge rad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40AFA4-8191-7178-53D4-57FC703AE7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328" y="3407570"/>
            <a:ext cx="4248083" cy="2832055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128188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/>
          <p:cNvSpPr txBox="1">
            <a:spLocks noGrp="1"/>
          </p:cNvSpPr>
          <p:nvPr>
            <p:ph type="body" idx="1"/>
          </p:nvPr>
        </p:nvSpPr>
        <p:spPr>
          <a:xfrm>
            <a:off x="406400" y="878969"/>
            <a:ext cx="7312561" cy="526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Developing HAB simulation capabilities applicable to any reservoir is challenging. Reservoirs have characteristics that can vary significantly: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Algal species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Water body morphometry (length, width, etc.)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Volume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Depth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Mixing dynamics (wind forcing, fetch orientation)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Harmful algal blooms can exhibit rapid changes and non-linear dynamics that are difficult to capture in model simulations.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To address these issues: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Extensive literature review. Feedback gathered from HAB experts.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Case study site (Detroit Lake, Oregon) was selected to provide adequate data and a range of conditions that enables development of scaling methods.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Single species selected for algorithm development.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99530DC-599E-C9FE-1A56-239229E6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 and Solutions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picture containing mountain, nature, outdoor, track&#10;&#10;Description automatically generated">
            <a:extLst>
              <a:ext uri="{FF2B5EF4-FFF2-40B4-BE49-F238E27FC236}">
                <a16:creationId xmlns:a16="http://schemas.microsoft.com/office/drawing/2014/main" id="{7F6CB9C1-6736-BA06-7EAB-F4642B81C9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8343" y="985655"/>
            <a:ext cx="3675611" cy="238914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532A60-D58F-57B7-CB21-15EDE3239508}"/>
              </a:ext>
            </a:extLst>
          </p:cNvPr>
          <p:cNvSpPr txBox="1">
            <a:spLocks/>
          </p:cNvSpPr>
          <p:nvPr/>
        </p:nvSpPr>
        <p:spPr>
          <a:xfrm>
            <a:off x="7962769" y="3370714"/>
            <a:ext cx="3675611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Detroit Lake, Oregon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C671E8-2D78-7963-8232-7A1563169DE8}"/>
              </a:ext>
            </a:extLst>
          </p:cNvPr>
          <p:cNvSpPr txBox="1">
            <a:spLocks/>
          </p:cNvSpPr>
          <p:nvPr/>
        </p:nvSpPr>
        <p:spPr>
          <a:xfrm>
            <a:off x="7968343" y="5883039"/>
            <a:ext cx="3675612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Detroit Lake HAB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98F11CA-49D8-187B-3B8C-EED5A83FC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085" y="3806981"/>
            <a:ext cx="3692869" cy="207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66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99530DC-599E-C9FE-1A56-239229E6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Survey Results: CE-QUAL-W2 Development Opportunities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B88C49-0D5A-80DA-A6E0-FCF5B6DD6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511" y="1076614"/>
            <a:ext cx="7702346" cy="465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54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/>
          <p:cNvSpPr txBox="1">
            <a:spLocks noGrp="1"/>
          </p:cNvSpPr>
          <p:nvPr>
            <p:ph type="body" idx="1"/>
          </p:nvPr>
        </p:nvSpPr>
        <p:spPr>
          <a:xfrm>
            <a:off x="312270" y="878969"/>
            <a:ext cx="6061636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Minimum algae concentration enforcement to support post-crash recovery.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Mechanical removal (treatments, harvesting) to simulate interventions such as skimming or pumping.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Hypoxia-induced mortality to reflect algal population dynamics under low oxygen stress.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Nitrogen fixation to support simulation of cyanobacteria dominance in low-nitrogen conditions. Cyanobacteria may outcompete native algae since they can fix nitrogen.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Improved buoyancy dynamics. Developing guidance for use.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99530DC-599E-C9FE-1A56-239229E6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CE-QUAL-W2 Enhancements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close-up of a graph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BC6BB0EE-EAA0-7A96-DC38-388406C49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467" y="902438"/>
            <a:ext cx="5401498" cy="2308595"/>
          </a:xfrm>
          <a:prstGeom prst="rect">
            <a:avLst/>
          </a:prstGeom>
        </p:spPr>
      </p:pic>
      <p:pic>
        <p:nvPicPr>
          <p:cNvPr id="3" name="Picture 2" descr="A graph showing the temperature of a person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CEB75A0E-4689-A536-2B71-23D061684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67" y="3388349"/>
            <a:ext cx="5401498" cy="29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38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53B9B746-BFEA-A9CD-4FA5-391EC486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43295756-2679-2F84-3445-ECA60F15A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270" y="878969"/>
            <a:ext cx="6061636" cy="474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Purpose: To prevent complete depletion of algae due to high mortality events, enabling post-bloom recovery in the absence of boundary-driven reintroduction.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 user-defined floor value for algal biomass is enforced after each time step.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The logic is embedded within the wqconstituents.f90 file and applied across all layers and segments where algal concentrations fall below the minimum.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An optional input parameter allows global or group-specific specification of the threshold.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The minimum value acts as a lower bound; once concentrations fall below it due to mortality or other sinks, they are reset to the threshold for subsequent time steps.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1206C43E-DC3C-4587-CEC0-4AE3F3EC7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Minimum Algae Concentration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close-up of a graph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EAC0B17A-070A-2621-B620-7252B5A53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467" y="902438"/>
            <a:ext cx="5401498" cy="2308595"/>
          </a:xfrm>
          <a:prstGeom prst="rect">
            <a:avLst/>
          </a:prstGeom>
        </p:spPr>
      </p:pic>
      <p:pic>
        <p:nvPicPr>
          <p:cNvPr id="3" name="Picture 2" descr="A graph showing the temperature of a person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FB1E8571-151F-3E13-57DB-9B610192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67" y="3388349"/>
            <a:ext cx="5401498" cy="29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65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E9240401-6477-D516-2A8E-6D54A29B8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06FE0F06-1F16-9AA1-430C-C8CC6B1C1A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270" y="878969"/>
            <a:ext cx="6061636" cy="607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Purpose: To simulate segment-specific algal biomass removal, reflecting surface skimming, pumping, or other mechanical control actions.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New input file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harvest_option_input.csv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defines the active segments, interpolation method, and time-series file path.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 time-varying file (e.g.,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algal_harvesting_time-series.csv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) provides fractional reductions by segment and simulation day.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Variables are declared in w2modules.f90, and logic is added to input.f90, time-varying-data.f90, and wqconstituents.f90.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Removal is implemented as an instantaneous fractional reduction in the algal state variables during the time step corresponding to the input.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92D3B0D0-5C57-A23D-24D5-8DF1CE4077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 Removal (Algal Harvesting and Other Treatments)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close-up of a graph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4144DA0D-E94C-811D-F21C-F9CE2CAEF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467" y="902438"/>
            <a:ext cx="5401498" cy="2308595"/>
          </a:xfrm>
          <a:prstGeom prst="rect">
            <a:avLst/>
          </a:prstGeom>
        </p:spPr>
      </p:pic>
      <p:pic>
        <p:nvPicPr>
          <p:cNvPr id="3" name="Picture 2" descr="A graph showing the temperature of a person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E3AC3EE5-DD5D-C1B4-A9DF-12715373F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67" y="3388349"/>
            <a:ext cx="5401498" cy="29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02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740ED700-FB45-3CC5-19BB-30A57DE2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073F27AB-605D-8F22-2FB6-6A498C945E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270" y="878969"/>
            <a:ext cx="6061636" cy="374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Purpose: To increase algal mortality in response to low dissolved oxygen (DO), reflecting physiological stress and bloom collapse under hypoxic conditions.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Logic added to algal growth and mortality routines to apply increased death rate when DO falls below a user-defined threshold.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Supports multiple response forms: step function, linear scaling, or Monod-style inhibition.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Applies uniformly to all algae in affected segments unless otherwise configured.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12318BDA-DE0A-D2B8-0882-1F2BEAA37E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Hypoxia-Induced Mortality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close-up of a graph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BB1FE5C2-E2D9-28D2-9D38-1BE2473DB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467" y="902438"/>
            <a:ext cx="5401498" cy="2308595"/>
          </a:xfrm>
          <a:prstGeom prst="rect">
            <a:avLst/>
          </a:prstGeom>
        </p:spPr>
      </p:pic>
      <p:pic>
        <p:nvPicPr>
          <p:cNvPr id="3" name="Picture 2" descr="A graph showing the temperature of a person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D9AFE7E1-54CD-6EDD-FA3C-DB927A32F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67" y="3388349"/>
            <a:ext cx="5401498" cy="29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382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93959387-F8BD-2F24-3115-7626CD940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371C6617-E70C-DC1D-AD8B-A491BD4B4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270" y="878969"/>
            <a:ext cx="6061636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Purpose: To simulate atmospheric nitrogen uptake by diazotrophic algae under nitrogen-limited conditions.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Optional activation per algal group, enabled through user input.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Adds a supplementary nitrogen source term when DIN concentrations fall below a user-defined threshold.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Internal logic uses a Monod-like function to modulate fixation rate based on DIN availability.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Ensures conservation of mass and allows continuous algal growth in nitrogen-limited but phosphorus-replete environments.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9CF20384-296C-CCD6-469F-EAF6B1E5AB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Nitrogen Fixation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close-up of a graph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E9F6F8CC-BB7D-2A38-B546-8679A293C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467" y="902438"/>
            <a:ext cx="5401498" cy="2308595"/>
          </a:xfrm>
          <a:prstGeom prst="rect">
            <a:avLst/>
          </a:prstGeom>
        </p:spPr>
      </p:pic>
      <p:pic>
        <p:nvPicPr>
          <p:cNvPr id="3" name="Picture 2" descr="A graph showing the temperature of a person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BE113BBF-B422-5124-2A14-551B1C108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67" y="3388349"/>
            <a:ext cx="5401498" cy="29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9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471FC63B-3CD7-63FA-24AE-72289CFC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7F77A29E-1647-A82E-3F2B-7D3C3FDF87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graph of a curve&#10;&#10;AI-generated content may be incorrect.">
            <a:extLst>
              <a:ext uri="{FF2B5EF4-FFF2-40B4-BE49-F238E27FC236}">
                <a16:creationId xmlns:a16="http://schemas.microsoft.com/office/drawing/2014/main" id="{05B9C4AA-ABEC-7A27-49AE-50F38A0548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622" y="2661564"/>
            <a:ext cx="8268755" cy="35080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AD61CB-D6FD-D679-5BA5-65D7E2C47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785010"/>
              </p:ext>
            </p:extLst>
          </p:nvPr>
        </p:nvGraphicFramePr>
        <p:xfrm>
          <a:off x="1961622" y="872678"/>
          <a:ext cx="8268754" cy="1590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1049">
                  <a:extLst>
                    <a:ext uri="{9D8B030D-6E8A-4147-A177-3AD203B41FA5}">
                      <a16:colId xmlns:a16="http://schemas.microsoft.com/office/drawing/2014/main" val="2485162841"/>
                    </a:ext>
                  </a:extLst>
                </a:gridCol>
                <a:gridCol w="1932171">
                  <a:extLst>
                    <a:ext uri="{9D8B030D-6E8A-4147-A177-3AD203B41FA5}">
                      <a16:colId xmlns:a16="http://schemas.microsoft.com/office/drawing/2014/main" val="3436123299"/>
                    </a:ext>
                  </a:extLst>
                </a:gridCol>
                <a:gridCol w="2429851">
                  <a:extLst>
                    <a:ext uri="{9D8B030D-6E8A-4147-A177-3AD203B41FA5}">
                      <a16:colId xmlns:a16="http://schemas.microsoft.com/office/drawing/2014/main" val="1319568547"/>
                    </a:ext>
                  </a:extLst>
                </a:gridCol>
                <a:gridCol w="2465683">
                  <a:extLst>
                    <a:ext uri="{9D8B030D-6E8A-4147-A177-3AD203B41FA5}">
                      <a16:colId xmlns:a16="http://schemas.microsoft.com/office/drawing/2014/main" val="24450094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 Simulation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Value Turned 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Value of New Input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Plot color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3679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-- Baseline 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-- Baseline 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Black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297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ALG_O2LIM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1.0 mg/L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Yellow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246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3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ALG_MIN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0.1 mg/L (biomass)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Blue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0252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4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CRIT_TIN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1.5 mg/L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Red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3068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5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No new inputs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See above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Cyan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3749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6941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/>
          <p:cNvSpPr txBox="1">
            <a:spLocks noGrp="1"/>
          </p:cNvSpPr>
          <p:nvPr>
            <p:ph type="body" idx="1"/>
          </p:nvPr>
        </p:nvSpPr>
        <p:spPr>
          <a:xfrm>
            <a:off x="406399" y="878969"/>
            <a:ext cx="7150848" cy="526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CE-QUAL-W2 (W2) will simulate HAB occurrences with greater precision.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W2 will improve understanding of how various environmental factors contribute to HAB dynamics, enabling more proactive management.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W2 outputs will help formulate effective mitigation strategies to reduce the frequency and severity of HAB events by targeting identified key contributing factors.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W2 outputs will facilitate adaptive management practices.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Improve HAB simulation of multiple future scenarios will improve emergency response and sampling.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Early detection and management of HABs will help protect ecosystem health and public safety, minimizing the adverse effects on wildlife and human populations.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99530DC-599E-C9FE-1A56-239229E6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landscape with trees and water in the background&#10;&#10;Description automatically generated with low confidence">
            <a:extLst>
              <a:ext uri="{FF2B5EF4-FFF2-40B4-BE49-F238E27FC236}">
                <a16:creationId xmlns:a16="http://schemas.microsoft.com/office/drawing/2014/main" id="{94F69EF3-72C3-6A53-2729-40D75FB78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741" y="709912"/>
            <a:ext cx="3634680" cy="2726010"/>
          </a:xfrm>
          <a:prstGeom prst="rect">
            <a:avLst/>
          </a:prstGeom>
        </p:spPr>
      </p:pic>
      <p:pic>
        <p:nvPicPr>
          <p:cNvPr id="7" name="Picture 6" descr="A boat in the water&#10;&#10;Description automatically generated with medium confidence">
            <a:extLst>
              <a:ext uri="{FF2B5EF4-FFF2-40B4-BE49-F238E27FC236}">
                <a16:creationId xmlns:a16="http://schemas.microsoft.com/office/drawing/2014/main" id="{EC0C2186-7ED7-A923-1E61-4E5D77322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741" y="3237567"/>
            <a:ext cx="3634680" cy="30104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5956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243812"/>
            <a:ext cx="11771450" cy="584775"/>
          </a:xfr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Questions?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BDC0FE-2D3C-8007-DE6D-85411A15D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5" y="964654"/>
            <a:ext cx="9307229" cy="5231874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F4FF284-1579-6DC8-603E-D12CCAB1F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5" y="840259"/>
            <a:ext cx="9601513" cy="53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3">
      <a:dk1>
        <a:srgbClr val="000000"/>
      </a:dk1>
      <a:lt1>
        <a:srgbClr val="000099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AAAACA"/>
      </a:accent3>
      <a:accent4>
        <a:srgbClr val="000000"/>
      </a:accent4>
      <a:accent5>
        <a:srgbClr val="DAEDEF"/>
      </a:accent5>
      <a:accent6>
        <a:srgbClr val="2D2D8A"/>
      </a:accent6>
      <a:hlink>
        <a:srgbClr val="0033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000000"/>
        </a:dk1>
        <a:lt1>
          <a:srgbClr val="000099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AAC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3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3.xml><?xml version="1.0" encoding="utf-8"?>
<a:theme xmlns:a="http://schemas.openxmlformats.org/drawingml/2006/main" name="Title Slide Templates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22F0FA2-19C7-43A3-AA26-1FC3028BC721}" vid="{2BB31517-1312-4F35-8F70-B9A7CDB59602}"/>
    </a:ext>
  </a:extLst>
</a:theme>
</file>

<file path=ppt/theme/theme4.xml><?xml version="1.0" encoding="utf-8"?>
<a:theme xmlns:a="http://schemas.openxmlformats.org/drawingml/2006/main" name="Theme1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5BD5409E-D28A-4DE1-B742-12A5FE8EEDE3}" vid="{659E9C23-BBC0-40D1-881C-ED13B734E766}"/>
    </a:ext>
  </a:extLst>
</a:theme>
</file>

<file path=ppt/theme/theme5.xml><?xml version="1.0" encoding="utf-8"?>
<a:theme xmlns:a="http://schemas.openxmlformats.org/drawingml/2006/main" name="1_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6.xml><?xml version="1.0" encoding="utf-8"?>
<a:theme xmlns:a="http://schemas.openxmlformats.org/drawingml/2006/main" name="UNCLASSIFIED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63E75002-AE9D-4785-8124-3AFCCDC59DC3}"/>
    </a:ext>
  </a:extLst>
</a:theme>
</file>

<file path=ppt/theme/theme7.xml><?xml version="1.0" encoding="utf-8"?>
<a:theme xmlns:a="http://schemas.openxmlformats.org/drawingml/2006/main" name="Custom Classification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C6CC15A3-3625-4B74-BD53-DE8C42AE3990}"/>
    </a:ext>
  </a:extLst>
</a:theme>
</file>

<file path=ppt/theme/theme8.xml><?xml version="1.0" encoding="utf-8"?>
<a:theme xmlns:a="http://schemas.openxmlformats.org/drawingml/2006/main" name="Standard White Theme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0957B2FE-61BF-4E25-9901-9769BBB77ACE}"/>
    </a:ext>
  </a:extLst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9678FC9CA06E449BCCD24A4BF1A4DC" ma:contentTypeVersion="3" ma:contentTypeDescription="Create a new document." ma:contentTypeScope="" ma:versionID="28ce7a7bded022c4f6ed4c73ed5bb062">
  <xsd:schema xmlns:xsd="http://www.w3.org/2001/XMLSchema" xmlns:xs="http://www.w3.org/2001/XMLSchema" xmlns:p="http://schemas.microsoft.com/office/2006/metadata/properties" xmlns:ns2="a3b42a5c-e9e5-4439-94fa-7e12ddf45e58" targetNamespace="http://schemas.microsoft.com/office/2006/metadata/properties" ma:root="true" ma:fieldsID="0e8f01901f7a00c1973b42a66e8bcaed" ns2:_="">
    <xsd:import namespace="a3b42a5c-e9e5-4439-94fa-7e12ddf45e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b42a5c-e9e5-4439-94fa-7e12ddf45e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165F7C-5FB6-4E37-9E7E-9EC43F988B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b42a5c-e9e5-4439-94fa-7e12ddf45e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B6B0AC-AE72-491B-82D6-C5FEC7EF9E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4B435-F776-40B2-9F23-A47D5476E0B1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a3b42a5c-e9e5-4439-94fa-7e12ddf45e58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c4d76ba-f17c-4c50-b9a7-8f3163d27582}" enabled="0" method="" siteId="{fc4d76ba-f17c-4c50-b9a7-8f3163d2758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877</Words>
  <Application>Microsoft Macintosh PowerPoint</Application>
  <PresentationFormat>Widescreen</PresentationFormat>
  <Paragraphs>109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Aptos</vt:lpstr>
      <vt:lpstr>Arial</vt:lpstr>
      <vt:lpstr>Calibri</vt:lpstr>
      <vt:lpstr>Wingdings</vt:lpstr>
      <vt:lpstr>Wingdings 3</vt:lpstr>
      <vt:lpstr>Custom Design</vt:lpstr>
      <vt:lpstr>UNCL // FOUO Content</vt:lpstr>
      <vt:lpstr>Title Slide Templates</vt:lpstr>
      <vt:lpstr>Theme1</vt:lpstr>
      <vt:lpstr>1_UNCL // FOUO Content</vt:lpstr>
      <vt:lpstr>UNCLASSIFIED Content</vt:lpstr>
      <vt:lpstr>Custom Classification Content</vt:lpstr>
      <vt:lpstr>Standard White Theme</vt:lpstr>
      <vt:lpstr>Advancing Water Quality Modeling with CE-QUAL-W2 for HAB Management</vt:lpstr>
      <vt:lpstr>Introduction</vt:lpstr>
      <vt:lpstr>Challenges and Solutions</vt:lpstr>
      <vt:lpstr>Survey Results: CE-QUAL-W2 Development Opportunities</vt:lpstr>
      <vt:lpstr>CE-QUAL-W2 Enhancements</vt:lpstr>
      <vt:lpstr>Minimum Algae Concentration</vt:lpstr>
      <vt:lpstr>Mechanical Removal (Algal Harvesting and Other Treatments)</vt:lpstr>
      <vt:lpstr>Hypoxia-Induced Mortality</vt:lpstr>
      <vt:lpstr>Nitrogen Fixation</vt:lpstr>
      <vt:lpstr>Results</vt:lpstr>
      <vt:lpstr>Benefits</vt:lpstr>
      <vt:lpstr>Questions?</vt:lpstr>
    </vt:vector>
  </TitlesOfParts>
  <Company>US Army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b6imemb6</dc:creator>
  <cp:lastModifiedBy>Steissberg, Todd E CIV USARMY CEERD-EL (USA)</cp:lastModifiedBy>
  <cp:revision>393</cp:revision>
  <dcterms:created xsi:type="dcterms:W3CDTF">2011-07-13T22:03:07Z</dcterms:created>
  <dcterms:modified xsi:type="dcterms:W3CDTF">2025-09-22T22:12:58Z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0x010100BA9678FC9CA06E449BCCD24A4BF1A4DC</vt:lpwstr>
  </property>
  <property fmtid="{D5CDD505-2E9C-101B-9397-08002B2CF9AE}" pid="3" name="MediaServiceImageTags">
    <vt:lpwstr/>
  </property>
</Properties>
</file>