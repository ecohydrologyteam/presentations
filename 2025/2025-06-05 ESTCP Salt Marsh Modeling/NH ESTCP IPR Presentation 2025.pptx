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4"/>
  </p:sldMasterIdLst>
  <p:notesMasterIdLst>
    <p:notesMasterId r:id="rId36"/>
  </p:notesMasterIdLst>
  <p:sldIdLst>
    <p:sldId id="259" r:id="rId5"/>
    <p:sldId id="260" r:id="rId6"/>
    <p:sldId id="290" r:id="rId7"/>
    <p:sldId id="298" r:id="rId8"/>
    <p:sldId id="263" r:id="rId9"/>
    <p:sldId id="296" r:id="rId10"/>
    <p:sldId id="264" r:id="rId11"/>
    <p:sldId id="297" r:id="rId12"/>
    <p:sldId id="294" r:id="rId13"/>
    <p:sldId id="273" r:id="rId14"/>
    <p:sldId id="262" r:id="rId15"/>
    <p:sldId id="265" r:id="rId16"/>
    <p:sldId id="292" r:id="rId17"/>
    <p:sldId id="293" r:id="rId18"/>
    <p:sldId id="268" r:id="rId19"/>
    <p:sldId id="281" r:id="rId20"/>
    <p:sldId id="288" r:id="rId21"/>
    <p:sldId id="299" r:id="rId22"/>
    <p:sldId id="300" r:id="rId23"/>
    <p:sldId id="282" r:id="rId24"/>
    <p:sldId id="278" r:id="rId25"/>
    <p:sldId id="285" r:id="rId26"/>
    <p:sldId id="301" r:id="rId27"/>
    <p:sldId id="286" r:id="rId28"/>
    <p:sldId id="284" r:id="rId29"/>
    <p:sldId id="274" r:id="rId30"/>
    <p:sldId id="275" r:id="rId31"/>
    <p:sldId id="287" r:id="rId32"/>
    <p:sldId id="295" r:id="rId33"/>
    <p:sldId id="289" r:id="rId34"/>
    <p:sldId id="291" r:id="rId3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63191C-F6CA-400E-38C5-1320470A8C49}" name="Tufano, Lucas" initials="LT" userId="S::Lucas.Tufano@noblis.org::640a7d51-859d-4818-bf4e-11af6cfd7b52" providerId="AD"/>
  <p188:author id="{9E5A6B23-33AE-AB79-5EFC-80A04586504D}" name="Rabinowitz, Maya" initials="MR" userId="S::Maya.Rabinowitz@noblis.org::e2eb2b29-fbdd-4b59-a5bd-bf2898885203" providerId="AD"/>
  <p188:author id="{31A85F36-8B0E-70FA-D213-7326C2D06E47}" name="Boring, Hannah" initials="BH" userId="S::hannah.boring@noblis.org::90afd789-a869-46d0-9c8d-c653478d5ad2" providerId="AD"/>
  <p188:author id="{7718F854-4E48-D341-79B1-9CC162E10D46}" name="Rabinowitz, Maya" initials="RM" userId="S::maya.rabinowitz@noblis.org::e2eb2b29-fbdd-4b59-a5bd-bf2898885203" providerId="AD"/>
  <p188:author id="{9FB4CB6A-85BA-6CF1-F20D-EDD79787C9E7}" name="Tufano, Lucas" initials="TL" userId="S::lucas.tufano@noblis.org::640a7d51-859d-4818-bf4e-11af6cfd7b52" providerId="AD"/>
  <p188:author id="{FD59CC9E-D16A-7DC2-D504-AD24538CE3CC}" name="Westfall, Ellen" initials="EW" userId="S::Ellen.Westfall@noblis.org::48d028ba-c4b7-4e1a-9fc3-033e1815274f" providerId="AD"/>
  <p188:author id="{910546E0-D33A-AC43-3B21-8B1F3DE4D7CD}" name="Mack, Laura" initials="LM" userId="S::Laura.Mack@noblis.org::9973563e-ccb2-4d06-919c-8c28e7d29cb3" providerId="AD"/>
  <p188:author id="{3BE39FFE-9E00-5AE9-73D4-9B5AEF9D4AA3}" name="Boring, Hannah" initials="" userId="S::Hannah.Boring@noblis.org::90afd789-a869-46d0-9c8d-c653478d5ad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285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56"/>
    <p:restoredTop sz="85918"/>
  </p:normalViewPr>
  <p:slideViewPr>
    <p:cSldViewPr snapToGrid="0">
      <p:cViewPr varScale="1">
        <p:scale>
          <a:sx n="145" d="100"/>
          <a:sy n="145" d="100"/>
        </p:scale>
        <p:origin x="8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4AA11F-1991-1744-880A-C56EA31655D3}" type="datetimeFigureOut">
              <a:rPr lang="en-US" smtClean="0"/>
              <a:t>6/6/25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2EF280-E771-9E4C-B4C1-C93AE3498C00}" type="slidenum">
              <a:rPr lang="en-US" smtClean="0"/>
              <a:t>‹#›</a:t>
            </a:fld>
            <a:endParaRPr lang="en-US"/>
          </a:p>
        </p:txBody>
      </p:sp>
    </p:spTree>
    <p:extLst>
      <p:ext uri="{BB962C8B-B14F-4D97-AF65-F5344CB8AC3E}">
        <p14:creationId xmlns:p14="http://schemas.microsoft.com/office/powerpoint/2010/main" val="185848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t2.serdp-estcp.org/t2template.html#tool=CSIA&amp;page=Introduction"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40075C42-0FDA-4B4B-9E22-389F6B131299}" type="slidenum">
              <a:rPr lang="en-US" altLang="en-US">
                <a:latin typeface="Arial" charset="0"/>
              </a:rPr>
              <a:pPr>
                <a:spcBef>
                  <a:spcPct val="0"/>
                </a:spcBef>
              </a:pPr>
              <a:t>1</a:t>
            </a:fld>
            <a:endParaRPr lang="en-US" altLang="en-US">
              <a:latin typeface="Arial" charset="0"/>
            </a:endParaRPr>
          </a:p>
        </p:txBody>
      </p:sp>
      <p:sp>
        <p:nvSpPr>
          <p:cNvPr id="61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640744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E416A4A5-90DC-427B-AC78-1F3597BAFAB2}" type="slidenum">
              <a:rPr lang="en-US" altLang="en-US">
                <a:latin typeface="Arial" charset="0"/>
              </a:rPr>
              <a:pPr>
                <a:spcBef>
                  <a:spcPct val="0"/>
                </a:spcBef>
              </a:pPr>
              <a:t>2</a:t>
            </a:fld>
            <a:endParaRPr lang="en-US" altLang="en-US">
              <a:latin typeface="Arial" charset="0"/>
            </a:endParaRPr>
          </a:p>
        </p:txBody>
      </p:sp>
      <p:sp>
        <p:nvSpPr>
          <p:cNvPr id="81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Don’t spend too much time presenting this slide. </a:t>
            </a:r>
          </a:p>
        </p:txBody>
      </p:sp>
    </p:spTree>
    <p:extLst>
      <p:ext uri="{BB962C8B-B14F-4D97-AF65-F5344CB8AC3E}">
        <p14:creationId xmlns:p14="http://schemas.microsoft.com/office/powerpoint/2010/main" val="1853577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1" dirty="0"/>
          </a:p>
        </p:txBody>
      </p:sp>
      <p:sp>
        <p:nvSpPr>
          <p:cNvPr id="4" name="Slide Number Placeholder 3"/>
          <p:cNvSpPr>
            <a:spLocks noGrp="1"/>
          </p:cNvSpPr>
          <p:nvPr>
            <p:ph type="sldNum" sz="quarter" idx="5"/>
          </p:nvPr>
        </p:nvSpPr>
        <p:spPr/>
        <p:txBody>
          <a:bodyPr/>
          <a:lstStyle/>
          <a:p>
            <a:fld id="{62D20830-498B-4671-8B0F-852E521F617B}" type="slidenum">
              <a:rPr lang="en-US" smtClean="0"/>
              <a:t>3</a:t>
            </a:fld>
            <a:endParaRPr lang="en-US"/>
          </a:p>
        </p:txBody>
      </p:sp>
    </p:spTree>
    <p:extLst>
      <p:ext uri="{BB962C8B-B14F-4D97-AF65-F5344CB8AC3E}">
        <p14:creationId xmlns:p14="http://schemas.microsoft.com/office/powerpoint/2010/main" val="1035903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3F39A-D364-1276-C012-740077ED2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7CA7B-AF62-7953-5EC2-34D22D9E3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79BEA-8E68-C29F-ADFF-1EAE6116F00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1" dirty="0"/>
          </a:p>
        </p:txBody>
      </p:sp>
      <p:sp>
        <p:nvSpPr>
          <p:cNvPr id="4" name="Slide Number Placeholder 3">
            <a:extLst>
              <a:ext uri="{FF2B5EF4-FFF2-40B4-BE49-F238E27FC236}">
                <a16:creationId xmlns:a16="http://schemas.microsoft.com/office/drawing/2014/main" id="{A37DE7F8-AC74-9037-BCEF-BB555F5365D9}"/>
              </a:ext>
            </a:extLst>
          </p:cNvPr>
          <p:cNvSpPr>
            <a:spLocks noGrp="1"/>
          </p:cNvSpPr>
          <p:nvPr>
            <p:ph type="sldNum" sz="quarter" idx="5"/>
          </p:nvPr>
        </p:nvSpPr>
        <p:spPr/>
        <p:txBody>
          <a:bodyPr/>
          <a:lstStyle/>
          <a:p>
            <a:fld id="{62D20830-498B-4671-8B0F-852E521F617B}" type="slidenum">
              <a:rPr lang="en-US" smtClean="0"/>
              <a:t>4</a:t>
            </a:fld>
            <a:endParaRPr lang="en-US"/>
          </a:p>
        </p:txBody>
      </p:sp>
    </p:spTree>
    <p:extLst>
      <p:ext uri="{BB962C8B-B14F-4D97-AF65-F5344CB8AC3E}">
        <p14:creationId xmlns:p14="http://schemas.microsoft.com/office/powerpoint/2010/main" val="154100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6</a:t>
            </a:fld>
            <a:endParaRPr lang="en-US"/>
          </a:p>
        </p:txBody>
      </p:sp>
    </p:spTree>
    <p:extLst>
      <p:ext uri="{BB962C8B-B14F-4D97-AF65-F5344CB8AC3E}">
        <p14:creationId xmlns:p14="http://schemas.microsoft.com/office/powerpoint/2010/main" val="96897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7</a:t>
            </a:fld>
            <a:endParaRPr lang="en-US"/>
          </a:p>
        </p:txBody>
      </p:sp>
    </p:spTree>
    <p:extLst>
      <p:ext uri="{BB962C8B-B14F-4D97-AF65-F5344CB8AC3E}">
        <p14:creationId xmlns:p14="http://schemas.microsoft.com/office/powerpoint/2010/main" val="3135417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8</a:t>
            </a:fld>
            <a:endParaRPr lang="en-US"/>
          </a:p>
        </p:txBody>
      </p:sp>
    </p:spTree>
    <p:extLst>
      <p:ext uri="{BB962C8B-B14F-4D97-AF65-F5344CB8AC3E}">
        <p14:creationId xmlns:p14="http://schemas.microsoft.com/office/powerpoint/2010/main" val="30779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9</a:t>
            </a:fld>
            <a:endParaRPr lang="en-US"/>
          </a:p>
        </p:txBody>
      </p:sp>
    </p:spTree>
    <p:extLst>
      <p:ext uri="{BB962C8B-B14F-4D97-AF65-F5344CB8AC3E}">
        <p14:creationId xmlns:p14="http://schemas.microsoft.com/office/powerpoint/2010/main" val="300760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Arial" charset="0"/>
                <a:ea typeface="ＭＳ Ｐゴシック" charset="-128"/>
              </a:defRPr>
            </a:lvl1pPr>
            <a:lvl2pPr marL="757066" indent="-291179" eaLnBrk="0" hangingPunct="0">
              <a:defRPr sz="2400">
                <a:solidFill>
                  <a:schemeClr val="tx1"/>
                </a:solidFill>
                <a:latin typeface="Arial" charset="0"/>
                <a:ea typeface="ＭＳ Ｐゴシック" charset="-128"/>
              </a:defRPr>
            </a:lvl2pPr>
            <a:lvl3pPr marL="1164717" indent="-232943" eaLnBrk="0" hangingPunct="0">
              <a:defRPr sz="2400">
                <a:solidFill>
                  <a:schemeClr val="tx1"/>
                </a:solidFill>
                <a:latin typeface="Arial" charset="0"/>
                <a:ea typeface="ＭＳ Ｐゴシック" charset="-128"/>
              </a:defRPr>
            </a:lvl3pPr>
            <a:lvl4pPr marL="1630604" indent="-232943" eaLnBrk="0" hangingPunct="0">
              <a:defRPr sz="2400">
                <a:solidFill>
                  <a:schemeClr val="tx1"/>
                </a:solidFill>
                <a:latin typeface="Arial" charset="0"/>
                <a:ea typeface="ＭＳ Ｐゴシック" charset="-128"/>
              </a:defRPr>
            </a:lvl4pPr>
            <a:lvl5pPr marL="2096491" indent="-232943" eaLnBrk="0" hangingPunct="0">
              <a:defRPr sz="2400">
                <a:solidFill>
                  <a:schemeClr val="tx1"/>
                </a:solidFill>
                <a:latin typeface="Arial" charset="0"/>
                <a:ea typeface="ＭＳ Ｐゴシック" charset="-128"/>
              </a:defRPr>
            </a:lvl5pPr>
            <a:lvl6pPr marL="2562377" indent="-232943" eaLnBrk="0" fontAlgn="base" hangingPunct="0">
              <a:spcBef>
                <a:spcPct val="0"/>
              </a:spcBef>
              <a:spcAft>
                <a:spcPct val="0"/>
              </a:spcAft>
              <a:defRPr sz="2400">
                <a:solidFill>
                  <a:schemeClr val="tx1"/>
                </a:solidFill>
                <a:latin typeface="Arial" charset="0"/>
                <a:ea typeface="ＭＳ Ｐゴシック" charset="-128"/>
              </a:defRPr>
            </a:lvl6pPr>
            <a:lvl7pPr marL="3028264" indent="-232943" eaLnBrk="0" fontAlgn="base" hangingPunct="0">
              <a:spcBef>
                <a:spcPct val="0"/>
              </a:spcBef>
              <a:spcAft>
                <a:spcPct val="0"/>
              </a:spcAft>
              <a:defRPr sz="2400">
                <a:solidFill>
                  <a:schemeClr val="tx1"/>
                </a:solidFill>
                <a:latin typeface="Arial" charset="0"/>
                <a:ea typeface="ＭＳ Ｐゴシック" charset="-128"/>
              </a:defRPr>
            </a:lvl7pPr>
            <a:lvl8pPr marL="3494151" indent="-232943" eaLnBrk="0" fontAlgn="base" hangingPunct="0">
              <a:spcBef>
                <a:spcPct val="0"/>
              </a:spcBef>
              <a:spcAft>
                <a:spcPct val="0"/>
              </a:spcAft>
              <a:defRPr sz="2400">
                <a:solidFill>
                  <a:schemeClr val="tx1"/>
                </a:solidFill>
                <a:latin typeface="Arial" charset="0"/>
                <a:ea typeface="ＭＳ Ｐゴシック" charset="-128"/>
              </a:defRPr>
            </a:lvl8pPr>
            <a:lvl9pPr marL="3960038" indent="-232943"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9879D511-C3EE-48BB-AFBD-4F0D90D9F1F3}" type="slidenum">
              <a:rPr lang="en-US" altLang="en-US" sz="1200"/>
              <a:pPr eaLnBrk="1" hangingPunct="1"/>
              <a:t>10</a:t>
            </a:fld>
            <a:endParaRPr lang="en-US" altLang="en-US" sz="1200"/>
          </a:p>
        </p:txBody>
      </p:sp>
    </p:spTree>
    <p:extLst>
      <p:ext uri="{BB962C8B-B14F-4D97-AF65-F5344CB8AC3E}">
        <p14:creationId xmlns:p14="http://schemas.microsoft.com/office/powerpoint/2010/main" val="1767005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buClr>
                <a:srgbClr val="32859B"/>
              </a:buClr>
              <a:buSzTx/>
              <a:buFont typeface="Wingdings" panose="05000000000000000000" pitchFamily="2" charset="2"/>
              <a:buChar char="§"/>
            </a:pPr>
            <a:r>
              <a:rPr lang="en-US" altLang="en-US" sz="1200" dirty="0"/>
              <a:t>Provide the performance objectives table from the demonstration plan.</a:t>
            </a:r>
          </a:p>
          <a:p>
            <a:pPr eaLnBrk="1" hangingPunct="1">
              <a:spcBef>
                <a:spcPct val="0"/>
              </a:spcBef>
              <a:buClr>
                <a:srgbClr val="32859B"/>
              </a:buClr>
              <a:buSzTx/>
              <a:buFont typeface="Wingdings" panose="05000000000000000000" pitchFamily="2" charset="2"/>
              <a:buChar char="§"/>
            </a:pPr>
            <a:r>
              <a:rPr lang="en-US" altLang="en-US" sz="1200" dirty="0"/>
              <a:t>Provide additional slides as needed to describe the methods for collecting and analyzing the data required to assess the quantitative performance objectives</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11</a:t>
            </a:fld>
            <a:endParaRPr lang="en-US"/>
          </a:p>
        </p:txBody>
      </p:sp>
    </p:spTree>
    <p:extLst>
      <p:ext uri="{BB962C8B-B14F-4D97-AF65-F5344CB8AC3E}">
        <p14:creationId xmlns:p14="http://schemas.microsoft.com/office/powerpoint/2010/main" val="2246142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 typeface="+mj-lt"/>
              <a:buNone/>
            </a:pPr>
            <a:r>
              <a:rPr lang="en-US" altLang="en-US" sz="1200" dirty="0"/>
              <a:t>This section should encompass several slides. The use of graphics/pictures/graphs/tables is strongly encouraged. Ensure font size on graphics/tables/graphs is large enough to be easily read by the audience and includes captions, table headings, axis labels, or legends as applicable.</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12</a:t>
            </a:fld>
            <a:endParaRPr lang="en-US"/>
          </a:p>
        </p:txBody>
      </p:sp>
    </p:spTree>
    <p:extLst>
      <p:ext uri="{BB962C8B-B14F-4D97-AF65-F5344CB8AC3E}">
        <p14:creationId xmlns:p14="http://schemas.microsoft.com/office/powerpoint/2010/main" val="290655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 typeface="+mj-lt"/>
              <a:buNone/>
            </a:pPr>
            <a:r>
              <a:rPr lang="en-US" altLang="en-US" sz="1200" dirty="0"/>
              <a:t>This section should encompass several slides. The use of graphics/pictures/graphs/tables is strongly encouraged. Ensure font size on graphics/tables/graphs is large enough to be easily read by the audience and includes captions, table headings, axis labels, or legends as applicable.</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13</a:t>
            </a:fld>
            <a:endParaRPr lang="en-US"/>
          </a:p>
        </p:txBody>
      </p:sp>
    </p:spTree>
    <p:extLst>
      <p:ext uri="{BB962C8B-B14F-4D97-AF65-F5344CB8AC3E}">
        <p14:creationId xmlns:p14="http://schemas.microsoft.com/office/powerpoint/2010/main" val="2915785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 typeface="+mj-lt"/>
              <a:buNone/>
            </a:pPr>
            <a:r>
              <a:rPr lang="en-US" altLang="en-US" sz="1200" dirty="0"/>
              <a:t>This section should encompass several slides. The use of graphics/pictures/graphs/tables is strongly encouraged. Ensure font size on graphics/tables/graphs is large enough to be easily read by the audience and includes captions, table headings, axis labels, or legends as applicable.</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14</a:t>
            </a:fld>
            <a:endParaRPr lang="en-US"/>
          </a:p>
        </p:txBody>
      </p:sp>
    </p:spTree>
    <p:extLst>
      <p:ext uri="{BB962C8B-B14F-4D97-AF65-F5344CB8AC3E}">
        <p14:creationId xmlns:p14="http://schemas.microsoft.com/office/powerpoint/2010/main" val="3247206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a:t>Include slide only if required.</a:t>
            </a:r>
            <a:endParaRPr lang="en-US"/>
          </a:p>
        </p:txBody>
      </p:sp>
      <p:sp>
        <p:nvSpPr>
          <p:cNvPr id="4" name="Slide Number Placeholder 3"/>
          <p:cNvSpPr>
            <a:spLocks noGrp="1"/>
          </p:cNvSpPr>
          <p:nvPr>
            <p:ph type="sldNum" sz="quarter" idx="5"/>
          </p:nvPr>
        </p:nvSpPr>
        <p:spPr/>
        <p:txBody>
          <a:bodyPr/>
          <a:lstStyle/>
          <a:p>
            <a:fld id="{392EF280-E771-9E4C-B4C1-C93AE3498C00}" type="slidenum">
              <a:rPr lang="en-US" smtClean="0"/>
              <a:t>15</a:t>
            </a:fld>
            <a:endParaRPr lang="en-US"/>
          </a:p>
        </p:txBody>
      </p:sp>
    </p:spTree>
    <p:extLst>
      <p:ext uri="{BB962C8B-B14F-4D97-AF65-F5344CB8AC3E}">
        <p14:creationId xmlns:p14="http://schemas.microsoft.com/office/powerpoint/2010/main" val="3094596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2EF280-E771-9E4C-B4C1-C93AE3498C00}" type="slidenum">
              <a:rPr lang="en-US" smtClean="0"/>
              <a:t>16</a:t>
            </a:fld>
            <a:endParaRPr lang="en-US"/>
          </a:p>
        </p:txBody>
      </p:sp>
    </p:spTree>
    <p:extLst>
      <p:ext uri="{BB962C8B-B14F-4D97-AF65-F5344CB8AC3E}">
        <p14:creationId xmlns:p14="http://schemas.microsoft.com/office/powerpoint/2010/main" val="2026935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The SERDP ESTCP communications team will review this section for any significant updates that can be shared to demonstrate program successes. </a:t>
            </a:r>
            <a:endParaRPr lang="en-US" altLang="en-US" sz="1200" b="1" dirty="0"/>
          </a:p>
        </p:txBody>
      </p:sp>
      <p:sp>
        <p:nvSpPr>
          <p:cNvPr id="4" name="Slide Number Placeholder 3"/>
          <p:cNvSpPr>
            <a:spLocks noGrp="1"/>
          </p:cNvSpPr>
          <p:nvPr>
            <p:ph type="sldNum" sz="quarter" idx="5"/>
          </p:nvPr>
        </p:nvSpPr>
        <p:spPr/>
        <p:txBody>
          <a:bodyPr/>
          <a:lstStyle/>
          <a:p>
            <a:fld id="{62D20830-498B-4671-8B0F-852E521F617B}" type="slidenum">
              <a:rPr lang="en-US" smtClean="0"/>
              <a:t>17</a:t>
            </a:fld>
            <a:endParaRPr lang="en-US"/>
          </a:p>
        </p:txBody>
      </p:sp>
    </p:spTree>
    <p:extLst>
      <p:ext uri="{BB962C8B-B14F-4D97-AF65-F5344CB8AC3E}">
        <p14:creationId xmlns:p14="http://schemas.microsoft.com/office/powerpoint/2010/main" val="4147918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9C100-E9FC-D317-90EC-806D27C46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F0998-1ACC-53E3-00CA-50D99925CF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7960D-E844-AEEA-E8A9-E62F5E434D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The SERDP ESTCP communications team will review this section for any significant updates that can be shared to demonstrate program successes. </a:t>
            </a:r>
            <a:endParaRPr lang="en-US" altLang="en-US" sz="1200" b="1" dirty="0"/>
          </a:p>
        </p:txBody>
      </p:sp>
      <p:sp>
        <p:nvSpPr>
          <p:cNvPr id="4" name="Slide Number Placeholder 3">
            <a:extLst>
              <a:ext uri="{FF2B5EF4-FFF2-40B4-BE49-F238E27FC236}">
                <a16:creationId xmlns:a16="http://schemas.microsoft.com/office/drawing/2014/main" id="{4DD0510D-B9C9-D406-C4C4-A075B46E60C2}"/>
              </a:ext>
            </a:extLst>
          </p:cNvPr>
          <p:cNvSpPr>
            <a:spLocks noGrp="1"/>
          </p:cNvSpPr>
          <p:nvPr>
            <p:ph type="sldNum" sz="quarter" idx="5"/>
          </p:nvPr>
        </p:nvSpPr>
        <p:spPr/>
        <p:txBody>
          <a:bodyPr/>
          <a:lstStyle/>
          <a:p>
            <a:fld id="{62D20830-498B-4671-8B0F-852E521F617B}" type="slidenum">
              <a:rPr lang="en-US" smtClean="0"/>
              <a:t>18</a:t>
            </a:fld>
            <a:endParaRPr lang="en-US"/>
          </a:p>
        </p:txBody>
      </p:sp>
    </p:spTree>
    <p:extLst>
      <p:ext uri="{BB962C8B-B14F-4D97-AF65-F5344CB8AC3E}">
        <p14:creationId xmlns:p14="http://schemas.microsoft.com/office/powerpoint/2010/main" val="2674851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993F3-88AC-214D-C9A4-6C697D9E7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FC95C-FC46-74BA-5A10-7424D1795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E5E6B4-359E-8D09-5236-98B9B10543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The SERDP ESTCP communications team will review this section for any significant updates that can be shared to demonstrate program successes. </a:t>
            </a:r>
            <a:endParaRPr lang="en-US" altLang="en-US" sz="1200" b="1" dirty="0"/>
          </a:p>
        </p:txBody>
      </p:sp>
      <p:sp>
        <p:nvSpPr>
          <p:cNvPr id="4" name="Slide Number Placeholder 3">
            <a:extLst>
              <a:ext uri="{FF2B5EF4-FFF2-40B4-BE49-F238E27FC236}">
                <a16:creationId xmlns:a16="http://schemas.microsoft.com/office/drawing/2014/main" id="{0F30EF03-1BAE-02FC-9092-E37072853476}"/>
              </a:ext>
            </a:extLst>
          </p:cNvPr>
          <p:cNvSpPr>
            <a:spLocks noGrp="1"/>
          </p:cNvSpPr>
          <p:nvPr>
            <p:ph type="sldNum" sz="quarter" idx="5"/>
          </p:nvPr>
        </p:nvSpPr>
        <p:spPr/>
        <p:txBody>
          <a:bodyPr/>
          <a:lstStyle/>
          <a:p>
            <a:fld id="{62D20830-498B-4671-8B0F-852E521F617B}" type="slidenum">
              <a:rPr lang="en-US" smtClean="0"/>
              <a:t>19</a:t>
            </a:fld>
            <a:endParaRPr lang="en-US"/>
          </a:p>
        </p:txBody>
      </p:sp>
    </p:spTree>
    <p:extLst>
      <p:ext uri="{BB962C8B-B14F-4D97-AF65-F5344CB8AC3E}">
        <p14:creationId xmlns:p14="http://schemas.microsoft.com/office/powerpoint/2010/main" val="421082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 FOR PROJECT TEAM: Technology Transfer Examples</a:t>
            </a:r>
          </a:p>
          <a:p>
            <a:pPr marL="171450" indent="-171450">
              <a:buFont typeface="Arial" panose="020B0604020202020204" pitchFamily="34" charset="0"/>
              <a:buChar char="•"/>
              <a:defRPr/>
            </a:pPr>
            <a:r>
              <a:rPr lang="en-US" altLang="en-US" dirty="0"/>
              <a:t>Training workshops, live or via webinar</a:t>
            </a:r>
          </a:p>
          <a:p>
            <a:pPr marL="171450" indent="-171450">
              <a:buFont typeface="Arial" panose="020B0604020202020204" pitchFamily="34" charset="0"/>
              <a:buChar char="•"/>
              <a:defRPr/>
            </a:pPr>
            <a:r>
              <a:rPr lang="en-US" altLang="en-US" dirty="0"/>
              <a:t>Presentations at key conferences</a:t>
            </a:r>
          </a:p>
          <a:p>
            <a:pPr marL="171450" indent="-171450">
              <a:buFont typeface="Arial" panose="020B0604020202020204" pitchFamily="34" charset="0"/>
              <a:buChar char="•"/>
              <a:defRPr/>
            </a:pPr>
            <a:r>
              <a:rPr lang="en-US" altLang="en-US" dirty="0"/>
              <a:t>Web-based tools (see example at link)</a:t>
            </a:r>
          </a:p>
          <a:p>
            <a:pPr marL="171450" indent="-171450">
              <a:buFont typeface="Arial" panose="020B0604020202020204" pitchFamily="34" charset="0"/>
              <a:buChar char="•"/>
              <a:defRPr/>
            </a:pPr>
            <a:r>
              <a:rPr lang="en-US" sz="1000" dirty="0">
                <a:hlinkClick r:id="rId3"/>
              </a:rPr>
              <a:t>http://t2.serdp-estcp.org/t2template.html#tool=CSIA&amp;page=Introduction</a:t>
            </a:r>
            <a:endParaRPr lang="en-US" sz="1000" dirty="0"/>
          </a:p>
          <a:p>
            <a:pPr marL="171450" indent="-171450">
              <a:buFont typeface="Arial" panose="020B0604020202020204" pitchFamily="34" charset="0"/>
              <a:buChar char="•"/>
              <a:defRPr/>
            </a:pPr>
            <a:r>
              <a:rPr lang="en-US" dirty="0"/>
              <a:t>Guidance documents</a:t>
            </a:r>
          </a:p>
          <a:p>
            <a:pPr marL="171450" indent="-171450">
              <a:buFont typeface="Arial" panose="020B0604020202020204" pitchFamily="34" charset="0"/>
              <a:buChar char="•"/>
              <a:defRPr/>
            </a:pPr>
            <a:r>
              <a:rPr lang="en-US" dirty="0"/>
              <a:t>Technology fact sheets</a:t>
            </a:r>
          </a:p>
          <a:p>
            <a:pPr marL="171450" indent="-171450">
              <a:buFont typeface="Arial" panose="020B0604020202020204" pitchFamily="34" charset="0"/>
              <a:buChar char="•"/>
              <a:defRPr/>
            </a:pPr>
            <a:r>
              <a:rPr lang="en-US" dirty="0"/>
              <a:t>“How to” Videos</a:t>
            </a:r>
          </a:p>
          <a:p>
            <a:pPr marL="171450" indent="-171450">
              <a:buFont typeface="Arial" panose="020B0604020202020204" pitchFamily="34" charset="0"/>
              <a:buChar char="•"/>
              <a:defRPr/>
            </a:pPr>
            <a:r>
              <a:rPr lang="en-US" dirty="0"/>
              <a:t>Community open houses</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20</a:t>
            </a:fld>
            <a:endParaRPr lang="en-US"/>
          </a:p>
        </p:txBody>
      </p:sp>
    </p:spTree>
    <p:extLst>
      <p:ext uri="{BB962C8B-B14F-4D97-AF65-F5344CB8AC3E}">
        <p14:creationId xmlns:p14="http://schemas.microsoft.com/office/powerpoint/2010/main" val="35870642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FOR PROJECT TEAMS: Example Data filled in – remove and replace with your actual data.</a:t>
            </a:r>
          </a:p>
          <a:p>
            <a:pPr marL="342900" marR="0" lvl="0" indent="-342900" algn="l" defTabSz="914400" rtl="0" eaLnBrk="1" fontAlgn="base" latinLnBrk="0" hangingPunct="1">
              <a:lnSpc>
                <a:spcPct val="100000"/>
              </a:lnSpc>
              <a:spcBef>
                <a:spcPct val="20000"/>
              </a:spcBef>
              <a:spcAft>
                <a:spcPct val="0"/>
              </a:spcAft>
              <a:buClrTx/>
              <a:buSzPct val="75000"/>
              <a:buFont typeface="Arial" charset="0"/>
              <a:buAutoNum type="arabicPeriod"/>
              <a:tabLst/>
            </a:pPr>
            <a:r>
              <a:rPr kumimoji="0" lang="en-US" sz="1200" b="0" i="0" u="none" strike="noStrike" cap="none" normalizeH="0" baseline="0" dirty="0">
                <a:ln>
                  <a:noFill/>
                </a:ln>
                <a:solidFill>
                  <a:schemeClr val="tx1"/>
                </a:solidFill>
                <a:effectLst/>
                <a:latin typeface="Arial" charset="0"/>
              </a:rPr>
              <a:t>Adjust fiscal years to reflect all years in which funding was received and is planned.</a:t>
            </a:r>
          </a:p>
          <a:p>
            <a:pPr marL="342900" marR="0" lvl="0" indent="-342900" algn="l" defTabSz="914400" rtl="0" eaLnBrk="1" fontAlgn="base" latinLnBrk="0" hangingPunct="1">
              <a:lnSpc>
                <a:spcPct val="100000"/>
              </a:lnSpc>
              <a:spcBef>
                <a:spcPct val="20000"/>
              </a:spcBef>
              <a:spcAft>
                <a:spcPct val="0"/>
              </a:spcAft>
              <a:buClrTx/>
              <a:buSzPct val="75000"/>
              <a:buFont typeface="Arial" charset="0"/>
              <a:buAutoNum type="arabicPeriod"/>
              <a:tabLst/>
            </a:pPr>
            <a:r>
              <a:rPr kumimoji="0" lang="en-US" sz="1200" b="0" i="0" u="none" strike="noStrike" cap="none" normalizeH="0" baseline="0" dirty="0">
                <a:ln>
                  <a:noFill/>
                </a:ln>
                <a:solidFill>
                  <a:schemeClr val="tx1"/>
                </a:solidFill>
                <a:effectLst/>
                <a:latin typeface="Arial" charset="0"/>
              </a:rPr>
              <a:t>If substantial funds have not been spent from previous years, please provide a revised funding profile for the current fiscal year and future years. Requested funds for the current and future years should be an amount that you expect can be spent within that calendar year (see example next page). </a:t>
            </a:r>
            <a:r>
              <a:rPr kumimoji="0" lang="en-US" sz="1200" b="1" i="1" u="none" strike="noStrike" cap="none" normalizeH="0" baseline="0" dirty="0">
                <a:ln>
                  <a:noFill/>
                </a:ln>
                <a:solidFill>
                  <a:schemeClr val="tx1"/>
                </a:solidFill>
                <a:effectLst/>
                <a:latin typeface="Arial" charset="0"/>
              </a:rPr>
              <a:t>Please contact the Program Office in advance of the IPR if you are unclear on how to restructure the funding profile.</a:t>
            </a:r>
          </a:p>
        </p:txBody>
      </p:sp>
      <p:sp>
        <p:nvSpPr>
          <p:cNvPr id="4" name="Slide Number Placeholder 3"/>
          <p:cNvSpPr>
            <a:spLocks noGrp="1"/>
          </p:cNvSpPr>
          <p:nvPr>
            <p:ph type="sldNum" sz="quarter" idx="5"/>
          </p:nvPr>
        </p:nvSpPr>
        <p:spPr/>
        <p:txBody>
          <a:bodyPr/>
          <a:lstStyle/>
          <a:p>
            <a:fld id="{392EF280-E771-9E4C-B4C1-C93AE3498C00}" type="slidenum">
              <a:rPr lang="en-US" smtClean="0"/>
              <a:t>21</a:t>
            </a:fld>
            <a:endParaRPr lang="en-US"/>
          </a:p>
        </p:txBody>
      </p:sp>
    </p:spTree>
    <p:extLst>
      <p:ext uri="{BB962C8B-B14F-4D97-AF65-F5344CB8AC3E}">
        <p14:creationId xmlns:p14="http://schemas.microsoft.com/office/powerpoint/2010/main" val="3125801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23ED6554-50EB-418D-87D9-75DBDDBADE9A}" type="slidenum">
              <a:rPr lang="en-US" altLang="en-US">
                <a:latin typeface="Arial" charset="0"/>
              </a:rPr>
              <a:pPr>
                <a:spcBef>
                  <a:spcPct val="0"/>
                </a:spcBef>
              </a:pPr>
              <a:t>22</a:t>
            </a:fld>
            <a:endParaRPr lang="en-US" altLang="en-US">
              <a:latin typeface="Arial" charset="0"/>
            </a:endParaRPr>
          </a:p>
        </p:txBody>
      </p:sp>
      <p:sp>
        <p:nvSpPr>
          <p:cNvPr id="225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666559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34C73-BA70-7F07-8E20-35D091989768}"/>
            </a:ext>
          </a:extLst>
        </p:cNvPr>
        <p:cNvGrpSpPr/>
        <p:nvPr/>
      </p:nvGrpSpPr>
      <p:grpSpPr>
        <a:xfrm>
          <a:off x="0" y="0"/>
          <a:ext cx="0" cy="0"/>
          <a:chOff x="0" y="0"/>
          <a:chExt cx="0" cy="0"/>
        </a:xfrm>
      </p:grpSpPr>
      <p:sp>
        <p:nvSpPr>
          <p:cNvPr id="26626" name="Rectangle 7">
            <a:extLst>
              <a:ext uri="{FF2B5EF4-FFF2-40B4-BE49-F238E27FC236}">
                <a16:creationId xmlns:a16="http://schemas.microsoft.com/office/drawing/2014/main" id="{028DB3C4-5923-AEA3-89D8-27DDC7A9DE3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1363" indent="-284163">
              <a:spcBef>
                <a:spcPct val="30000"/>
              </a:spcBef>
              <a:defRPr sz="1200">
                <a:solidFill>
                  <a:schemeClr val="tx1"/>
                </a:solidFill>
                <a:latin typeface="Calibri" charset="0"/>
              </a:defRPr>
            </a:lvl2pPr>
            <a:lvl3pPr marL="1141413" indent="-227013">
              <a:spcBef>
                <a:spcPct val="30000"/>
              </a:spcBef>
              <a:defRPr sz="1200">
                <a:solidFill>
                  <a:schemeClr val="tx1"/>
                </a:solidFill>
                <a:latin typeface="Calibri" charset="0"/>
              </a:defRPr>
            </a:lvl3pPr>
            <a:lvl4pPr marL="1598613" indent="-227013">
              <a:spcBef>
                <a:spcPct val="30000"/>
              </a:spcBef>
              <a:defRPr sz="1200">
                <a:solidFill>
                  <a:schemeClr val="tx1"/>
                </a:solidFill>
                <a:latin typeface="Calibri" charset="0"/>
              </a:defRPr>
            </a:lvl4pPr>
            <a:lvl5pPr marL="2055813" indent="-227013">
              <a:spcBef>
                <a:spcPct val="30000"/>
              </a:spcBef>
              <a:defRPr sz="1200">
                <a:solidFill>
                  <a:schemeClr val="tx1"/>
                </a:solidFill>
                <a:latin typeface="Calibri" charset="0"/>
              </a:defRPr>
            </a:lvl5pPr>
            <a:lvl6pPr marL="2513013" indent="-227013" eaLnBrk="0" fontAlgn="base" hangingPunct="0">
              <a:spcBef>
                <a:spcPct val="30000"/>
              </a:spcBef>
              <a:spcAft>
                <a:spcPct val="0"/>
              </a:spcAft>
              <a:defRPr sz="1200">
                <a:solidFill>
                  <a:schemeClr val="tx1"/>
                </a:solidFill>
                <a:latin typeface="Calibri" charset="0"/>
              </a:defRPr>
            </a:lvl6pPr>
            <a:lvl7pPr marL="2970213" indent="-227013" eaLnBrk="0" fontAlgn="base" hangingPunct="0">
              <a:spcBef>
                <a:spcPct val="30000"/>
              </a:spcBef>
              <a:spcAft>
                <a:spcPct val="0"/>
              </a:spcAft>
              <a:defRPr sz="1200">
                <a:solidFill>
                  <a:schemeClr val="tx1"/>
                </a:solidFill>
                <a:latin typeface="Calibri" charset="0"/>
              </a:defRPr>
            </a:lvl7pPr>
            <a:lvl8pPr marL="3427413" indent="-227013" eaLnBrk="0" fontAlgn="base" hangingPunct="0">
              <a:spcBef>
                <a:spcPct val="30000"/>
              </a:spcBef>
              <a:spcAft>
                <a:spcPct val="0"/>
              </a:spcAft>
              <a:defRPr sz="1200">
                <a:solidFill>
                  <a:schemeClr val="tx1"/>
                </a:solidFill>
                <a:latin typeface="Calibri" charset="0"/>
              </a:defRPr>
            </a:lvl8pPr>
            <a:lvl9pPr marL="3884613" indent="-227013" eaLnBrk="0" fontAlgn="base" hangingPunct="0">
              <a:spcBef>
                <a:spcPct val="30000"/>
              </a:spcBef>
              <a:spcAft>
                <a:spcPct val="0"/>
              </a:spcAft>
              <a:defRPr sz="1200">
                <a:solidFill>
                  <a:schemeClr val="tx1"/>
                </a:solidFill>
                <a:latin typeface="Calibri" charset="0"/>
              </a:defRPr>
            </a:lvl9pPr>
          </a:lstStyle>
          <a:p>
            <a:pPr>
              <a:spcBef>
                <a:spcPct val="0"/>
              </a:spcBef>
            </a:pPr>
            <a:fld id="{D6F27025-3C08-42F8-8EE3-32FD107CBF69}" type="slidenum">
              <a:rPr lang="en-US" altLang="en-US">
                <a:latin typeface="Arial" charset="0"/>
              </a:rPr>
              <a:pPr>
                <a:spcBef>
                  <a:spcPct val="0"/>
                </a:spcBef>
              </a:pPr>
              <a:t>23</a:t>
            </a:fld>
            <a:endParaRPr lang="en-US" altLang="en-US">
              <a:latin typeface="Arial" charset="0"/>
            </a:endParaRPr>
          </a:p>
        </p:txBody>
      </p:sp>
      <p:sp>
        <p:nvSpPr>
          <p:cNvPr id="26627" name="Rectangle 2">
            <a:extLst>
              <a:ext uri="{FF2B5EF4-FFF2-40B4-BE49-F238E27FC236}">
                <a16:creationId xmlns:a16="http://schemas.microsoft.com/office/drawing/2014/main" id="{0557972F-BCCF-3A95-8C81-3B30E146AAB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8" name="Rectangle 3">
            <a:extLst>
              <a:ext uri="{FF2B5EF4-FFF2-40B4-BE49-F238E27FC236}">
                <a16:creationId xmlns:a16="http://schemas.microsoft.com/office/drawing/2014/main" id="{6443637E-63F4-14F1-0BF9-D0F8C103C225}"/>
              </a:ext>
            </a:extLst>
          </p:cNvPr>
          <p:cNvSpPr>
            <a:spLocks noGrp="1" noChangeArrowheads="1"/>
          </p:cNvSpPr>
          <p:nvPr>
            <p:ph type="body" idx="1"/>
          </p:nvPr>
        </p:nvSpPr>
        <p:spPr>
          <a:ln/>
        </p:spPr>
        <p:txBody>
          <a:bodyPr/>
          <a:lstStyle/>
          <a:p>
            <a:pPr>
              <a:buFont typeface="Arial" pitchFamily="34" charset="0"/>
              <a:buNone/>
              <a:defRPr/>
            </a:pPr>
            <a:endParaRPr lang="en-US">
              <a:solidFill>
                <a:schemeClr val="tx2">
                  <a:lumMod val="75000"/>
                </a:schemeClr>
              </a:solidFill>
              <a:ea typeface="ＭＳ Ｐゴシック" charset="-128"/>
            </a:endParaRPr>
          </a:p>
        </p:txBody>
      </p:sp>
    </p:spTree>
    <p:extLst>
      <p:ext uri="{BB962C8B-B14F-4D97-AF65-F5344CB8AC3E}">
        <p14:creationId xmlns:p14="http://schemas.microsoft.com/office/powerpoint/2010/main" val="1351757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800"/>
              <a:t>REFERENCE FOR PROJECT TEAMS: Provide a summary of the problem, the proposed solution and how it addresses or solves the problem. The purpose of this slide is to provide the technical committee (TC) an updated “pitch” on why this project was funded. Some questions to answer: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3200">
                <a:highlight>
                  <a:srgbClr val="FF00FF"/>
                </a:highlight>
              </a:rPr>
              <a:t>What technology or methodology is being evaluated during this demonstration?</a:t>
            </a:r>
            <a:endParaRPr lang="en-US" sz="1600">
              <a:solidFill>
                <a:srgbClr val="06684B"/>
              </a:solidFill>
              <a:highlight>
                <a:srgbClr val="FF00FF"/>
              </a:highlight>
            </a:endParaRPr>
          </a:p>
          <a:p>
            <a:pPr marL="800100" lvl="1" indent="-342900">
              <a:buFont typeface="+mj-lt"/>
              <a:buAutoNum type="arabicPeriod"/>
              <a:defRPr/>
            </a:pPr>
            <a:r>
              <a:rPr lang="en-US" sz="1600">
                <a:solidFill>
                  <a:srgbClr val="06684B"/>
                </a:solidFill>
              </a:rPr>
              <a:t>What is the baseline at most DoD installations for the demonstrated technology? (nationally?)</a:t>
            </a:r>
          </a:p>
          <a:p>
            <a:pPr marL="800100" lvl="1" indent="-342900">
              <a:buFont typeface="+mj-lt"/>
              <a:buAutoNum type="arabicPeriod"/>
              <a:defRPr/>
            </a:pPr>
            <a:r>
              <a:rPr lang="en-US" sz="1600">
                <a:solidFill>
                  <a:srgbClr val="06684B"/>
                </a:solidFill>
              </a:rPr>
              <a:t>What is the “state of the art” today?</a:t>
            </a:r>
          </a:p>
          <a:p>
            <a:pPr marL="800100" lvl="1" indent="-342900">
              <a:buFont typeface="+mj-lt"/>
              <a:buAutoNum type="arabicPeriod"/>
              <a:defRPr/>
            </a:pPr>
            <a:r>
              <a:rPr lang="en-US" sz="1600">
                <a:solidFill>
                  <a:srgbClr val="06684B"/>
                </a:solidFill>
              </a:rPr>
              <a:t>How will the project advance the state of the art?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1"/>
          </a:p>
        </p:txBody>
      </p:sp>
      <p:sp>
        <p:nvSpPr>
          <p:cNvPr id="4" name="Slide Number Placeholder 3"/>
          <p:cNvSpPr>
            <a:spLocks noGrp="1"/>
          </p:cNvSpPr>
          <p:nvPr>
            <p:ph type="sldNum" sz="quarter" idx="5"/>
          </p:nvPr>
        </p:nvSpPr>
        <p:spPr/>
        <p:txBody>
          <a:bodyPr/>
          <a:lstStyle/>
          <a:p>
            <a:fld id="{62D20830-498B-4671-8B0F-852E521F617B}" type="slidenum">
              <a:rPr lang="en-US" smtClean="0"/>
              <a:t>24</a:t>
            </a:fld>
            <a:endParaRPr lang="en-US"/>
          </a:p>
        </p:txBody>
      </p:sp>
    </p:spTree>
    <p:extLst>
      <p:ext uri="{BB962C8B-B14F-4D97-AF65-F5344CB8AC3E}">
        <p14:creationId xmlns:p14="http://schemas.microsoft.com/office/powerpoint/2010/main" val="847283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include in main presentation, prior to backup, if an action item is applicable to this meeting. </a:t>
            </a:r>
          </a:p>
        </p:txBody>
      </p:sp>
      <p:sp>
        <p:nvSpPr>
          <p:cNvPr id="4" name="Slide Number Placeholder 3"/>
          <p:cNvSpPr>
            <a:spLocks noGrp="1"/>
          </p:cNvSpPr>
          <p:nvPr>
            <p:ph type="sldNum" sz="quarter" idx="5"/>
          </p:nvPr>
        </p:nvSpPr>
        <p:spPr/>
        <p:txBody>
          <a:bodyPr/>
          <a:lstStyle/>
          <a:p>
            <a:fld id="{392EF280-E771-9E4C-B4C1-C93AE3498C00}" type="slidenum">
              <a:rPr lang="en-US" smtClean="0"/>
              <a:t>25</a:t>
            </a:fld>
            <a:endParaRPr lang="en-US"/>
          </a:p>
        </p:txBody>
      </p:sp>
    </p:spTree>
    <p:extLst>
      <p:ext uri="{BB962C8B-B14F-4D97-AF65-F5344CB8AC3E}">
        <p14:creationId xmlns:p14="http://schemas.microsoft.com/office/powerpoint/2010/main" val="18207536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NOTE FOR PROJECT TEAM: </a:t>
            </a:r>
            <a:r>
              <a:rPr lang="en-US" altLang="en-US" sz="1200"/>
              <a:t>Report on the status of funds for each MIPR received by a directly funded Federal performer. Provide information on each fiscal year for which there has not been 100% expenditure of funds. If you or your co-performer do not understand how to fill this out, contact your Program Manger in advance of the IPR. </a:t>
            </a:r>
          </a:p>
          <a:p>
            <a:endParaRPr lang="en-US"/>
          </a:p>
        </p:txBody>
      </p:sp>
      <p:sp>
        <p:nvSpPr>
          <p:cNvPr id="4" name="Slide Number Placeholder 3"/>
          <p:cNvSpPr>
            <a:spLocks noGrp="1"/>
          </p:cNvSpPr>
          <p:nvPr>
            <p:ph type="sldNum" sz="quarter" idx="5"/>
          </p:nvPr>
        </p:nvSpPr>
        <p:spPr/>
        <p:txBody>
          <a:bodyPr/>
          <a:lstStyle/>
          <a:p>
            <a:fld id="{392EF280-E771-9E4C-B4C1-C93AE3498C00}" type="slidenum">
              <a:rPr lang="en-US" smtClean="0"/>
              <a:t>26</a:t>
            </a:fld>
            <a:endParaRPr lang="en-US"/>
          </a:p>
        </p:txBody>
      </p:sp>
    </p:spTree>
    <p:extLst>
      <p:ext uri="{BB962C8B-B14F-4D97-AF65-F5344CB8AC3E}">
        <p14:creationId xmlns:p14="http://schemas.microsoft.com/office/powerpoint/2010/main" val="8243058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76727" y="1292653"/>
            <a:ext cx="6075947" cy="1626420"/>
          </a:xfrm>
        </p:spPr>
        <p:txBody>
          <a:bodyPr anchor="b">
            <a:noAutofit/>
          </a:bodyPr>
          <a:lstStyle>
            <a:lvl1pPr algn="l">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276727" y="3152409"/>
            <a:ext cx="6075947" cy="1241822"/>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1938755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lvl1pPr>
          </a:lstStyle>
          <a:p>
            <a:r>
              <a:rPr lang="en-US"/>
              <a:t>Click to edit Master title style</a:t>
            </a:r>
          </a:p>
        </p:txBody>
      </p:sp>
      <p:sp>
        <p:nvSpPr>
          <p:cNvPr id="3" name="Content Placeholder 2"/>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361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9986" y="1282304"/>
            <a:ext cx="6266152" cy="1622261"/>
          </a:xfrm>
        </p:spPr>
        <p:txBody>
          <a:bodyPr anchor="ctr" anchorCtr="0">
            <a:noAutofit/>
          </a:bodyPr>
          <a:lstStyle>
            <a:lvl1pPr>
              <a:defRPr sz="32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2219986" y="3021572"/>
            <a:ext cx="6266152"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246904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764541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4025478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491147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9840" y="342900"/>
            <a:ext cx="3502073" cy="1200150"/>
          </a:xfrm>
        </p:spPr>
        <p:txBody>
          <a:bodyPr anchor="b">
            <a:noAutofit/>
          </a:bodyPr>
          <a:lstStyle>
            <a:lvl1pPr>
              <a:defRPr sz="2800" b="1">
                <a:solidFill>
                  <a:schemeClr val="tx1"/>
                </a:solidFill>
              </a:defRPr>
            </a:lvl1pPr>
          </a:lstStyle>
          <a:p>
            <a:r>
              <a:rPr lang="en-US"/>
              <a:t>Click to edit Master title style</a:t>
            </a:r>
          </a:p>
        </p:txBody>
      </p:sp>
      <p:sp>
        <p:nvSpPr>
          <p:cNvPr id="3" name="Content Placeholder 2"/>
          <p:cNvSpPr>
            <a:spLocks noGrp="1"/>
          </p:cNvSpPr>
          <p:nvPr>
            <p:ph idx="1"/>
          </p:nvPr>
        </p:nvSpPr>
        <p:spPr>
          <a:xfrm>
            <a:off x="4571999" y="740569"/>
            <a:ext cx="3944541" cy="3655219"/>
          </a:xfrm>
        </p:spPr>
        <p:txBody>
          <a:bodyPr>
            <a:noAutofit/>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0" y="1670671"/>
            <a:ext cx="3502073" cy="273107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58020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0" y="1177925"/>
            <a:ext cx="5256609" cy="3548088"/>
          </a:xfrm>
          <a:no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
        <p:nvSpPr>
          <p:cNvPr id="8" name="Title 1">
            <a:extLst>
              <a:ext uri="{FF2B5EF4-FFF2-40B4-BE49-F238E27FC236}">
                <a16:creationId xmlns:a16="http://schemas.microsoft.com/office/drawing/2014/main" id="{436A1A41-F8AA-C39A-16F6-15238B0D13E2}"/>
              </a:ext>
            </a:extLst>
          </p:cNvPr>
          <p:cNvSpPr>
            <a:spLocks noGrp="1"/>
          </p:cNvSpPr>
          <p:nvPr>
            <p:ph type="title"/>
          </p:nvPr>
        </p:nvSpPr>
        <p:spPr>
          <a:xfrm>
            <a:off x="628650" y="273844"/>
            <a:ext cx="7886700" cy="901813"/>
          </a:xfrm>
        </p:spPr>
        <p:txBody>
          <a:bodyPr>
            <a:normAutofit/>
          </a:bodyPr>
          <a:lstStyle>
            <a:lvl1pPr>
              <a:defRPr sz="3200" b="1"/>
            </a:lvl1pPr>
          </a:lstStyle>
          <a:p>
            <a:r>
              <a:rPr lang="en-US"/>
              <a:t>Click to edit Master title style</a:t>
            </a:r>
          </a:p>
        </p:txBody>
      </p:sp>
      <p:sp>
        <p:nvSpPr>
          <p:cNvPr id="9" name="Content Placeholder 2">
            <a:extLst>
              <a:ext uri="{FF2B5EF4-FFF2-40B4-BE49-F238E27FC236}">
                <a16:creationId xmlns:a16="http://schemas.microsoft.com/office/drawing/2014/main" id="{EE180351-FDFD-734A-98E6-B6F901E5D542}"/>
              </a:ext>
            </a:extLst>
          </p:cNvPr>
          <p:cNvSpPr>
            <a:spLocks noGrp="1"/>
          </p:cNvSpPr>
          <p:nvPr>
            <p:ph idx="13"/>
          </p:nvPr>
        </p:nvSpPr>
        <p:spPr>
          <a:xfrm>
            <a:off x="628650" y="1488282"/>
            <a:ext cx="2914650" cy="3000592"/>
          </a:xfrm>
        </p:spPr>
        <p:txBody>
          <a:bodyPr>
            <a:noAutofit/>
          </a:bodyPr>
          <a:lstStyle>
            <a:lvl1pPr>
              <a:defRPr sz="2000"/>
            </a:lvl1pPr>
            <a:lvl2pPr>
              <a:defRPr sz="2000"/>
            </a:lvl2pPr>
            <a:lvl3pPr>
              <a:defRPr sz="1600"/>
            </a:lvl3pPr>
            <a:lvl4pPr>
              <a:defRPr sz="1400"/>
            </a:lvl4pPr>
            <a:lvl5pPr>
              <a:defRPr sz="14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4181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0181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3543300" y="4808513"/>
            <a:ext cx="2057400" cy="273844"/>
          </a:xfrm>
          <a:prstGeom prst="rect">
            <a:avLst/>
          </a:prstGeom>
        </p:spPr>
        <p:txBody>
          <a:bodyPr vert="horz" lIns="91440" tIns="45720" rIns="91440" bIns="45720" rtlCol="0" anchor="ctr"/>
          <a:lstStyle>
            <a:lvl1pPr algn="ctr">
              <a:defRPr sz="900">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241681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 id="2147483667" r:id="rId6"/>
    <p:sldLayoutId id="2147483668" r:id="rId7"/>
    <p:sldLayoutId id="2147483669" r:id="rId8"/>
  </p:sldLayoutIdLst>
  <p:hf hdr="0" ftr="0" dt="0"/>
  <p:txStyles>
    <p:titleStyle>
      <a:lvl1pPr algn="l" defTabSz="685800" rtl="0" eaLnBrk="1" latinLnBrk="0" hangingPunct="1">
        <a:lnSpc>
          <a:spcPct val="90000"/>
        </a:lnSpc>
        <a:spcBef>
          <a:spcPct val="0"/>
        </a:spcBef>
        <a:buNone/>
        <a:defRPr sz="3200" b="1"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1"/>
          <p:cNvSpPr>
            <a:spLocks noGrp="1" noChangeArrowheads="1"/>
          </p:cNvSpPr>
          <p:nvPr>
            <p:ph type="ctrTitle"/>
          </p:nvPr>
        </p:nvSpPr>
        <p:spPr>
          <a:xfrm>
            <a:off x="431759" y="984736"/>
            <a:ext cx="6742764" cy="1265155"/>
          </a:xfrm>
        </p:spPr>
        <p:txBody>
          <a:bodyPr/>
          <a:lstStyle/>
          <a:p>
            <a:pPr eaLnBrk="1" hangingPunct="1"/>
            <a:r>
              <a:rPr lang="en-US" altLang="en-US" sz="2400" dirty="0"/>
              <a:t>Advancing Engineering Design Guidance for Constructed Salt Marshes with High Fidelity Modeling and Long-Term Monitoring</a:t>
            </a:r>
          </a:p>
        </p:txBody>
      </p:sp>
      <p:sp>
        <p:nvSpPr>
          <p:cNvPr id="5123" name="Rectangle 22"/>
          <p:cNvSpPr>
            <a:spLocks noGrp="1" noChangeArrowheads="1"/>
          </p:cNvSpPr>
          <p:nvPr>
            <p:ph type="subTitle" idx="1"/>
          </p:nvPr>
        </p:nvSpPr>
        <p:spPr>
          <a:xfrm>
            <a:off x="590673" y="2385467"/>
            <a:ext cx="5519981" cy="2309630"/>
          </a:xfrm>
        </p:spPr>
        <p:txBody>
          <a:bodyPr/>
          <a:lstStyle/>
          <a:p>
            <a:pPr eaLnBrk="1" hangingPunct="1"/>
            <a:r>
              <a:rPr lang="en-US" altLang="en-US" dirty="0"/>
              <a:t>Project Number: NH24-8072</a:t>
            </a:r>
          </a:p>
          <a:p>
            <a:pPr eaLnBrk="1" hangingPunct="1"/>
            <a:r>
              <a:rPr lang="en-US" altLang="en-US" dirty="0"/>
              <a:t>Principal Investigator: Todd Steissberg</a:t>
            </a:r>
          </a:p>
          <a:p>
            <a:pPr eaLnBrk="1" hangingPunct="1"/>
            <a:r>
              <a:rPr lang="en-US" altLang="en-US" dirty="0"/>
              <a:t>PI’s Organization: Environmental Laboratory, U.S. Army Engineer Research and Development Center</a:t>
            </a:r>
          </a:p>
          <a:p>
            <a:pPr eaLnBrk="1" hangingPunct="1"/>
            <a:r>
              <a:rPr lang="en-US" altLang="en-US" dirty="0"/>
              <a:t>In Progress Review Meeting</a:t>
            </a:r>
          </a:p>
          <a:p>
            <a:pPr eaLnBrk="1" hangingPunct="1"/>
            <a:endParaRPr lang="en-US" altLang="en-US" dirty="0"/>
          </a:p>
          <a:p>
            <a:pPr eaLnBrk="1" hangingPunct="1"/>
            <a:r>
              <a:rPr lang="en-US" altLang="en-US" dirty="0"/>
              <a:t>June 10, 2025</a:t>
            </a:r>
          </a:p>
        </p:txBody>
      </p:sp>
    </p:spTree>
    <p:extLst>
      <p:ext uri="{BB962C8B-B14F-4D97-AF65-F5344CB8AC3E}">
        <p14:creationId xmlns:p14="http://schemas.microsoft.com/office/powerpoint/2010/main" val="4051204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p:txBody>
          <a:bodyPr/>
          <a:lstStyle/>
          <a:p>
            <a:pPr eaLnBrk="1" hangingPunct="1"/>
            <a:r>
              <a:rPr lang="en-US" altLang="en-US"/>
              <a:t>Project Team</a:t>
            </a:r>
          </a:p>
        </p:txBody>
      </p:sp>
      <p:sp>
        <p:nvSpPr>
          <p:cNvPr id="7171" name="Rectangle 5"/>
          <p:cNvSpPr>
            <a:spLocks noGrp="1" noChangeArrowheads="1"/>
          </p:cNvSpPr>
          <p:nvPr>
            <p:ph idx="1"/>
          </p:nvPr>
        </p:nvSpPr>
        <p:spPr>
          <a:xfrm>
            <a:off x="5250270" y="1363624"/>
            <a:ext cx="3632472" cy="3263504"/>
          </a:xfrm>
        </p:spPr>
        <p:txBody>
          <a:bodyPr/>
          <a:lstStyle/>
          <a:p>
            <a:pPr eaLnBrk="1" hangingPunct="1">
              <a:buClr>
                <a:srgbClr val="32859B"/>
              </a:buClr>
              <a:buFont typeface="Wingdings" panose="05000000000000000000" pitchFamily="2" charset="2"/>
              <a:buChar char="§"/>
            </a:pPr>
            <a:r>
              <a:rPr lang="en-US" altLang="en-US" sz="1600" dirty="0"/>
              <a:t>Co-Performers and Host Military Installation POCs:</a:t>
            </a:r>
          </a:p>
          <a:p>
            <a:pPr lvl="1">
              <a:buClr>
                <a:srgbClr val="32859B"/>
              </a:buClr>
              <a:buFont typeface="Wingdings" panose="05000000000000000000" pitchFamily="2" charset="2"/>
              <a:buChar char="§"/>
            </a:pPr>
            <a:r>
              <a:rPr lang="en-US" altLang="en-US" sz="1600" dirty="0"/>
              <a:t>Scott Mauro, NAVFAC Engineering &amp; Expeditionary Warfare Center</a:t>
            </a:r>
          </a:p>
          <a:p>
            <a:pPr lvl="1">
              <a:buClr>
                <a:srgbClr val="32859B"/>
              </a:buClr>
              <a:buFont typeface="Wingdings" panose="05000000000000000000" pitchFamily="2" charset="2"/>
              <a:buChar char="§"/>
            </a:pPr>
            <a:r>
              <a:rPr lang="en-US" altLang="en-US" sz="1600" dirty="0"/>
              <a:t>Mark Patterson, NAVFAC Engineering &amp; Expeditionary Warfare Center </a:t>
            </a:r>
          </a:p>
          <a:p>
            <a:pPr eaLnBrk="1" hangingPunct="1">
              <a:buClr>
                <a:srgbClr val="32859B"/>
              </a:buClr>
              <a:buFont typeface="Wingdings" panose="05000000000000000000" pitchFamily="2" charset="2"/>
              <a:buChar char="§"/>
            </a:pPr>
            <a:r>
              <a:rPr lang="en-US" altLang="en-US" sz="1600" dirty="0"/>
              <a:t>Collaborators:</a:t>
            </a:r>
          </a:p>
          <a:p>
            <a:pPr lvl="1">
              <a:buClr>
                <a:srgbClr val="32859B"/>
              </a:buClr>
              <a:buFont typeface="Wingdings" panose="05000000000000000000" pitchFamily="2" charset="2"/>
              <a:buChar char="§"/>
            </a:pPr>
            <a:r>
              <a:rPr lang="en-US" altLang="en-US" sz="1600" dirty="0" err="1"/>
              <a:t>Deltares</a:t>
            </a:r>
            <a:endParaRPr lang="en-US" altLang="en-US" sz="1600" dirty="0"/>
          </a:p>
          <a:p>
            <a:pPr lvl="1">
              <a:buClr>
                <a:srgbClr val="32859B"/>
              </a:buClr>
              <a:buFont typeface="Wingdings" panose="05000000000000000000" pitchFamily="2" charset="2"/>
              <a:buChar char="§"/>
            </a:pPr>
            <a:r>
              <a:rPr lang="en-US" altLang="en-US" sz="1600" dirty="0"/>
              <a:t>San Francisco Environmental Institute (SFEI)</a:t>
            </a:r>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25CD47E2-22DD-49D6-84D8-1C969A040087}" type="slidenum">
              <a:rPr lang="en-US" altLang="en-US" sz="1050"/>
              <a:pPr>
                <a:spcBef>
                  <a:spcPct val="0"/>
                </a:spcBef>
                <a:buSzTx/>
                <a:buFontTx/>
                <a:buNone/>
              </a:pPr>
              <a:t>2</a:t>
            </a:fld>
            <a:endParaRPr lang="en-US" altLang="en-US" sz="1050"/>
          </a:p>
        </p:txBody>
      </p:sp>
      <p:sp>
        <p:nvSpPr>
          <p:cNvPr id="3" name="TextBox 2">
            <a:extLst>
              <a:ext uri="{FF2B5EF4-FFF2-40B4-BE49-F238E27FC236}">
                <a16:creationId xmlns:a16="http://schemas.microsoft.com/office/drawing/2014/main" id="{6AFDF3A5-39D2-E042-AD03-3B894BC8ED19}"/>
              </a:ext>
            </a:extLst>
          </p:cNvPr>
          <p:cNvSpPr txBox="1"/>
          <p:nvPr/>
        </p:nvSpPr>
        <p:spPr>
          <a:xfrm>
            <a:off x="1271117" y="1204424"/>
            <a:ext cx="4024364" cy="738664"/>
          </a:xfrm>
          <a:prstGeom prst="rect">
            <a:avLst/>
          </a:prstGeom>
          <a:noFill/>
        </p:spPr>
        <p:txBody>
          <a:bodyPr wrap="square" rtlCol="0">
            <a:spAutoFit/>
          </a:bodyPr>
          <a:lstStyle/>
          <a:p>
            <a:r>
              <a:rPr lang="en-US" sz="1400" b="1" dirty="0"/>
              <a:t>Todd Steissberg, Lead PI</a:t>
            </a:r>
          </a:p>
          <a:p>
            <a:r>
              <a:rPr lang="en-US" sz="1400" i="1" dirty="0"/>
              <a:t>Environmental Laboratory</a:t>
            </a:r>
            <a:br>
              <a:rPr lang="en-US" sz="1400" i="1" dirty="0"/>
            </a:br>
            <a:r>
              <a:rPr lang="en-US" sz="1400" i="1" dirty="0"/>
              <a:t>US Army Research and Development Center</a:t>
            </a:r>
          </a:p>
        </p:txBody>
      </p:sp>
      <p:sp>
        <p:nvSpPr>
          <p:cNvPr id="4" name="TextBox 3">
            <a:extLst>
              <a:ext uri="{FF2B5EF4-FFF2-40B4-BE49-F238E27FC236}">
                <a16:creationId xmlns:a16="http://schemas.microsoft.com/office/drawing/2014/main" id="{8769A6C9-A65D-A10E-275F-9E0872540BD7}"/>
              </a:ext>
            </a:extLst>
          </p:cNvPr>
          <p:cNvSpPr txBox="1"/>
          <p:nvPr/>
        </p:nvSpPr>
        <p:spPr>
          <a:xfrm>
            <a:off x="1271115" y="2062920"/>
            <a:ext cx="2889089" cy="738664"/>
          </a:xfrm>
          <a:prstGeom prst="rect">
            <a:avLst/>
          </a:prstGeom>
          <a:noFill/>
        </p:spPr>
        <p:txBody>
          <a:bodyPr wrap="square" rtlCol="0">
            <a:spAutoFit/>
          </a:bodyPr>
          <a:lstStyle/>
          <a:p>
            <a:r>
              <a:rPr lang="en-US" sz="1400" b="1" dirty="0"/>
              <a:t>Matt Smith, Co-PI</a:t>
            </a:r>
          </a:p>
          <a:p>
            <a:r>
              <a:rPr lang="en-US" sz="1400" i="1" dirty="0"/>
              <a:t>Institute for Water </a:t>
            </a:r>
            <a:br>
              <a:rPr lang="en-US" sz="1400" i="1" dirty="0"/>
            </a:br>
            <a:r>
              <a:rPr lang="en-US" sz="1400" i="1" dirty="0"/>
              <a:t>US Army Corps of Engineers</a:t>
            </a:r>
          </a:p>
        </p:txBody>
      </p:sp>
      <p:pic>
        <p:nvPicPr>
          <p:cNvPr id="6" name="Picture 5" descr="A person smiling for the camera&#10;&#10;AI-generated content may be incorrect.">
            <a:extLst>
              <a:ext uri="{FF2B5EF4-FFF2-40B4-BE49-F238E27FC236}">
                <a16:creationId xmlns:a16="http://schemas.microsoft.com/office/drawing/2014/main" id="{713ABD8A-A0A7-5C0C-4A8E-C080A808AA48}"/>
              </a:ext>
            </a:extLst>
          </p:cNvPr>
          <p:cNvPicPr>
            <a:picLocks noChangeAspect="1"/>
          </p:cNvPicPr>
          <p:nvPr/>
        </p:nvPicPr>
        <p:blipFill>
          <a:blip r:embed="rId3"/>
          <a:stretch>
            <a:fillRect/>
          </a:stretch>
        </p:blipFill>
        <p:spPr>
          <a:xfrm>
            <a:off x="431582" y="1202856"/>
            <a:ext cx="684877" cy="743164"/>
          </a:xfrm>
          <a:prstGeom prst="rect">
            <a:avLst/>
          </a:prstGeom>
          <a:ln w="3175">
            <a:solidFill>
              <a:schemeClr val="tx1"/>
            </a:solidFill>
          </a:ln>
        </p:spPr>
      </p:pic>
      <p:sp>
        <p:nvSpPr>
          <p:cNvPr id="7" name="TextBox 6">
            <a:extLst>
              <a:ext uri="{FF2B5EF4-FFF2-40B4-BE49-F238E27FC236}">
                <a16:creationId xmlns:a16="http://schemas.microsoft.com/office/drawing/2014/main" id="{40170145-EC48-10CC-31F8-8CDE74CCD1D0}"/>
              </a:ext>
            </a:extLst>
          </p:cNvPr>
          <p:cNvSpPr txBox="1"/>
          <p:nvPr/>
        </p:nvSpPr>
        <p:spPr>
          <a:xfrm>
            <a:off x="1271115" y="2940135"/>
            <a:ext cx="2889089" cy="738664"/>
          </a:xfrm>
          <a:prstGeom prst="rect">
            <a:avLst/>
          </a:prstGeom>
          <a:noFill/>
        </p:spPr>
        <p:txBody>
          <a:bodyPr wrap="square" rtlCol="0">
            <a:spAutoFit/>
          </a:bodyPr>
          <a:lstStyle/>
          <a:p>
            <a:r>
              <a:rPr lang="en-US" sz="1400" b="1" dirty="0"/>
              <a:t>Marriah Abellera, Co-PI</a:t>
            </a:r>
          </a:p>
          <a:p>
            <a:r>
              <a:rPr lang="en-US" sz="1400" i="1" dirty="0"/>
              <a:t>Institute for Water </a:t>
            </a:r>
            <a:br>
              <a:rPr lang="en-US" sz="1400" i="1" dirty="0"/>
            </a:br>
            <a:r>
              <a:rPr lang="en-US" sz="1400" i="1" dirty="0"/>
              <a:t>US Army Corps of Engineers</a:t>
            </a:r>
          </a:p>
        </p:txBody>
      </p:sp>
      <p:sp>
        <p:nvSpPr>
          <p:cNvPr id="8" name="TextBox 7">
            <a:extLst>
              <a:ext uri="{FF2B5EF4-FFF2-40B4-BE49-F238E27FC236}">
                <a16:creationId xmlns:a16="http://schemas.microsoft.com/office/drawing/2014/main" id="{D8B265D7-3724-C93C-DDC7-CBE032875367}"/>
              </a:ext>
            </a:extLst>
          </p:cNvPr>
          <p:cNvSpPr txBox="1"/>
          <p:nvPr/>
        </p:nvSpPr>
        <p:spPr>
          <a:xfrm>
            <a:off x="1271115" y="3958193"/>
            <a:ext cx="2889089" cy="523220"/>
          </a:xfrm>
          <a:prstGeom prst="rect">
            <a:avLst/>
          </a:prstGeom>
          <a:noFill/>
        </p:spPr>
        <p:txBody>
          <a:bodyPr wrap="square" rtlCol="0">
            <a:spAutoFit/>
          </a:bodyPr>
          <a:lstStyle/>
          <a:p>
            <a:r>
              <a:rPr lang="en-US" sz="1400" b="1" dirty="0"/>
              <a:t>Jenny Olszewski, Co-PI</a:t>
            </a:r>
          </a:p>
          <a:p>
            <a:r>
              <a:rPr lang="en-US" sz="1400" i="1" dirty="0"/>
              <a:t>USGS</a:t>
            </a:r>
          </a:p>
        </p:txBody>
      </p:sp>
      <p:pic>
        <p:nvPicPr>
          <p:cNvPr id="10" name="Picture 9" descr="A person with long hair&#10;&#10;AI-generated content may be incorrect.">
            <a:extLst>
              <a:ext uri="{FF2B5EF4-FFF2-40B4-BE49-F238E27FC236}">
                <a16:creationId xmlns:a16="http://schemas.microsoft.com/office/drawing/2014/main" id="{B2845469-7BED-7BB7-47C3-A594CD4F250E}"/>
              </a:ext>
            </a:extLst>
          </p:cNvPr>
          <p:cNvPicPr>
            <a:picLocks noChangeAspect="1"/>
          </p:cNvPicPr>
          <p:nvPr/>
        </p:nvPicPr>
        <p:blipFill>
          <a:blip r:embed="rId4"/>
          <a:stretch>
            <a:fillRect/>
          </a:stretch>
        </p:blipFill>
        <p:spPr>
          <a:xfrm>
            <a:off x="425328" y="2916910"/>
            <a:ext cx="700088" cy="769513"/>
          </a:xfrm>
          <a:prstGeom prst="rect">
            <a:avLst/>
          </a:prstGeom>
          <a:ln w="3175">
            <a:solidFill>
              <a:schemeClr val="tx1"/>
            </a:solidFill>
          </a:ln>
        </p:spPr>
      </p:pic>
      <p:pic>
        <p:nvPicPr>
          <p:cNvPr id="12" name="Picture 11" descr="A person taking a selfie&#10;&#10;AI-generated content may be incorrect.">
            <a:extLst>
              <a:ext uri="{FF2B5EF4-FFF2-40B4-BE49-F238E27FC236}">
                <a16:creationId xmlns:a16="http://schemas.microsoft.com/office/drawing/2014/main" id="{6BB06F31-0837-59DA-9D29-F8C0EEF774A9}"/>
              </a:ext>
            </a:extLst>
          </p:cNvPr>
          <p:cNvPicPr>
            <a:picLocks noChangeAspect="1"/>
          </p:cNvPicPr>
          <p:nvPr/>
        </p:nvPicPr>
        <p:blipFill>
          <a:blip r:embed="rId5"/>
          <a:stretch>
            <a:fillRect/>
          </a:stretch>
        </p:blipFill>
        <p:spPr>
          <a:xfrm>
            <a:off x="431582" y="1972532"/>
            <a:ext cx="684877" cy="913169"/>
          </a:xfrm>
          <a:prstGeom prst="rect">
            <a:avLst/>
          </a:prstGeom>
          <a:ln w="3175">
            <a:solidFill>
              <a:schemeClr val="tx1"/>
            </a:solidFill>
          </a:ln>
        </p:spPr>
      </p:pic>
      <p:pic>
        <p:nvPicPr>
          <p:cNvPr id="14" name="Picture 13" descr="A person smiling in front of a flowering tree&#10;&#10;AI-generated content may be incorrect.">
            <a:extLst>
              <a:ext uri="{FF2B5EF4-FFF2-40B4-BE49-F238E27FC236}">
                <a16:creationId xmlns:a16="http://schemas.microsoft.com/office/drawing/2014/main" id="{B796BA4A-9662-1733-7F70-D3130665B0C9}"/>
              </a:ext>
            </a:extLst>
          </p:cNvPr>
          <p:cNvPicPr>
            <a:picLocks noChangeAspect="1"/>
          </p:cNvPicPr>
          <p:nvPr/>
        </p:nvPicPr>
        <p:blipFill>
          <a:blip r:embed="rId6"/>
          <a:stretch>
            <a:fillRect/>
          </a:stretch>
        </p:blipFill>
        <p:spPr>
          <a:xfrm>
            <a:off x="415280" y="3734559"/>
            <a:ext cx="700088" cy="934095"/>
          </a:xfrm>
          <a:prstGeom prst="rect">
            <a:avLst/>
          </a:prstGeom>
          <a:ln w="3175">
            <a:solidFill>
              <a:schemeClr val="tx1"/>
            </a:solidFill>
          </a:ln>
        </p:spPr>
      </p:pic>
    </p:spTree>
    <p:extLst>
      <p:ext uri="{BB962C8B-B14F-4D97-AF65-F5344CB8AC3E}">
        <p14:creationId xmlns:p14="http://schemas.microsoft.com/office/powerpoint/2010/main" val="4177055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4D21-2C0B-E47D-50DD-354038E5DCBF}"/>
              </a:ext>
            </a:extLst>
          </p:cNvPr>
          <p:cNvSpPr>
            <a:spLocks noGrp="1"/>
          </p:cNvSpPr>
          <p:nvPr>
            <p:ph type="title"/>
          </p:nvPr>
        </p:nvSpPr>
        <p:spPr/>
        <p:txBody>
          <a:bodyPr/>
          <a:lstStyle/>
          <a:p>
            <a:r>
              <a:rPr lang="en-US" dirty="0"/>
              <a:t>Bottom Line Up Front</a:t>
            </a:r>
          </a:p>
        </p:txBody>
      </p:sp>
      <p:sp>
        <p:nvSpPr>
          <p:cNvPr id="3" name="Content Placeholder 2">
            <a:extLst>
              <a:ext uri="{FF2B5EF4-FFF2-40B4-BE49-F238E27FC236}">
                <a16:creationId xmlns:a16="http://schemas.microsoft.com/office/drawing/2014/main" id="{19756478-6925-A9B3-7458-7D5696D98EAD}"/>
              </a:ext>
            </a:extLst>
          </p:cNvPr>
          <p:cNvSpPr>
            <a:spLocks noGrp="1"/>
          </p:cNvSpPr>
          <p:nvPr>
            <p:ph idx="1"/>
          </p:nvPr>
        </p:nvSpPr>
        <p:spPr>
          <a:xfrm>
            <a:off x="628650" y="1441974"/>
            <a:ext cx="7886700" cy="3165872"/>
          </a:xfrm>
        </p:spPr>
        <p:txBody>
          <a:bodyPr/>
          <a:lstStyle/>
          <a:p>
            <a:pPr>
              <a:buClr>
                <a:srgbClr val="32859B"/>
              </a:buClr>
              <a:buFont typeface="Wingdings" panose="05000000000000000000" pitchFamily="2" charset="2"/>
              <a:buChar char="§"/>
            </a:pPr>
            <a:r>
              <a:rPr lang="en-US" sz="1600" dirty="0"/>
              <a:t>What technology or methodology is being evaluated during this demonstration?</a:t>
            </a:r>
          </a:p>
          <a:p>
            <a:pPr lvl="1">
              <a:buClr>
                <a:srgbClr val="32859B"/>
              </a:buClr>
              <a:buFont typeface="Wingdings" panose="05000000000000000000" pitchFamily="2" charset="2"/>
              <a:buChar char="§"/>
            </a:pPr>
            <a:r>
              <a:rPr lang="en-US" sz="1600" dirty="0"/>
              <a:t>A fully integrated modeling framework linking hydrodynamics, waves, vegetation (NBSDynamics), and sediment processes (SEMIDEC) to evaluate and optimize salt marsh restoration design.</a:t>
            </a:r>
          </a:p>
          <a:p>
            <a:pPr>
              <a:buClr>
                <a:srgbClr val="32859B"/>
              </a:buClr>
              <a:buFont typeface="Wingdings" panose="05000000000000000000" pitchFamily="2" charset="2"/>
              <a:buChar char="§"/>
            </a:pPr>
            <a:r>
              <a:rPr lang="en-US" sz="1600" dirty="0"/>
              <a:t>What's been going well?</a:t>
            </a:r>
          </a:p>
          <a:p>
            <a:pPr lvl="1">
              <a:buClr>
                <a:srgbClr val="32859B"/>
              </a:buClr>
              <a:buFont typeface="Wingdings" panose="05000000000000000000" pitchFamily="2" charset="2"/>
              <a:buChar char="§"/>
            </a:pPr>
            <a:r>
              <a:rPr lang="en-US" sz="1600" dirty="0"/>
              <a:t>Successfully completed Phase I (site selection, data collection, model development, and identification of key calibration parameters for the fully integrated hydrodynamic, wave, and vegetation model)</a:t>
            </a:r>
          </a:p>
          <a:p>
            <a:pPr lvl="1">
              <a:buClr>
                <a:srgbClr val="32859B"/>
              </a:buClr>
              <a:buFont typeface="Wingdings" panose="05000000000000000000" pitchFamily="2" charset="2"/>
              <a:buChar char="§"/>
            </a:pPr>
            <a:r>
              <a:rPr lang="en-US" sz="1600" dirty="0"/>
              <a:t>Initiated Phase II and making steady progress toward completing calibration and validation of the model</a:t>
            </a:r>
          </a:p>
          <a:p>
            <a:pPr lvl="1">
              <a:buClr>
                <a:srgbClr val="32859B"/>
              </a:buClr>
              <a:buFont typeface="Wingdings" panose="05000000000000000000" pitchFamily="2" charset="2"/>
              <a:buChar char="§"/>
            </a:pPr>
            <a:r>
              <a:rPr lang="en-US" sz="1600" dirty="0"/>
              <a:t>Strong support from partners (Deltares, SFEI, Navy) in data collection, subject matter consultation, and the identification/selection of a second marsh case study site</a:t>
            </a:r>
          </a:p>
        </p:txBody>
      </p:sp>
      <p:sp>
        <p:nvSpPr>
          <p:cNvPr id="4" name="Slide Number Placeholder 3">
            <a:extLst>
              <a:ext uri="{FF2B5EF4-FFF2-40B4-BE49-F238E27FC236}">
                <a16:creationId xmlns:a16="http://schemas.microsoft.com/office/drawing/2014/main" id="{EC058BAD-625B-2E28-BD78-187A26281ED4}"/>
              </a:ext>
            </a:extLst>
          </p:cNvPr>
          <p:cNvSpPr>
            <a:spLocks noGrp="1"/>
          </p:cNvSpPr>
          <p:nvPr>
            <p:ph type="sldNum" sz="quarter" idx="12"/>
          </p:nvPr>
        </p:nvSpPr>
        <p:spPr/>
        <p:txBody>
          <a:bodyPr/>
          <a:lstStyle/>
          <a:p>
            <a:pPr>
              <a:defRPr/>
            </a:pPr>
            <a:fld id="{680333F5-0E11-4EF3-8AF3-CAB6FC9ECC79}" type="slidenum">
              <a:rPr lang="en-US" smtClean="0"/>
              <a:pPr>
                <a:defRPr/>
              </a:pPr>
              <a:t>3</a:t>
            </a:fld>
            <a:endParaRPr lang="en-US"/>
          </a:p>
        </p:txBody>
      </p:sp>
    </p:spTree>
    <p:extLst>
      <p:ext uri="{BB962C8B-B14F-4D97-AF65-F5344CB8AC3E}">
        <p14:creationId xmlns:p14="http://schemas.microsoft.com/office/powerpoint/2010/main" val="124303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CA992-AD21-BC38-D460-52A6F5F71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A752E-7948-556F-0948-9CEF25A88654}"/>
              </a:ext>
            </a:extLst>
          </p:cNvPr>
          <p:cNvSpPr>
            <a:spLocks noGrp="1"/>
          </p:cNvSpPr>
          <p:nvPr>
            <p:ph type="title"/>
          </p:nvPr>
        </p:nvSpPr>
        <p:spPr/>
        <p:txBody>
          <a:bodyPr/>
          <a:lstStyle/>
          <a:p>
            <a:r>
              <a:rPr lang="en-US" dirty="0"/>
              <a:t>Bottom Line Up Front (continued)</a:t>
            </a:r>
          </a:p>
        </p:txBody>
      </p:sp>
      <p:sp>
        <p:nvSpPr>
          <p:cNvPr id="3" name="Content Placeholder 2">
            <a:extLst>
              <a:ext uri="{FF2B5EF4-FFF2-40B4-BE49-F238E27FC236}">
                <a16:creationId xmlns:a16="http://schemas.microsoft.com/office/drawing/2014/main" id="{A82AB6E9-A6AA-9D5E-BC8B-52C84BFE76D0}"/>
              </a:ext>
            </a:extLst>
          </p:cNvPr>
          <p:cNvSpPr>
            <a:spLocks noGrp="1"/>
          </p:cNvSpPr>
          <p:nvPr>
            <p:ph idx="1"/>
          </p:nvPr>
        </p:nvSpPr>
        <p:spPr>
          <a:xfrm>
            <a:off x="628650" y="1441974"/>
            <a:ext cx="7886700" cy="3165872"/>
          </a:xfrm>
        </p:spPr>
        <p:txBody>
          <a:bodyPr/>
          <a:lstStyle/>
          <a:p>
            <a:pPr>
              <a:buClr>
                <a:srgbClr val="32859B"/>
              </a:buClr>
              <a:buFont typeface="Wingdings" panose="05000000000000000000" pitchFamily="2" charset="2"/>
              <a:buChar char="§"/>
            </a:pPr>
            <a:r>
              <a:rPr lang="en-US" sz="1600" dirty="0"/>
              <a:t>What's not working?</a:t>
            </a:r>
          </a:p>
          <a:p>
            <a:pPr lvl="1">
              <a:buClr>
                <a:srgbClr val="32859B"/>
              </a:buClr>
              <a:buFont typeface="Wingdings" panose="05000000000000000000" pitchFamily="2" charset="2"/>
              <a:buChar char="§"/>
            </a:pPr>
            <a:r>
              <a:rPr lang="en-US" sz="1600" dirty="0"/>
              <a:t>Internal administrative delays and staff turnover have delayed contract award and initial progress.</a:t>
            </a:r>
          </a:p>
          <a:p>
            <a:pPr lvl="1">
              <a:buClr>
                <a:srgbClr val="32859B"/>
              </a:buClr>
              <a:buFont typeface="Wingdings" panose="05000000000000000000" pitchFamily="2" charset="2"/>
              <a:buChar char="§"/>
            </a:pPr>
            <a:r>
              <a:rPr lang="en-US" sz="1600" dirty="0"/>
              <a:t>Vegetation and sediment model components not yet fully integrated and calibrated</a:t>
            </a:r>
          </a:p>
          <a:p>
            <a:pPr lvl="1">
              <a:buClr>
                <a:srgbClr val="32859B"/>
              </a:buClr>
              <a:buFont typeface="Wingdings" panose="05000000000000000000" pitchFamily="2" charset="2"/>
              <a:buChar char="§"/>
            </a:pPr>
            <a:r>
              <a:rPr lang="en-US" sz="1600" dirty="0"/>
              <a:t>Despite these issues, the is poised to accelerate model validation and simulation efforts in the next quarter and realign with the overall project timeline.</a:t>
            </a:r>
          </a:p>
          <a:p>
            <a:pPr>
              <a:buClr>
                <a:srgbClr val="32859B"/>
              </a:buClr>
              <a:buFont typeface="Wingdings" panose="05000000000000000000" pitchFamily="2" charset="2"/>
              <a:buChar char="§"/>
            </a:pPr>
            <a:r>
              <a:rPr lang="en-US" sz="1600" dirty="0"/>
              <a:t>What support do you need?</a:t>
            </a:r>
          </a:p>
          <a:p>
            <a:pPr lvl="1">
              <a:buClr>
                <a:srgbClr val="32859B"/>
              </a:buClr>
              <a:buFont typeface="Wingdings" panose="05000000000000000000" pitchFamily="2" charset="2"/>
              <a:buChar char="§"/>
            </a:pPr>
            <a:r>
              <a:rPr lang="en-US" sz="1600" dirty="0"/>
              <a:t>Continued coordination with Deltares to integrate and calibrate vegetation and sediment models</a:t>
            </a:r>
          </a:p>
          <a:p>
            <a:pPr lvl="1">
              <a:buClr>
                <a:srgbClr val="32859B"/>
              </a:buClr>
              <a:buFont typeface="Wingdings" panose="05000000000000000000" pitchFamily="2" charset="2"/>
              <a:buChar char="§"/>
            </a:pPr>
            <a:r>
              <a:rPr lang="en-US" sz="1600" dirty="0"/>
              <a:t>Timely resolution of internal staffing and contracting to maintain project momentum</a:t>
            </a:r>
            <a:endParaRPr lang="en-US" sz="1600" kern="100" dirty="0">
              <a:solidFill>
                <a:schemeClr val="accent1"/>
              </a:solidFill>
              <a:effectLst/>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42E6534-DD8F-BAFC-5D56-113C29D7683F}"/>
              </a:ext>
            </a:extLst>
          </p:cNvPr>
          <p:cNvSpPr>
            <a:spLocks noGrp="1"/>
          </p:cNvSpPr>
          <p:nvPr>
            <p:ph type="sldNum" sz="quarter" idx="12"/>
          </p:nvPr>
        </p:nvSpPr>
        <p:spPr/>
        <p:txBody>
          <a:bodyPr/>
          <a:lstStyle/>
          <a:p>
            <a:pPr>
              <a:defRPr/>
            </a:pPr>
            <a:fld id="{680333F5-0E11-4EF3-8AF3-CAB6FC9ECC79}" type="slidenum">
              <a:rPr lang="en-US" smtClean="0"/>
              <a:pPr>
                <a:defRPr/>
              </a:pPr>
              <a:t>4</a:t>
            </a:fld>
            <a:endParaRPr lang="en-US"/>
          </a:p>
        </p:txBody>
      </p:sp>
    </p:spTree>
    <p:extLst>
      <p:ext uri="{BB962C8B-B14F-4D97-AF65-F5344CB8AC3E}">
        <p14:creationId xmlns:p14="http://schemas.microsoft.com/office/powerpoint/2010/main" val="477807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Site Description</a:t>
            </a:r>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7AA9A3BD-BCA8-44C7-AA54-C242E54D3AA4}" type="slidenum">
              <a:rPr lang="en-US" altLang="en-US" sz="1050"/>
              <a:pPr>
                <a:spcBef>
                  <a:spcPct val="0"/>
                </a:spcBef>
                <a:buSzTx/>
                <a:buFontTx/>
                <a:buNone/>
              </a:pPr>
              <a:t>5</a:t>
            </a:fld>
            <a:endParaRPr lang="en-US" altLang="en-US" sz="1050"/>
          </a:p>
        </p:txBody>
      </p:sp>
      <p:sp>
        <p:nvSpPr>
          <p:cNvPr id="3" name="Content Placeholder 2">
            <a:extLst>
              <a:ext uri="{FF2B5EF4-FFF2-40B4-BE49-F238E27FC236}">
                <a16:creationId xmlns:a16="http://schemas.microsoft.com/office/drawing/2014/main" id="{F5B80A4F-DAA6-77A7-46D2-B326DE441CF0}"/>
              </a:ext>
            </a:extLst>
          </p:cNvPr>
          <p:cNvSpPr>
            <a:spLocks noGrp="1"/>
          </p:cNvSpPr>
          <p:nvPr>
            <p:ph idx="1"/>
          </p:nvPr>
        </p:nvSpPr>
        <p:spPr>
          <a:xfrm>
            <a:off x="4175760" y="1369219"/>
            <a:ext cx="4339590" cy="3263504"/>
          </a:xfrm>
        </p:spPr>
        <p:txBody>
          <a:bodyPr/>
          <a:lstStyle/>
          <a:p>
            <a:r>
              <a:rPr lang="en-US" dirty="0"/>
              <a:t>Dotson Family Marsh, San Pablo Bay, CA</a:t>
            </a:r>
          </a:p>
          <a:p>
            <a:pPr lvl="1"/>
            <a:r>
              <a:rPr lang="en-US" sz="1500" dirty="0"/>
              <a:t>30-acre tidal marsh habitat with a mix of high and low marsh habitat and mudflats.</a:t>
            </a:r>
          </a:p>
          <a:p>
            <a:pPr lvl="1"/>
            <a:r>
              <a:rPr lang="en-US" sz="1500" dirty="0"/>
              <a:t>The site partially restored in 2015-2016. This restoration focused on removing fill soil and adding tidal channels to re-establish the natural marsh plain.</a:t>
            </a:r>
          </a:p>
          <a:p>
            <a:pPr lvl="1"/>
            <a:r>
              <a:rPr lang="en-US" sz="1500" dirty="0"/>
              <a:t>This marsh sits adjacent to an unrestored (natural) benchmark site – Giant Marsh.</a:t>
            </a:r>
          </a:p>
          <a:p>
            <a:pPr lvl="1"/>
            <a:r>
              <a:rPr lang="en-US" sz="1500" dirty="0"/>
              <a:t>Low wave energy environment that has demonstrated successful vegetation establishment and growth since 2017.</a:t>
            </a:r>
          </a:p>
        </p:txBody>
      </p:sp>
      <p:pic>
        <p:nvPicPr>
          <p:cNvPr id="4" name="Picture 3">
            <a:extLst>
              <a:ext uri="{FF2B5EF4-FFF2-40B4-BE49-F238E27FC236}">
                <a16:creationId xmlns:a16="http://schemas.microsoft.com/office/drawing/2014/main" id="{EB2B32FB-D372-7974-4418-9D1FB61C1A8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985" y="1351447"/>
            <a:ext cx="3953510" cy="3172460"/>
          </a:xfrm>
          <a:prstGeom prst="rect">
            <a:avLst/>
          </a:prstGeom>
          <a:noFill/>
        </p:spPr>
      </p:pic>
      <p:pic>
        <p:nvPicPr>
          <p:cNvPr id="6" name="Picture 5">
            <a:extLst>
              <a:ext uri="{FF2B5EF4-FFF2-40B4-BE49-F238E27FC236}">
                <a16:creationId xmlns:a16="http://schemas.microsoft.com/office/drawing/2014/main" id="{C8C97518-D32C-774A-98F1-7C34C6A9C143}"/>
              </a:ext>
            </a:extLst>
          </p:cNvPr>
          <p:cNvPicPr>
            <a:picLocks noChangeAspect="1"/>
          </p:cNvPicPr>
          <p:nvPr/>
        </p:nvPicPr>
        <p:blipFill>
          <a:blip r:embed="rId3" cstate="print">
            <a:extLst>
              <a:ext uri="{28A0092B-C50C-407E-A947-70E740481C1C}">
                <a14:useLocalDpi xmlns:a14="http://schemas.microsoft.com/office/drawing/2010/main" val="0"/>
              </a:ext>
            </a:extLst>
          </a:blip>
          <a:srcRect r="75920"/>
          <a:stretch/>
        </p:blipFill>
        <p:spPr bwMode="auto">
          <a:xfrm>
            <a:off x="2588337" y="1351447"/>
            <a:ext cx="1468678" cy="1909913"/>
          </a:xfrm>
          <a:prstGeom prst="rect">
            <a:avLst/>
          </a:prstGeom>
          <a:noFill/>
        </p:spPr>
      </p:pic>
    </p:spTree>
    <p:extLst>
      <p:ext uri="{BB962C8B-B14F-4D97-AF65-F5344CB8AC3E}">
        <p14:creationId xmlns:p14="http://schemas.microsoft.com/office/powerpoint/2010/main" val="1257340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dirty="0"/>
              <a:t>Technical Approach and Test Design</a:t>
            </a:r>
            <a:endParaRPr lang="en-US" altLang="en-US" sz="1600" dirty="0"/>
          </a:p>
        </p:txBody>
      </p:sp>
      <p:sp>
        <p:nvSpPr>
          <p:cNvPr id="12291" name="Rectangle 5"/>
          <p:cNvSpPr>
            <a:spLocks noGrp="1" noChangeArrowheads="1"/>
          </p:cNvSpPr>
          <p:nvPr>
            <p:ph idx="1"/>
          </p:nvPr>
        </p:nvSpPr>
        <p:spPr>
          <a:xfrm>
            <a:off x="628650" y="1369218"/>
            <a:ext cx="7886700" cy="3035141"/>
          </a:xfrm>
        </p:spPr>
        <p:txBody>
          <a:bodyPr/>
          <a:lstStyle/>
          <a:p>
            <a:pPr marL="0" lvl="0" indent="0" algn="l" rtl="0">
              <a:spcBef>
                <a:spcPts val="0"/>
              </a:spcBef>
              <a:spcAft>
                <a:spcPts val="0"/>
              </a:spcAft>
              <a:buClr>
                <a:srgbClr val="000000"/>
              </a:buClr>
              <a:buSzPts val="2000"/>
              <a:buNone/>
            </a:pPr>
            <a:r>
              <a:rPr lang="en-US" sz="1800" b="1" u="sng" dirty="0"/>
              <a:t>Technical Objectives</a:t>
            </a:r>
          </a:p>
          <a:p>
            <a:pPr marL="0" lvl="0" indent="0" algn="l" rtl="0">
              <a:spcBef>
                <a:spcPts val="0"/>
              </a:spcBef>
              <a:spcAft>
                <a:spcPts val="0"/>
              </a:spcAft>
              <a:buClr>
                <a:srgbClr val="000000"/>
              </a:buClr>
              <a:buSzPts val="2000"/>
              <a:buNone/>
            </a:pPr>
            <a:endParaRPr lang="en-US" sz="1600" b="1" u="sng" dirty="0"/>
          </a:p>
          <a:p>
            <a:pPr>
              <a:spcBef>
                <a:spcPts val="0"/>
              </a:spcBef>
              <a:buClr>
                <a:srgbClr val="000000"/>
              </a:buClr>
              <a:buSzPts val="2000"/>
            </a:pPr>
            <a:r>
              <a:rPr lang="en-US" sz="1600" b="1" u="sng" dirty="0"/>
              <a:t>Validate and calibrate </a:t>
            </a:r>
            <a:r>
              <a:rPr lang="en-US" sz="1600" dirty="0"/>
              <a:t> developed salt marsh model for one selected benchmark (natural) or reference (long-term restoration) and one more recent restoration site.</a:t>
            </a:r>
          </a:p>
          <a:p>
            <a:pPr marL="412750" indent="-285750">
              <a:spcBef>
                <a:spcPts val="0"/>
              </a:spcBef>
              <a:buClr>
                <a:srgbClr val="000000"/>
              </a:buClr>
              <a:buSzPts val="2000"/>
            </a:pPr>
            <a:endParaRPr lang="en-US" sz="1600" dirty="0"/>
          </a:p>
          <a:p>
            <a:pPr>
              <a:spcBef>
                <a:spcPts val="0"/>
              </a:spcBef>
              <a:buClr>
                <a:srgbClr val="000000"/>
              </a:buClr>
              <a:buSzPts val="2000"/>
            </a:pPr>
            <a:r>
              <a:rPr lang="en-US" sz="1600" b="1" u="sng" dirty="0"/>
              <a:t>Evaluate </a:t>
            </a:r>
            <a:r>
              <a:rPr lang="en-US" sz="1600" dirty="0"/>
              <a:t>wave attenuation and habitat </a:t>
            </a:r>
            <a:r>
              <a:rPr lang="en-US" sz="1600" b="1" u="sng" dirty="0"/>
              <a:t>performance</a:t>
            </a:r>
            <a:r>
              <a:rPr lang="en-US" sz="1600" dirty="0"/>
              <a:t> at paired sites under </a:t>
            </a:r>
            <a:r>
              <a:rPr lang="en-US" sz="1600" b="1" u="sng" dirty="0"/>
              <a:t>historic conditions.</a:t>
            </a:r>
            <a:endParaRPr lang="en-US" sz="1600" dirty="0"/>
          </a:p>
          <a:p>
            <a:pPr marL="412750" indent="-285750">
              <a:spcBef>
                <a:spcPts val="0"/>
              </a:spcBef>
              <a:buClr>
                <a:srgbClr val="000000"/>
              </a:buClr>
              <a:buSzPts val="2000"/>
            </a:pPr>
            <a:endParaRPr lang="en-US" sz="1600" b="1" u="sng" dirty="0"/>
          </a:p>
          <a:p>
            <a:pPr>
              <a:spcBef>
                <a:spcPts val="0"/>
              </a:spcBef>
              <a:buClr>
                <a:srgbClr val="000000"/>
              </a:buClr>
              <a:buSzPts val="2000"/>
            </a:pPr>
            <a:r>
              <a:rPr lang="en-US" sz="1600" b="1" u="sng" dirty="0"/>
              <a:t>Evaluate</a:t>
            </a:r>
            <a:r>
              <a:rPr lang="en-US" sz="1600" dirty="0"/>
              <a:t> wave attenuation and habitat </a:t>
            </a:r>
            <a:r>
              <a:rPr lang="en-US" sz="1600" b="1" u="sng" dirty="0"/>
              <a:t>performance</a:t>
            </a:r>
            <a:r>
              <a:rPr lang="en-US" sz="1600" dirty="0"/>
              <a:t> at paired sites under a range of potential </a:t>
            </a:r>
            <a:r>
              <a:rPr lang="en-US" sz="1600" b="1" u="sng" dirty="0"/>
              <a:t>future</a:t>
            </a:r>
            <a:r>
              <a:rPr lang="en-US" sz="1600" dirty="0"/>
              <a:t> sea level rise scenarios.</a:t>
            </a:r>
          </a:p>
          <a:p>
            <a:pPr marL="412750" indent="-285750">
              <a:spcBef>
                <a:spcPts val="0"/>
              </a:spcBef>
              <a:buClr>
                <a:srgbClr val="000000"/>
              </a:buClr>
              <a:buSzPts val="2000"/>
            </a:pPr>
            <a:endParaRPr lang="en-US" sz="1600" dirty="0"/>
          </a:p>
          <a:p>
            <a:pPr>
              <a:spcBef>
                <a:spcPts val="0"/>
              </a:spcBef>
              <a:buClr>
                <a:srgbClr val="000000"/>
              </a:buClr>
              <a:buSzPts val="2000"/>
            </a:pPr>
            <a:r>
              <a:rPr lang="en-US" sz="1600" dirty="0"/>
              <a:t>Use lessons learned to develop </a:t>
            </a:r>
            <a:r>
              <a:rPr lang="en-US" sz="1600" b="1" u="sng" dirty="0"/>
              <a:t>initial recommendations </a:t>
            </a:r>
            <a:r>
              <a:rPr lang="en-US" sz="1600" dirty="0"/>
              <a:t>for a </a:t>
            </a:r>
            <a:r>
              <a:rPr lang="en-US" sz="1600" b="1" u="sng" dirty="0"/>
              <a:t>framework</a:t>
            </a:r>
            <a:r>
              <a:rPr lang="en-US" sz="1600" dirty="0"/>
              <a:t> linking modeling, field and lab research, monitoring, and design evolution.</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6</a:t>
            </a:fld>
            <a:endParaRPr lang="en-US" altLang="en-US" sz="1050" dirty="0"/>
          </a:p>
        </p:txBody>
      </p:sp>
    </p:spTree>
    <p:extLst>
      <p:ext uri="{BB962C8B-B14F-4D97-AF65-F5344CB8AC3E}">
        <p14:creationId xmlns:p14="http://schemas.microsoft.com/office/powerpoint/2010/main" val="1333926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a:t>Technical Approach and Test Design</a:t>
            </a:r>
            <a:br>
              <a:rPr lang="en-US" altLang="en-US">
                <a:highlight>
                  <a:srgbClr val="FF00FF"/>
                </a:highlight>
              </a:rPr>
            </a:br>
            <a:r>
              <a:rPr lang="en-US" altLang="en-US" sz="1600"/>
              <a:t>(Technical Approach Example diagram on next slide)</a:t>
            </a:r>
          </a:p>
        </p:txBody>
      </p:sp>
      <p:sp>
        <p:nvSpPr>
          <p:cNvPr id="12291" name="Rectangle 5"/>
          <p:cNvSpPr>
            <a:spLocks noGrp="1" noChangeArrowheads="1"/>
          </p:cNvSpPr>
          <p:nvPr>
            <p:ph idx="1"/>
          </p:nvPr>
        </p:nvSpPr>
        <p:spPr>
          <a:xfrm>
            <a:off x="628650" y="1369218"/>
            <a:ext cx="7886700" cy="3035141"/>
          </a:xfrm>
        </p:spPr>
        <p:txBody>
          <a:bodyPr/>
          <a:lstStyle/>
          <a:p>
            <a:pPr marL="0" lvl="0" indent="0" algn="l" rtl="0">
              <a:spcBef>
                <a:spcPts val="0"/>
              </a:spcBef>
              <a:spcAft>
                <a:spcPts val="0"/>
              </a:spcAft>
              <a:buClr>
                <a:srgbClr val="000000"/>
              </a:buClr>
              <a:buSzPts val="1500"/>
              <a:buFont typeface="Arial"/>
              <a:buNone/>
            </a:pPr>
            <a:r>
              <a:rPr lang="en-US" sz="1600" b="1" u="sng" dirty="0"/>
              <a:t>Technology: </a:t>
            </a:r>
            <a:r>
              <a:rPr lang="en-US" sz="1600" dirty="0"/>
              <a:t> This effort proposes two contributions to the existing salt marsh modeling field</a:t>
            </a:r>
          </a:p>
          <a:p>
            <a:pPr marL="457200" lvl="0" indent="-457200" algn="l" rtl="0">
              <a:spcBef>
                <a:spcPts val="1200"/>
              </a:spcBef>
              <a:spcAft>
                <a:spcPts val="0"/>
              </a:spcAft>
              <a:buClr>
                <a:srgbClr val="000000"/>
              </a:buClr>
              <a:buSzPts val="1600"/>
              <a:buFont typeface="Arial"/>
              <a:buAutoNum type="arabicParenR"/>
            </a:pPr>
            <a:r>
              <a:rPr lang="en-US" sz="1600" dirty="0"/>
              <a:t>To develop a </a:t>
            </a:r>
            <a:r>
              <a:rPr lang="en-US" sz="1600" b="1" u="sng" dirty="0"/>
              <a:t>spatially distributed model </a:t>
            </a:r>
            <a:r>
              <a:rPr lang="en-US" sz="1600" dirty="0"/>
              <a:t>that builds on existing models to strengthen the </a:t>
            </a:r>
            <a:r>
              <a:rPr lang="en-US" sz="1600" b="1" u="sng" dirty="0"/>
              <a:t>feedback loops </a:t>
            </a:r>
            <a:r>
              <a:rPr lang="en-US" sz="1600" dirty="0"/>
              <a:t>existing between hydrodynamics, morphology, and vegetation lifecycle processes; and </a:t>
            </a:r>
          </a:p>
          <a:p>
            <a:pPr marL="457200" lvl="0" indent="-457200" algn="l" rtl="0">
              <a:spcBef>
                <a:spcPts val="1200"/>
              </a:spcBef>
              <a:spcAft>
                <a:spcPts val="0"/>
              </a:spcAft>
              <a:buClr>
                <a:srgbClr val="000000"/>
              </a:buClr>
              <a:buSzPts val="1600"/>
              <a:buFont typeface="Arial"/>
              <a:buAutoNum type="arabicParenR"/>
            </a:pPr>
            <a:r>
              <a:rPr lang="en-US" sz="1600" dirty="0"/>
              <a:t>To use that model to develop a </a:t>
            </a:r>
            <a:r>
              <a:rPr lang="en-US" sz="1600" b="1" u="sng" dirty="0"/>
              <a:t>framework for salt marsh design </a:t>
            </a:r>
            <a:r>
              <a:rPr lang="en-US" sz="1600" dirty="0"/>
              <a:t>for specific performance objectives.</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7</a:t>
            </a:fld>
            <a:endParaRPr lang="en-US" altLang="en-US" sz="1050" dirty="0"/>
          </a:p>
        </p:txBody>
      </p:sp>
    </p:spTree>
    <p:extLst>
      <p:ext uri="{BB962C8B-B14F-4D97-AF65-F5344CB8AC3E}">
        <p14:creationId xmlns:p14="http://schemas.microsoft.com/office/powerpoint/2010/main" val="3726768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a:t>Technical Approach and Test Design</a:t>
            </a:r>
            <a:br>
              <a:rPr lang="en-US" altLang="en-US">
                <a:highlight>
                  <a:srgbClr val="FF00FF"/>
                </a:highlight>
              </a:rPr>
            </a:br>
            <a:r>
              <a:rPr lang="en-US" altLang="en-US" sz="1600"/>
              <a:t>(Technical Approach Example diagram on next slide)</a:t>
            </a:r>
          </a:p>
        </p:txBody>
      </p:sp>
      <p:sp>
        <p:nvSpPr>
          <p:cNvPr id="12291" name="Rectangle 5"/>
          <p:cNvSpPr>
            <a:spLocks noGrp="1" noChangeArrowheads="1"/>
          </p:cNvSpPr>
          <p:nvPr>
            <p:ph idx="1"/>
          </p:nvPr>
        </p:nvSpPr>
        <p:spPr>
          <a:xfrm>
            <a:off x="628650" y="1369219"/>
            <a:ext cx="7886700" cy="1267302"/>
          </a:xfrm>
        </p:spPr>
        <p:txBody>
          <a:bodyPr/>
          <a:lstStyle/>
          <a:p>
            <a:pPr marL="342906" lvl="0" indent="-342906" algn="l" rtl="0">
              <a:spcBef>
                <a:spcPts val="1200"/>
              </a:spcBef>
              <a:spcAft>
                <a:spcPts val="0"/>
              </a:spcAft>
              <a:buClr>
                <a:srgbClr val="000000"/>
              </a:buClr>
              <a:buSzPts val="1050"/>
              <a:buFont typeface="Arial"/>
              <a:buChar char="•"/>
            </a:pPr>
            <a:r>
              <a:rPr lang="en-US" sz="1600" dirty="0"/>
              <a:t>We are currently linking the existing </a:t>
            </a:r>
            <a:r>
              <a:rPr lang="en-US" sz="1600" b="1" u="sng" dirty="0" err="1"/>
              <a:t>NBSDynamics</a:t>
            </a:r>
            <a:r>
              <a:rPr lang="en-US" sz="1600" b="1" u="sng" dirty="0"/>
              <a:t> (vegetation) </a:t>
            </a:r>
            <a:r>
              <a:rPr lang="en-US" sz="1600" dirty="0"/>
              <a:t>model and coding up the </a:t>
            </a:r>
            <a:r>
              <a:rPr lang="en-US" sz="1600" b="1" u="sng" dirty="0"/>
              <a:t>SEMIDEC (sediment) </a:t>
            </a:r>
            <a:r>
              <a:rPr lang="en-US" sz="1600" dirty="0"/>
              <a:t>models to the </a:t>
            </a:r>
            <a:r>
              <a:rPr lang="en-US" sz="1600" b="1" u="sng" dirty="0"/>
              <a:t>hydrodynamic and wave</a:t>
            </a:r>
            <a:r>
              <a:rPr lang="en-US" sz="1600" dirty="0"/>
              <a:t> model developed for Dotson Family Marsh (</a:t>
            </a:r>
            <a:r>
              <a:rPr lang="en-US" sz="1400" i="1" dirty="0"/>
              <a:t>nested within the larger SF Bay model developed by Nederhoff et al. (2021)</a:t>
            </a:r>
            <a:r>
              <a:rPr lang="en-US" sz="1600" dirty="0"/>
              <a:t>)</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8</a:t>
            </a:fld>
            <a:endParaRPr lang="en-US" altLang="en-US" sz="1050" dirty="0"/>
          </a:p>
        </p:txBody>
      </p:sp>
      <p:sp>
        <p:nvSpPr>
          <p:cNvPr id="2" name="Google Shape;194;p8">
            <a:extLst>
              <a:ext uri="{FF2B5EF4-FFF2-40B4-BE49-F238E27FC236}">
                <a16:creationId xmlns:a16="http://schemas.microsoft.com/office/drawing/2014/main" id="{E5E79372-D9F1-358A-3705-ECD785BEC99D}"/>
              </a:ext>
            </a:extLst>
          </p:cNvPr>
          <p:cNvSpPr txBox="1">
            <a:spLocks/>
          </p:cNvSpPr>
          <p:nvPr/>
        </p:nvSpPr>
        <p:spPr>
          <a:xfrm>
            <a:off x="6811750" y="4168380"/>
            <a:ext cx="2133600" cy="476250"/>
          </a:xfrm>
          <a:prstGeom prst="rect">
            <a:avLst/>
          </a:prstGeom>
          <a:noFill/>
          <a:ln>
            <a:noFill/>
          </a:ln>
        </p:spPr>
        <p:txBody>
          <a:bodyPr spcFirstLastPara="1" vert="horz" wrap="square" lIns="91425" tIns="45700" rIns="91425" bIns="45700" rtlCol="0" anchor="t" anchorCtr="0">
            <a:noAutofit/>
          </a:bodyPr>
          <a:lstStyle>
            <a:defPPr>
              <a:defRPr lang="en-US"/>
            </a:defPPr>
            <a:lvl1pPr marL="0" algn="ctr"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000000-1234-1234-1234-123412341234}" type="slidenum">
              <a:rPr lang="en-US" smtClean="0"/>
              <a:pPr algn="r"/>
              <a:t>8</a:t>
            </a:fld>
            <a:endParaRPr lang="en-US"/>
          </a:p>
        </p:txBody>
      </p:sp>
      <p:pic>
        <p:nvPicPr>
          <p:cNvPr id="3" name="Google Shape;195;p8">
            <a:extLst>
              <a:ext uri="{FF2B5EF4-FFF2-40B4-BE49-F238E27FC236}">
                <a16:creationId xmlns:a16="http://schemas.microsoft.com/office/drawing/2014/main" id="{47598D38-6D4C-CAAF-B84C-D3F6A7586E1A}"/>
              </a:ext>
            </a:extLst>
          </p:cNvPr>
          <p:cNvPicPr preferRelativeResize="0"/>
          <p:nvPr/>
        </p:nvPicPr>
        <p:blipFill rotWithShape="1">
          <a:blip r:embed="rId3">
            <a:alphaModFix/>
          </a:blip>
          <a:srcRect r="38588"/>
          <a:stretch/>
        </p:blipFill>
        <p:spPr>
          <a:xfrm>
            <a:off x="7020457" y="2428027"/>
            <a:ext cx="1703265" cy="2216603"/>
          </a:xfrm>
          <a:prstGeom prst="rect">
            <a:avLst/>
          </a:prstGeom>
          <a:noFill/>
          <a:ln>
            <a:noFill/>
          </a:ln>
        </p:spPr>
      </p:pic>
      <p:pic>
        <p:nvPicPr>
          <p:cNvPr id="4" name="Google Shape;197;p8">
            <a:extLst>
              <a:ext uri="{FF2B5EF4-FFF2-40B4-BE49-F238E27FC236}">
                <a16:creationId xmlns:a16="http://schemas.microsoft.com/office/drawing/2014/main" id="{16775E51-75AA-C70B-F810-9212623E5982}"/>
              </a:ext>
            </a:extLst>
          </p:cNvPr>
          <p:cNvPicPr preferRelativeResize="0"/>
          <p:nvPr/>
        </p:nvPicPr>
        <p:blipFill rotWithShape="1">
          <a:blip r:embed="rId4">
            <a:alphaModFix/>
          </a:blip>
          <a:srcRect l="5104" r="3803"/>
          <a:stretch/>
        </p:blipFill>
        <p:spPr>
          <a:xfrm>
            <a:off x="3139771" y="2540453"/>
            <a:ext cx="2254579" cy="1956715"/>
          </a:xfrm>
          <a:prstGeom prst="rect">
            <a:avLst/>
          </a:prstGeom>
          <a:noFill/>
          <a:ln w="9525" cap="flat" cmpd="sng">
            <a:solidFill>
              <a:srgbClr val="A5A5A5"/>
            </a:solidFill>
            <a:prstDash val="solid"/>
            <a:round/>
            <a:headEnd type="none" w="sm" len="sm"/>
            <a:tailEnd type="none" w="sm" len="sm"/>
          </a:ln>
        </p:spPr>
      </p:pic>
      <p:grpSp>
        <p:nvGrpSpPr>
          <p:cNvPr id="5" name="Google Shape;198;p8">
            <a:extLst>
              <a:ext uri="{FF2B5EF4-FFF2-40B4-BE49-F238E27FC236}">
                <a16:creationId xmlns:a16="http://schemas.microsoft.com/office/drawing/2014/main" id="{D1A7F58D-7D84-E620-7024-382C70335DF2}"/>
              </a:ext>
            </a:extLst>
          </p:cNvPr>
          <p:cNvGrpSpPr/>
          <p:nvPr/>
        </p:nvGrpSpPr>
        <p:grpSpPr>
          <a:xfrm>
            <a:off x="1157460" y="2428028"/>
            <a:ext cx="1130664" cy="2088649"/>
            <a:chOff x="1528091" y="4736648"/>
            <a:chExt cx="1130664" cy="2088649"/>
          </a:xfrm>
        </p:grpSpPr>
        <p:grpSp>
          <p:nvGrpSpPr>
            <p:cNvPr id="6" name="Google Shape;199;p8">
              <a:extLst>
                <a:ext uri="{FF2B5EF4-FFF2-40B4-BE49-F238E27FC236}">
                  <a16:creationId xmlns:a16="http://schemas.microsoft.com/office/drawing/2014/main" id="{F1AEE71B-0FF0-CB6A-EEEE-F71FA40CE6B0}"/>
                </a:ext>
              </a:extLst>
            </p:cNvPr>
            <p:cNvGrpSpPr/>
            <p:nvPr/>
          </p:nvGrpSpPr>
          <p:grpSpPr>
            <a:xfrm>
              <a:off x="1528091" y="4736648"/>
              <a:ext cx="1130664" cy="2088649"/>
              <a:chOff x="1528091" y="4736648"/>
              <a:chExt cx="1130664" cy="2088649"/>
            </a:xfrm>
          </p:grpSpPr>
          <p:pic>
            <p:nvPicPr>
              <p:cNvPr id="8" name="Google Shape;200;p8">
                <a:extLst>
                  <a:ext uri="{FF2B5EF4-FFF2-40B4-BE49-F238E27FC236}">
                    <a16:creationId xmlns:a16="http://schemas.microsoft.com/office/drawing/2014/main" id="{28F631B8-77DD-03E4-7389-60CB78C940C7}"/>
                  </a:ext>
                </a:extLst>
              </p:cNvPr>
              <p:cNvPicPr preferRelativeResize="0"/>
              <p:nvPr/>
            </p:nvPicPr>
            <p:blipFill rotWithShape="1">
              <a:blip r:embed="rId5">
                <a:alphaModFix/>
              </a:blip>
              <a:srcRect/>
              <a:stretch/>
            </p:blipFill>
            <p:spPr>
              <a:xfrm>
                <a:off x="1675090" y="4736648"/>
                <a:ext cx="983665" cy="2088649"/>
              </a:xfrm>
              <a:prstGeom prst="rect">
                <a:avLst/>
              </a:prstGeom>
              <a:noFill/>
              <a:ln>
                <a:noFill/>
              </a:ln>
            </p:spPr>
          </p:pic>
          <p:sp>
            <p:nvSpPr>
              <p:cNvPr id="9" name="Google Shape;201;p8">
                <a:extLst>
                  <a:ext uri="{FF2B5EF4-FFF2-40B4-BE49-F238E27FC236}">
                    <a16:creationId xmlns:a16="http://schemas.microsoft.com/office/drawing/2014/main" id="{97765BF7-C7B1-71FD-E322-D5074B1A7D88}"/>
                  </a:ext>
                </a:extLst>
              </p:cNvPr>
              <p:cNvSpPr/>
              <p:nvPr/>
            </p:nvSpPr>
            <p:spPr>
              <a:xfrm>
                <a:off x="1528091" y="6523538"/>
                <a:ext cx="662787" cy="301759"/>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grpSp>
        <p:sp>
          <p:nvSpPr>
            <p:cNvPr id="7" name="Google Shape;202;p8">
              <a:extLst>
                <a:ext uri="{FF2B5EF4-FFF2-40B4-BE49-F238E27FC236}">
                  <a16:creationId xmlns:a16="http://schemas.microsoft.com/office/drawing/2014/main" id="{3981908E-5338-E0A6-BFAC-57CE22012395}"/>
                </a:ext>
              </a:extLst>
            </p:cNvPr>
            <p:cNvSpPr/>
            <p:nvPr/>
          </p:nvSpPr>
          <p:spPr>
            <a:xfrm>
              <a:off x="1528091" y="5302294"/>
              <a:ext cx="360261" cy="1212040"/>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grpSp>
      <p:sp>
        <p:nvSpPr>
          <p:cNvPr id="10" name="Google Shape;204;p8">
            <a:extLst>
              <a:ext uri="{FF2B5EF4-FFF2-40B4-BE49-F238E27FC236}">
                <a16:creationId xmlns:a16="http://schemas.microsoft.com/office/drawing/2014/main" id="{8FA92C08-AE27-A75B-C268-4807E0D6BB37}"/>
              </a:ext>
            </a:extLst>
          </p:cNvPr>
          <p:cNvSpPr txBox="1"/>
          <p:nvPr/>
        </p:nvSpPr>
        <p:spPr>
          <a:xfrm>
            <a:off x="73557" y="3967552"/>
            <a:ext cx="1110185" cy="677078"/>
          </a:xfrm>
          <a:prstGeom prst="rect">
            <a:avLst/>
          </a:prstGeom>
          <a:noFill/>
          <a:ln>
            <a:noFill/>
          </a:ln>
        </p:spPr>
        <p:txBody>
          <a:bodyPr spcFirstLastPara="1" wrap="square" lIns="91425" tIns="91425" rIns="91425" bIns="91425" anchor="t" anchorCtr="0">
            <a:spAutoFit/>
          </a:bodyPr>
          <a:lstStyle/>
          <a:p>
            <a:pPr marL="0" marR="0" lvl="0" indent="0" algn="r" rtl="0">
              <a:spcBef>
                <a:spcPts val="0"/>
              </a:spcBef>
              <a:spcAft>
                <a:spcPts val="0"/>
              </a:spcAft>
              <a:buNone/>
            </a:pPr>
            <a:r>
              <a:rPr lang="en-US" sz="800" i="1" dirty="0" err="1">
                <a:solidFill>
                  <a:schemeClr val="dk1"/>
                </a:solidFill>
                <a:latin typeface="Proxima Nova"/>
                <a:ea typeface="Proxima Nova"/>
                <a:cs typeface="Proxima Nova"/>
                <a:sym typeface="Proxima Nova"/>
              </a:rPr>
              <a:t>NBSDynamics</a:t>
            </a:r>
            <a:r>
              <a:rPr lang="en-US" sz="800" i="1" dirty="0">
                <a:solidFill>
                  <a:schemeClr val="dk1"/>
                </a:solidFill>
                <a:latin typeface="Proxima Nova"/>
                <a:ea typeface="Proxima Nova"/>
                <a:cs typeface="Proxima Nova"/>
                <a:sym typeface="Proxima Nova"/>
              </a:rPr>
              <a:t> model diagram developed by Best et al. (2018)</a:t>
            </a:r>
            <a:endParaRPr sz="800" i="1" dirty="0">
              <a:solidFill>
                <a:schemeClr val="dk1"/>
              </a:solidFill>
              <a:latin typeface="Proxima Nova"/>
              <a:ea typeface="Proxima Nova"/>
              <a:cs typeface="Proxima Nova"/>
              <a:sym typeface="Proxima Nova"/>
            </a:endParaRPr>
          </a:p>
        </p:txBody>
      </p:sp>
      <p:sp>
        <p:nvSpPr>
          <p:cNvPr id="11" name="Google Shape;205;p8">
            <a:extLst>
              <a:ext uri="{FF2B5EF4-FFF2-40B4-BE49-F238E27FC236}">
                <a16:creationId xmlns:a16="http://schemas.microsoft.com/office/drawing/2014/main" id="{1BFB0FF3-864D-4A00-6744-2988A63E37F5}"/>
              </a:ext>
            </a:extLst>
          </p:cNvPr>
          <p:cNvSpPr/>
          <p:nvPr/>
        </p:nvSpPr>
        <p:spPr>
          <a:xfrm>
            <a:off x="2369368" y="2890753"/>
            <a:ext cx="726346" cy="670560"/>
          </a:xfrm>
          <a:prstGeom prst="mathPlus">
            <a:avLst>
              <a:gd name="adj1" fmla="val 23520"/>
            </a:avLst>
          </a:prstGeom>
          <a:gradFill>
            <a:gsLst>
              <a:gs pos="0">
                <a:srgbClr val="73128A"/>
              </a:gs>
              <a:gs pos="100000">
                <a:srgbClr val="CDA7DF"/>
              </a:gs>
            </a:gsLst>
            <a:lin ang="16200000" scaled="0"/>
          </a:gradFill>
          <a:ln w="9525" cap="flat" cmpd="sng">
            <a:solidFill>
              <a:srgbClr val="691C7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12" name="Google Shape;206;p8">
            <a:extLst>
              <a:ext uri="{FF2B5EF4-FFF2-40B4-BE49-F238E27FC236}">
                <a16:creationId xmlns:a16="http://schemas.microsoft.com/office/drawing/2014/main" id="{9C6D96EE-4494-5BE0-2901-77AA29996956}"/>
              </a:ext>
            </a:extLst>
          </p:cNvPr>
          <p:cNvSpPr/>
          <p:nvPr/>
        </p:nvSpPr>
        <p:spPr>
          <a:xfrm>
            <a:off x="5452525" y="2890753"/>
            <a:ext cx="726346" cy="670560"/>
          </a:xfrm>
          <a:prstGeom prst="mathPlus">
            <a:avLst>
              <a:gd name="adj1" fmla="val 23520"/>
            </a:avLst>
          </a:prstGeom>
          <a:gradFill>
            <a:gsLst>
              <a:gs pos="0">
                <a:srgbClr val="73128A"/>
              </a:gs>
              <a:gs pos="100000">
                <a:srgbClr val="CDA7DF"/>
              </a:gs>
            </a:gsLst>
            <a:lin ang="16200000" scaled="0"/>
          </a:gradFill>
          <a:ln w="9525" cap="flat" cmpd="sng">
            <a:solidFill>
              <a:srgbClr val="691C7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pic>
        <p:nvPicPr>
          <p:cNvPr id="13" name="Picture 12">
            <a:extLst>
              <a:ext uri="{FF2B5EF4-FFF2-40B4-BE49-F238E27FC236}">
                <a16:creationId xmlns:a16="http://schemas.microsoft.com/office/drawing/2014/main" id="{547CA854-A631-6A4E-DC06-8BCC22CF67B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212867" y="2540452"/>
            <a:ext cx="1562070" cy="1956715"/>
          </a:xfrm>
          <a:prstGeom prst="rect">
            <a:avLst/>
          </a:prstGeom>
          <a:noFill/>
          <a:ln w="12700">
            <a:solidFill>
              <a:schemeClr val="tx1"/>
            </a:solidFill>
          </a:ln>
        </p:spPr>
      </p:pic>
    </p:spTree>
    <p:extLst>
      <p:ext uri="{BB962C8B-B14F-4D97-AF65-F5344CB8AC3E}">
        <p14:creationId xmlns:p14="http://schemas.microsoft.com/office/powerpoint/2010/main" val="3670927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dirty="0"/>
              <a:t>Technical Approach and Test Design</a:t>
            </a:r>
            <a:endParaRPr lang="en-US" altLang="en-US" sz="1600" dirty="0"/>
          </a:p>
        </p:txBody>
      </p:sp>
      <p:sp>
        <p:nvSpPr>
          <p:cNvPr id="12291" name="Rectangle 5"/>
          <p:cNvSpPr>
            <a:spLocks noGrp="1" noChangeArrowheads="1"/>
          </p:cNvSpPr>
          <p:nvPr>
            <p:ph idx="1"/>
          </p:nvPr>
        </p:nvSpPr>
        <p:spPr>
          <a:xfrm>
            <a:off x="628650" y="1369218"/>
            <a:ext cx="7886700" cy="3035141"/>
          </a:xfrm>
        </p:spPr>
        <p:txBody>
          <a:bodyPr/>
          <a:lstStyle/>
          <a:p>
            <a:pPr marL="0" indent="0">
              <a:spcBef>
                <a:spcPts val="0"/>
              </a:spcBef>
              <a:buClr>
                <a:srgbClr val="000000"/>
              </a:buClr>
              <a:buSzPts val="1100"/>
              <a:buNone/>
            </a:pPr>
            <a:r>
              <a:rPr lang="en-US" sz="1300" u="sng" dirty="0">
                <a:solidFill>
                  <a:srgbClr val="000000"/>
                </a:solidFill>
                <a:ea typeface="Times New Roman"/>
                <a:cs typeface="Times New Roman"/>
                <a:sym typeface="Times New Roman"/>
              </a:rPr>
              <a:t>Experimental treatments (independent variables to be perturbed):</a:t>
            </a:r>
            <a:endParaRPr lang="en-US" sz="1300" dirty="0">
              <a:solidFill>
                <a:srgbClr val="000000"/>
              </a:solidFill>
              <a:ea typeface="Times New Roman"/>
              <a:cs typeface="Times New Roman"/>
              <a:sym typeface="Times New Roman"/>
            </a:endParaRPr>
          </a:p>
          <a:p>
            <a:pPr marL="685792" lvl="1">
              <a:spcBef>
                <a:spcPts val="0"/>
              </a:spcBef>
              <a:buClr>
                <a:srgbClr val="000000"/>
              </a:buClr>
              <a:buSzPts val="880"/>
            </a:pPr>
            <a:r>
              <a:rPr lang="en-US" sz="1300" dirty="0">
                <a:solidFill>
                  <a:srgbClr val="000000"/>
                </a:solidFill>
                <a:ea typeface="Times New Roman"/>
                <a:cs typeface="Times New Roman"/>
                <a:sym typeface="Times New Roman"/>
              </a:rPr>
              <a:t>Historical water levels</a:t>
            </a:r>
          </a:p>
          <a:p>
            <a:pPr marL="685792" lvl="1">
              <a:spcBef>
                <a:spcPts val="0"/>
              </a:spcBef>
              <a:buClr>
                <a:srgbClr val="000000"/>
              </a:buClr>
              <a:buSzPts val="880"/>
            </a:pPr>
            <a:r>
              <a:rPr lang="en-US" sz="1300" dirty="0">
                <a:solidFill>
                  <a:srgbClr val="000000"/>
                </a:solidFill>
                <a:ea typeface="Times New Roman"/>
                <a:cs typeface="Times New Roman"/>
                <a:sym typeface="Times New Roman"/>
              </a:rPr>
              <a:t>Projected high, medium, and low sea level rise scenarios</a:t>
            </a:r>
          </a:p>
          <a:p>
            <a:pPr marL="685792" lvl="1">
              <a:spcBef>
                <a:spcPts val="0"/>
              </a:spcBef>
              <a:buClr>
                <a:srgbClr val="000000"/>
              </a:buClr>
              <a:buSzPts val="880"/>
            </a:pPr>
            <a:r>
              <a:rPr lang="en-US" sz="1300" dirty="0">
                <a:solidFill>
                  <a:srgbClr val="000000"/>
                </a:solidFill>
                <a:ea typeface="Times New Roman"/>
                <a:cs typeface="Times New Roman"/>
                <a:sym typeface="Times New Roman"/>
              </a:rPr>
              <a:t>Starting mean bottom elevation (existing, low, and high scenarios)</a:t>
            </a:r>
          </a:p>
          <a:p>
            <a:pPr marL="685792" lvl="1">
              <a:spcBef>
                <a:spcPts val="0"/>
              </a:spcBef>
              <a:buClr>
                <a:srgbClr val="000000"/>
              </a:buClr>
              <a:buSzPts val="880"/>
            </a:pPr>
            <a:r>
              <a:rPr lang="en-US" sz="1300" i="1" dirty="0">
                <a:solidFill>
                  <a:srgbClr val="000000"/>
                </a:solidFill>
                <a:ea typeface="Times New Roman"/>
                <a:cs typeface="Times New Roman"/>
                <a:sym typeface="Times New Roman"/>
              </a:rPr>
              <a:t>Sediment loadings (existing, low, and high scenarios) (if computing power and time allow)</a:t>
            </a:r>
            <a:endParaRPr lang="en-US" sz="1300" dirty="0">
              <a:solidFill>
                <a:srgbClr val="000000"/>
              </a:solidFill>
              <a:ea typeface="Times New Roman"/>
              <a:cs typeface="Times New Roman"/>
              <a:sym typeface="Times New Roman"/>
            </a:endParaRPr>
          </a:p>
          <a:p>
            <a:pPr marL="1200144">
              <a:spcBef>
                <a:spcPts val="0"/>
              </a:spcBef>
              <a:buClr>
                <a:srgbClr val="000000"/>
              </a:buClr>
              <a:buSzPts val="825"/>
            </a:pPr>
            <a:r>
              <a:rPr lang="en-US" sz="1300" i="1" dirty="0">
                <a:solidFill>
                  <a:srgbClr val="000000"/>
                </a:solidFill>
                <a:ea typeface="Times New Roman"/>
                <a:cs typeface="Times New Roman"/>
                <a:sym typeface="Times New Roman"/>
              </a:rPr>
              <a:t> </a:t>
            </a:r>
            <a:endParaRPr lang="en-US" sz="1300" dirty="0">
              <a:solidFill>
                <a:srgbClr val="000000"/>
              </a:solidFill>
              <a:ea typeface="Times New Roman"/>
              <a:cs typeface="Times New Roman"/>
              <a:sym typeface="Times New Roman"/>
            </a:endParaRPr>
          </a:p>
          <a:p>
            <a:pPr marL="0" indent="0">
              <a:spcBef>
                <a:spcPts val="0"/>
              </a:spcBef>
              <a:buClr>
                <a:srgbClr val="000000"/>
              </a:buClr>
              <a:buSzPts val="1100"/>
              <a:buNone/>
            </a:pPr>
            <a:r>
              <a:rPr lang="en-US" sz="1300" u="sng" dirty="0">
                <a:solidFill>
                  <a:srgbClr val="000000"/>
                </a:solidFill>
                <a:ea typeface="Times New Roman"/>
                <a:cs typeface="Times New Roman"/>
                <a:sym typeface="Times New Roman"/>
              </a:rPr>
              <a:t>Model simulations</a:t>
            </a:r>
            <a:endParaRPr lang="en-US" sz="1300" dirty="0">
              <a:solidFill>
                <a:srgbClr val="000000"/>
              </a:solidFill>
              <a:ea typeface="Times New Roman"/>
              <a:cs typeface="Times New Roman"/>
              <a:sym typeface="Times New Roman"/>
            </a:endParaRPr>
          </a:p>
          <a:p>
            <a:pPr marL="628650" lvl="1">
              <a:spcBef>
                <a:spcPts val="0"/>
              </a:spcBef>
              <a:buClr>
                <a:srgbClr val="000000"/>
              </a:buClr>
              <a:buSzPts val="880"/>
            </a:pPr>
            <a:r>
              <a:rPr lang="en-US" sz="1300" dirty="0">
                <a:solidFill>
                  <a:srgbClr val="000000"/>
                </a:solidFill>
                <a:ea typeface="Times New Roman"/>
                <a:cs typeface="Times New Roman"/>
                <a:sym typeface="Times New Roman"/>
              </a:rPr>
              <a:t>Historical period runs (for restored and benchmark/reference sites):</a:t>
            </a:r>
          </a:p>
          <a:p>
            <a:pPr marL="1085850" lvl="2">
              <a:spcBef>
                <a:spcPts val="0"/>
              </a:spcBef>
              <a:buClr>
                <a:srgbClr val="000000"/>
              </a:buClr>
              <a:buSzPts val="1100"/>
            </a:pPr>
            <a:r>
              <a:rPr lang="en-US" sz="1300" dirty="0">
                <a:solidFill>
                  <a:srgbClr val="000000"/>
                </a:solidFill>
                <a:ea typeface="Times New Roman"/>
                <a:cs typeface="Times New Roman"/>
                <a:sym typeface="Times New Roman"/>
              </a:rPr>
              <a:t>2 x (1 water level scenario) x (3 bottom elevation scenarios) x </a:t>
            </a:r>
            <a:r>
              <a:rPr lang="en-US" sz="1300" i="1" dirty="0">
                <a:solidFill>
                  <a:srgbClr val="000000"/>
                </a:solidFill>
                <a:ea typeface="Times New Roman"/>
                <a:cs typeface="Times New Roman"/>
                <a:sym typeface="Times New Roman"/>
              </a:rPr>
              <a:t>(3 sediment loading scenarios)  </a:t>
            </a:r>
            <a:r>
              <a:rPr lang="en-US" sz="1300" dirty="0">
                <a:solidFill>
                  <a:srgbClr val="000000"/>
                </a:solidFill>
                <a:ea typeface="Times New Roman"/>
                <a:cs typeface="Times New Roman"/>
                <a:sym typeface="Times New Roman"/>
              </a:rPr>
              <a:t>= 6 to </a:t>
            </a:r>
            <a:r>
              <a:rPr lang="en-US" sz="1300" i="1" dirty="0">
                <a:solidFill>
                  <a:srgbClr val="000000"/>
                </a:solidFill>
                <a:ea typeface="Times New Roman"/>
                <a:cs typeface="Times New Roman"/>
                <a:sym typeface="Times New Roman"/>
              </a:rPr>
              <a:t>18</a:t>
            </a:r>
            <a:r>
              <a:rPr lang="en-US" sz="1300" dirty="0">
                <a:solidFill>
                  <a:srgbClr val="000000"/>
                </a:solidFill>
                <a:ea typeface="Times New Roman"/>
                <a:cs typeface="Times New Roman"/>
                <a:sym typeface="Times New Roman"/>
              </a:rPr>
              <a:t> scenarios</a:t>
            </a:r>
          </a:p>
          <a:p>
            <a:pPr marL="628650" lvl="1">
              <a:spcBef>
                <a:spcPts val="0"/>
              </a:spcBef>
              <a:buClr>
                <a:srgbClr val="000000"/>
              </a:buClr>
              <a:buSzPts val="880"/>
            </a:pPr>
            <a:r>
              <a:rPr lang="en-US" sz="1300" dirty="0">
                <a:solidFill>
                  <a:srgbClr val="000000"/>
                </a:solidFill>
                <a:ea typeface="Times New Roman"/>
                <a:cs typeface="Times New Roman"/>
                <a:sym typeface="Times New Roman"/>
              </a:rPr>
              <a:t>Future scenario runs (for restored and benchmark/reference sites):</a:t>
            </a:r>
          </a:p>
          <a:p>
            <a:pPr marL="1085850" lvl="2">
              <a:spcBef>
                <a:spcPts val="0"/>
              </a:spcBef>
              <a:buClr>
                <a:srgbClr val="000000"/>
              </a:buClr>
              <a:buSzPts val="1100"/>
            </a:pPr>
            <a:r>
              <a:rPr lang="en-US" sz="1300" dirty="0">
                <a:solidFill>
                  <a:srgbClr val="000000"/>
                </a:solidFill>
                <a:ea typeface="Times New Roman"/>
                <a:cs typeface="Times New Roman"/>
                <a:sym typeface="Times New Roman"/>
              </a:rPr>
              <a:t>2 x (3 water level scenario) x (3 bottom elevation scenarios) x </a:t>
            </a:r>
            <a:r>
              <a:rPr lang="en-US" sz="1300" i="1" dirty="0">
                <a:solidFill>
                  <a:srgbClr val="000000"/>
                </a:solidFill>
                <a:ea typeface="Times New Roman"/>
                <a:cs typeface="Times New Roman"/>
                <a:sym typeface="Times New Roman"/>
              </a:rPr>
              <a:t>(3 sediment loading scenarios)  </a:t>
            </a:r>
            <a:r>
              <a:rPr lang="en-US" sz="1300" dirty="0">
                <a:solidFill>
                  <a:srgbClr val="000000"/>
                </a:solidFill>
                <a:ea typeface="Times New Roman"/>
                <a:cs typeface="Times New Roman"/>
                <a:sym typeface="Times New Roman"/>
              </a:rPr>
              <a:t>= 18 to </a:t>
            </a:r>
            <a:r>
              <a:rPr lang="en-US" sz="1300" i="1" dirty="0">
                <a:solidFill>
                  <a:srgbClr val="000000"/>
                </a:solidFill>
                <a:ea typeface="Times New Roman"/>
                <a:cs typeface="Times New Roman"/>
                <a:sym typeface="Times New Roman"/>
              </a:rPr>
              <a:t>54</a:t>
            </a:r>
            <a:r>
              <a:rPr lang="en-US" sz="1300" dirty="0">
                <a:solidFill>
                  <a:srgbClr val="000000"/>
                </a:solidFill>
                <a:ea typeface="Times New Roman"/>
                <a:cs typeface="Times New Roman"/>
                <a:sym typeface="Times New Roman"/>
              </a:rPr>
              <a:t> scenarios</a:t>
            </a:r>
          </a:p>
          <a:p>
            <a:pPr marL="1200144">
              <a:spcBef>
                <a:spcPts val="0"/>
              </a:spcBef>
              <a:buClr>
                <a:srgbClr val="000000"/>
              </a:buClr>
              <a:buSzPts val="825"/>
            </a:pPr>
            <a:r>
              <a:rPr lang="en-US" sz="1300" dirty="0">
                <a:solidFill>
                  <a:srgbClr val="000000"/>
                </a:solidFill>
                <a:ea typeface="Times New Roman"/>
                <a:cs typeface="Times New Roman"/>
                <a:sym typeface="Times New Roman"/>
              </a:rPr>
              <a:t> </a:t>
            </a:r>
          </a:p>
          <a:p>
            <a:pPr marL="0" indent="0">
              <a:spcBef>
                <a:spcPts val="0"/>
              </a:spcBef>
              <a:buClr>
                <a:srgbClr val="000000"/>
              </a:buClr>
              <a:buSzPts val="1100"/>
              <a:buNone/>
            </a:pPr>
            <a:r>
              <a:rPr lang="en-US" sz="1300" u="sng" dirty="0">
                <a:solidFill>
                  <a:srgbClr val="000000"/>
                </a:solidFill>
                <a:ea typeface="Times New Roman"/>
                <a:cs typeface="Times New Roman"/>
                <a:sym typeface="Times New Roman"/>
              </a:rPr>
              <a:t>Experimental Controls</a:t>
            </a:r>
            <a:r>
              <a:rPr lang="en-US" sz="1300" dirty="0">
                <a:solidFill>
                  <a:srgbClr val="000000"/>
                </a:solidFill>
                <a:ea typeface="Times New Roman"/>
                <a:cs typeface="Times New Roman"/>
                <a:sym typeface="Times New Roman"/>
              </a:rPr>
              <a:t>: The benchmark/reference marsh site performance under historical conditions will serve as the baseline for this experiment. We will assume that long-established and/or natural marshes have reached an equilibrium state with respect to sediment accretion and vegetation coverage under current conditions. Therefore, the benchmark/reference site should exhibit optimal performance for that region and marsh type.</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9</a:t>
            </a:fld>
            <a:endParaRPr lang="en-US" altLang="en-US" sz="1050" dirty="0"/>
          </a:p>
        </p:txBody>
      </p:sp>
    </p:spTree>
    <p:extLst>
      <p:ext uri="{BB962C8B-B14F-4D97-AF65-F5344CB8AC3E}">
        <p14:creationId xmlns:p14="http://schemas.microsoft.com/office/powerpoint/2010/main" val="23165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dirty="0">
                <a:latin typeface="Arial" charset="0"/>
                <a:cs typeface="Arial" charset="0"/>
              </a:rPr>
              <a:t>Technical Approach</a:t>
            </a:r>
          </a:p>
        </p:txBody>
      </p:sp>
      <p:sp>
        <p:nvSpPr>
          <p:cNvPr id="3" name="Slide Number Placeholder 2"/>
          <p:cNvSpPr>
            <a:spLocks noGrp="1"/>
          </p:cNvSpPr>
          <p:nvPr>
            <p:ph type="sldNum" sz="quarter" idx="12"/>
          </p:nvPr>
        </p:nvSpPr>
        <p:spPr>
          <a:xfrm>
            <a:off x="3543300" y="5043468"/>
            <a:ext cx="1766961" cy="200064"/>
          </a:xfrm>
        </p:spPr>
        <p:txBody>
          <a:bodyPr/>
          <a:lstStyle/>
          <a:p>
            <a:pPr>
              <a:defRPr/>
            </a:pPr>
            <a:fld id="{737D72A4-3031-48CD-AF9B-441FF0DCC063}" type="slidenum">
              <a:rPr lang="en-US" sz="800" smtClean="0"/>
              <a:pPr>
                <a:defRPr/>
              </a:pPr>
              <a:t>10</a:t>
            </a:fld>
            <a:endParaRPr lang="en-US" sz="800"/>
          </a:p>
        </p:txBody>
      </p:sp>
      <p:sp>
        <p:nvSpPr>
          <p:cNvPr id="17421" name="Google Shape;223;p10">
            <a:extLst>
              <a:ext uri="{FF2B5EF4-FFF2-40B4-BE49-F238E27FC236}">
                <a16:creationId xmlns:a16="http://schemas.microsoft.com/office/drawing/2014/main" id="{C367782F-2BCF-72FD-0C4A-FBAA627067ED}"/>
              </a:ext>
            </a:extLst>
          </p:cNvPr>
          <p:cNvSpPr/>
          <p:nvPr/>
        </p:nvSpPr>
        <p:spPr>
          <a:xfrm>
            <a:off x="121919" y="1199262"/>
            <a:ext cx="4522745" cy="1491399"/>
          </a:xfrm>
          <a:prstGeom prst="roundRect">
            <a:avLst>
              <a:gd name="adj" fmla="val 16667"/>
            </a:avLst>
          </a:prstGeom>
          <a:noFill/>
          <a:ln w="9525" cap="flat" cmpd="sng">
            <a:solidFill>
              <a:srgbClr val="035B3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r" rtl="0">
              <a:spcBef>
                <a:spcPts val="0"/>
              </a:spcBef>
              <a:spcAft>
                <a:spcPts val="0"/>
              </a:spcAft>
              <a:buNone/>
            </a:pPr>
            <a:r>
              <a:rPr lang="en-US" sz="1200" b="1" dirty="0">
                <a:solidFill>
                  <a:srgbClr val="212167"/>
                </a:solidFill>
                <a:latin typeface="Arial"/>
                <a:ea typeface="Arial"/>
                <a:cs typeface="Arial"/>
                <a:sym typeface="Arial"/>
              </a:rPr>
              <a:t>SITE SELECTION /</a:t>
            </a:r>
          </a:p>
          <a:p>
            <a:pPr marL="0" marR="0" lvl="0" indent="0" algn="r" rtl="0">
              <a:spcBef>
                <a:spcPts val="0"/>
              </a:spcBef>
              <a:spcAft>
                <a:spcPts val="0"/>
              </a:spcAft>
              <a:buNone/>
            </a:pPr>
            <a:r>
              <a:rPr lang="en-US" sz="1200" b="1" dirty="0">
                <a:solidFill>
                  <a:srgbClr val="212167"/>
                </a:solidFill>
                <a:latin typeface="Arial"/>
                <a:ea typeface="Arial"/>
                <a:cs typeface="Arial"/>
                <a:sym typeface="Arial"/>
              </a:rPr>
              <a:t> DATA COLLECTION</a:t>
            </a:r>
            <a:endParaRPr sz="1200" b="1" dirty="0">
              <a:solidFill>
                <a:srgbClr val="212167"/>
              </a:solidFill>
              <a:latin typeface="Arial"/>
              <a:ea typeface="Arial"/>
              <a:cs typeface="Arial"/>
              <a:sym typeface="Arial"/>
            </a:endParaRPr>
          </a:p>
        </p:txBody>
      </p:sp>
      <p:grpSp>
        <p:nvGrpSpPr>
          <p:cNvPr id="17422" name="Google Shape;225;p10">
            <a:extLst>
              <a:ext uri="{FF2B5EF4-FFF2-40B4-BE49-F238E27FC236}">
                <a16:creationId xmlns:a16="http://schemas.microsoft.com/office/drawing/2014/main" id="{9185C286-FA28-BBF2-BB43-858AE06B1F85}"/>
              </a:ext>
            </a:extLst>
          </p:cNvPr>
          <p:cNvGrpSpPr/>
          <p:nvPr/>
        </p:nvGrpSpPr>
        <p:grpSpPr>
          <a:xfrm>
            <a:off x="195357" y="1239187"/>
            <a:ext cx="8071654" cy="3453582"/>
            <a:chOff x="0" y="0"/>
            <a:chExt cx="9398411" cy="4727212"/>
          </a:xfrm>
        </p:grpSpPr>
        <p:sp>
          <p:nvSpPr>
            <p:cNvPr id="17423" name="Google Shape;226;p10">
              <a:extLst>
                <a:ext uri="{FF2B5EF4-FFF2-40B4-BE49-F238E27FC236}">
                  <a16:creationId xmlns:a16="http://schemas.microsoft.com/office/drawing/2014/main" id="{95773DB2-8BD0-C8C1-57A7-CD4749990F76}"/>
                </a:ext>
              </a:extLst>
            </p:cNvPr>
            <p:cNvSpPr/>
            <p:nvPr/>
          </p:nvSpPr>
          <p:spPr>
            <a:xfrm rot="5400000">
              <a:off x="654723" y="653803"/>
              <a:ext cx="59226" cy="67427"/>
            </a:xfrm>
            <a:prstGeom prst="bentUpArrow">
              <a:avLst>
                <a:gd name="adj1" fmla="val 32840"/>
                <a:gd name="adj2" fmla="val 25000"/>
                <a:gd name="adj3" fmla="val 35780"/>
              </a:avLst>
            </a:prstGeom>
            <a:solidFill>
              <a:srgbClr val="BAC3B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4" name="Google Shape;227;p10">
              <a:extLst>
                <a:ext uri="{FF2B5EF4-FFF2-40B4-BE49-F238E27FC236}">
                  <a16:creationId xmlns:a16="http://schemas.microsoft.com/office/drawing/2014/main" id="{8FE3865F-9771-5183-E2E8-3D3DC1EC9972}"/>
                </a:ext>
              </a:extLst>
            </p:cNvPr>
            <p:cNvSpPr/>
            <p:nvPr/>
          </p:nvSpPr>
          <p:spPr>
            <a:xfrm>
              <a:off x="0" y="0"/>
              <a:ext cx="1657287" cy="478414"/>
            </a:xfrm>
            <a:prstGeom prst="roundRect">
              <a:avLst>
                <a:gd name="adj" fmla="val 16670"/>
              </a:avLst>
            </a:prstGeom>
            <a:solidFill>
              <a:srgbClr val="045C3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5" name="Google Shape;228;p10">
              <a:extLst>
                <a:ext uri="{FF2B5EF4-FFF2-40B4-BE49-F238E27FC236}">
                  <a16:creationId xmlns:a16="http://schemas.microsoft.com/office/drawing/2014/main" id="{6B4D3941-45C3-A2EB-6C69-CE2C2A524806}"/>
                </a:ext>
              </a:extLst>
            </p:cNvPr>
            <p:cNvSpPr txBox="1"/>
            <p:nvPr/>
          </p:nvSpPr>
          <p:spPr>
            <a:xfrm>
              <a:off x="23358" y="23358"/>
              <a:ext cx="1610571" cy="431698"/>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1: </a:t>
              </a:r>
              <a:r>
                <a:rPr lang="en-US" sz="800" dirty="0">
                  <a:solidFill>
                    <a:schemeClr val="lt1"/>
                  </a:solidFill>
                  <a:latin typeface="Arial"/>
                  <a:ea typeface="Arial"/>
                  <a:cs typeface="Arial"/>
                  <a:sym typeface="Arial"/>
                </a:rPr>
                <a:t>Consult SFEI experts to determine key calibration parameters.</a:t>
              </a:r>
              <a:endParaRPr sz="800" dirty="0"/>
            </a:p>
          </p:txBody>
        </p:sp>
        <p:sp>
          <p:nvSpPr>
            <p:cNvPr id="17426" name="Google Shape;229;p10">
              <a:extLst>
                <a:ext uri="{FF2B5EF4-FFF2-40B4-BE49-F238E27FC236}">
                  <a16:creationId xmlns:a16="http://schemas.microsoft.com/office/drawing/2014/main" id="{83C8E835-251E-90B4-D629-4A32E8563995}"/>
                </a:ext>
              </a:extLst>
            </p:cNvPr>
            <p:cNvSpPr/>
            <p:nvPr/>
          </p:nvSpPr>
          <p:spPr>
            <a:xfrm>
              <a:off x="879719" y="573634"/>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7" name="Google Shape;230;p10">
              <a:extLst>
                <a:ext uri="{FF2B5EF4-FFF2-40B4-BE49-F238E27FC236}">
                  <a16:creationId xmlns:a16="http://schemas.microsoft.com/office/drawing/2014/main" id="{A43F4E0D-8DEC-9CA0-5C07-B0302AAFFB5D}"/>
                </a:ext>
              </a:extLst>
            </p:cNvPr>
            <p:cNvSpPr/>
            <p:nvPr/>
          </p:nvSpPr>
          <p:spPr>
            <a:xfrm rot="5400000">
              <a:off x="1714279" y="1053921"/>
              <a:ext cx="59226" cy="67427"/>
            </a:xfrm>
            <a:prstGeom prst="bentUpArrow">
              <a:avLst>
                <a:gd name="adj1" fmla="val 32840"/>
                <a:gd name="adj2" fmla="val 25000"/>
                <a:gd name="adj3" fmla="val 35780"/>
              </a:avLst>
            </a:prstGeom>
            <a:solidFill>
              <a:srgbClr val="BECAC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8" name="Google Shape;231;p10">
              <a:extLst>
                <a:ext uri="{FF2B5EF4-FFF2-40B4-BE49-F238E27FC236}">
                  <a16:creationId xmlns:a16="http://schemas.microsoft.com/office/drawing/2014/main" id="{9F3976AF-BD7C-3AD1-8D36-D401663F3661}"/>
                </a:ext>
              </a:extLst>
            </p:cNvPr>
            <p:cNvSpPr/>
            <p:nvPr/>
          </p:nvSpPr>
          <p:spPr>
            <a:xfrm>
              <a:off x="598556" y="521820"/>
              <a:ext cx="1903433" cy="465334"/>
            </a:xfrm>
            <a:prstGeom prst="roundRect">
              <a:avLst>
                <a:gd name="adj" fmla="val 16670"/>
              </a:avLst>
            </a:prstGeom>
            <a:solidFill>
              <a:srgbClr val="0A794F"/>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9" name="Google Shape;232;p10">
              <a:extLst>
                <a:ext uri="{FF2B5EF4-FFF2-40B4-BE49-F238E27FC236}">
                  <a16:creationId xmlns:a16="http://schemas.microsoft.com/office/drawing/2014/main" id="{B74170EB-0021-D1C9-8AE5-640EE1EF5053}"/>
                </a:ext>
              </a:extLst>
            </p:cNvPr>
            <p:cNvSpPr txBox="1"/>
            <p:nvPr/>
          </p:nvSpPr>
          <p:spPr>
            <a:xfrm>
              <a:off x="621276" y="544540"/>
              <a:ext cx="1857993" cy="419894"/>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2: </a:t>
              </a:r>
              <a:r>
                <a:rPr lang="en-US" sz="800" b="0" dirty="0">
                  <a:solidFill>
                    <a:schemeClr val="lt1"/>
                  </a:solidFill>
                  <a:latin typeface="Arial"/>
                  <a:ea typeface="Arial"/>
                  <a:cs typeface="Arial"/>
                  <a:sym typeface="Arial"/>
                </a:rPr>
                <a:t>Select benchmark /  reference and restoration marsh sites</a:t>
              </a:r>
              <a:endParaRPr sz="800" b="1" dirty="0">
                <a:solidFill>
                  <a:schemeClr val="lt1"/>
                </a:solidFill>
                <a:latin typeface="Arial"/>
                <a:ea typeface="Arial"/>
                <a:cs typeface="Arial"/>
                <a:sym typeface="Arial"/>
              </a:endParaRPr>
            </a:p>
          </p:txBody>
        </p:sp>
        <p:sp>
          <p:nvSpPr>
            <p:cNvPr id="17430" name="Google Shape;233;p10">
              <a:extLst>
                <a:ext uri="{FF2B5EF4-FFF2-40B4-BE49-F238E27FC236}">
                  <a16:creationId xmlns:a16="http://schemas.microsoft.com/office/drawing/2014/main" id="{2B2C4A1B-1726-8A6D-BCC8-C8BF94740162}"/>
                </a:ext>
              </a:extLst>
            </p:cNvPr>
            <p:cNvSpPr/>
            <p:nvPr/>
          </p:nvSpPr>
          <p:spPr>
            <a:xfrm>
              <a:off x="1798290" y="994924"/>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1" name="Google Shape;234;p10">
              <a:extLst>
                <a:ext uri="{FF2B5EF4-FFF2-40B4-BE49-F238E27FC236}">
                  <a16:creationId xmlns:a16="http://schemas.microsoft.com/office/drawing/2014/main" id="{F6085729-DBB0-3B73-490C-4B708223B25B}"/>
                </a:ext>
              </a:extLst>
            </p:cNvPr>
            <p:cNvSpPr/>
            <p:nvPr/>
          </p:nvSpPr>
          <p:spPr>
            <a:xfrm rot="5400000">
              <a:off x="2171132" y="1459491"/>
              <a:ext cx="59226" cy="67427"/>
            </a:xfrm>
            <a:prstGeom prst="bentUpArrow">
              <a:avLst>
                <a:gd name="adj1" fmla="val 32840"/>
                <a:gd name="adj2" fmla="val 25000"/>
                <a:gd name="adj3" fmla="val 35780"/>
              </a:avLst>
            </a:prstGeom>
            <a:solidFill>
              <a:srgbClr val="C3D2C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2" name="Google Shape;235;p10">
              <a:extLst>
                <a:ext uri="{FF2B5EF4-FFF2-40B4-BE49-F238E27FC236}">
                  <a16:creationId xmlns:a16="http://schemas.microsoft.com/office/drawing/2014/main" id="{5BC97469-9593-BC9E-6A34-F5188ECF3A53}"/>
                </a:ext>
              </a:extLst>
            </p:cNvPr>
            <p:cNvSpPr/>
            <p:nvPr/>
          </p:nvSpPr>
          <p:spPr>
            <a:xfrm>
              <a:off x="2281999" y="1529893"/>
              <a:ext cx="1226143" cy="446975"/>
            </a:xfrm>
            <a:prstGeom prst="roundRect">
              <a:avLst>
                <a:gd name="adj" fmla="val 16670"/>
              </a:avLst>
            </a:prstGeom>
            <a:solidFill>
              <a:srgbClr val="11976B"/>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3" name="Google Shape;236;p10">
              <a:extLst>
                <a:ext uri="{FF2B5EF4-FFF2-40B4-BE49-F238E27FC236}">
                  <a16:creationId xmlns:a16="http://schemas.microsoft.com/office/drawing/2014/main" id="{10146326-C7FD-AACB-E371-3545DF515A94}"/>
                </a:ext>
              </a:extLst>
            </p:cNvPr>
            <p:cNvSpPr txBox="1"/>
            <p:nvPr/>
          </p:nvSpPr>
          <p:spPr>
            <a:xfrm>
              <a:off x="2303822" y="1551716"/>
              <a:ext cx="1182497" cy="403329"/>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4:</a:t>
              </a:r>
              <a:r>
                <a:rPr lang="en-US" sz="800" b="0" dirty="0">
                  <a:solidFill>
                    <a:schemeClr val="lt1"/>
                  </a:solidFill>
                  <a:latin typeface="Arial"/>
                  <a:ea typeface="Arial"/>
                  <a:cs typeface="Arial"/>
                  <a:sym typeface="Arial"/>
                </a:rPr>
                <a:t> Collect data if necessary </a:t>
              </a:r>
              <a:endParaRPr sz="800" b="1" dirty="0">
                <a:solidFill>
                  <a:schemeClr val="lt1"/>
                </a:solidFill>
                <a:latin typeface="Arial"/>
                <a:ea typeface="Arial"/>
                <a:cs typeface="Arial"/>
                <a:sym typeface="Arial"/>
              </a:endParaRPr>
            </a:p>
          </p:txBody>
        </p:sp>
        <p:sp>
          <p:nvSpPr>
            <p:cNvPr id="17434" name="Google Shape;237;p10">
              <a:extLst>
                <a:ext uri="{FF2B5EF4-FFF2-40B4-BE49-F238E27FC236}">
                  <a16:creationId xmlns:a16="http://schemas.microsoft.com/office/drawing/2014/main" id="{E86B8BCC-6CC9-2BF6-E66F-E1CC07F06584}"/>
                </a:ext>
              </a:extLst>
            </p:cNvPr>
            <p:cNvSpPr/>
            <p:nvPr/>
          </p:nvSpPr>
          <p:spPr>
            <a:xfrm>
              <a:off x="2255143" y="1400493"/>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5" name="Google Shape;238;p10">
              <a:extLst>
                <a:ext uri="{FF2B5EF4-FFF2-40B4-BE49-F238E27FC236}">
                  <a16:creationId xmlns:a16="http://schemas.microsoft.com/office/drawing/2014/main" id="{33A2E53F-06D7-E58D-76DB-40BC2F2B10BC}"/>
                </a:ext>
              </a:extLst>
            </p:cNvPr>
            <p:cNvSpPr/>
            <p:nvPr/>
          </p:nvSpPr>
          <p:spPr>
            <a:xfrm rot="5400000">
              <a:off x="4887079" y="1350392"/>
              <a:ext cx="59226" cy="67427"/>
            </a:xfrm>
            <a:prstGeom prst="bentUpArrow">
              <a:avLst>
                <a:gd name="adj1" fmla="val 32840"/>
                <a:gd name="adj2" fmla="val 25000"/>
                <a:gd name="adj3" fmla="val 35780"/>
              </a:avLst>
            </a:prstGeom>
            <a:solidFill>
              <a:srgbClr val="C9D9D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6" name="Google Shape;239;p10">
              <a:extLst>
                <a:ext uri="{FF2B5EF4-FFF2-40B4-BE49-F238E27FC236}">
                  <a16:creationId xmlns:a16="http://schemas.microsoft.com/office/drawing/2014/main" id="{8D424DF3-BC22-E724-CE2E-5CC0242494F0}"/>
                </a:ext>
              </a:extLst>
            </p:cNvPr>
            <p:cNvSpPr/>
            <p:nvPr/>
          </p:nvSpPr>
          <p:spPr>
            <a:xfrm>
              <a:off x="2792350" y="2007475"/>
              <a:ext cx="1780539" cy="397886"/>
            </a:xfrm>
            <a:prstGeom prst="roundRect">
              <a:avLst>
                <a:gd name="adj" fmla="val 16670"/>
              </a:avLst>
            </a:prstGeom>
            <a:solidFill>
              <a:srgbClr val="19B38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7" name="Google Shape;240;p10">
              <a:extLst>
                <a:ext uri="{FF2B5EF4-FFF2-40B4-BE49-F238E27FC236}">
                  <a16:creationId xmlns:a16="http://schemas.microsoft.com/office/drawing/2014/main" id="{A82773B8-6560-4021-F684-0730060D6372}"/>
                </a:ext>
              </a:extLst>
            </p:cNvPr>
            <p:cNvSpPr txBox="1"/>
            <p:nvPr/>
          </p:nvSpPr>
          <p:spPr>
            <a:xfrm>
              <a:off x="2811777" y="2026902"/>
              <a:ext cx="1741685" cy="359032"/>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5</a:t>
              </a:r>
              <a:r>
                <a:rPr lang="en-US" sz="800" b="0" dirty="0">
                  <a:solidFill>
                    <a:schemeClr val="lt1"/>
                  </a:solidFill>
                  <a:latin typeface="Arial"/>
                  <a:ea typeface="Arial"/>
                  <a:cs typeface="Arial"/>
                  <a:sym typeface="Arial"/>
                </a:rPr>
                <a:t>:</a:t>
              </a:r>
              <a:r>
                <a:rPr lang="en-US" sz="800" b="1" dirty="0">
                  <a:solidFill>
                    <a:schemeClr val="lt1"/>
                  </a:solidFill>
                  <a:latin typeface="Arial"/>
                  <a:ea typeface="Arial"/>
                  <a:cs typeface="Arial"/>
                  <a:sym typeface="Arial"/>
                </a:rPr>
                <a:t> </a:t>
              </a:r>
              <a:r>
                <a:rPr lang="en-US" sz="800" b="0" dirty="0">
                  <a:solidFill>
                    <a:schemeClr val="lt1"/>
                  </a:solidFill>
                  <a:latin typeface="Arial"/>
                  <a:ea typeface="Arial"/>
                  <a:cs typeface="Arial"/>
                  <a:sym typeface="Arial"/>
                </a:rPr>
                <a:t>Calibrate and validate model</a:t>
              </a:r>
              <a:endParaRPr sz="800" dirty="0"/>
            </a:p>
          </p:txBody>
        </p:sp>
        <p:sp>
          <p:nvSpPr>
            <p:cNvPr id="17438" name="Google Shape;241;p10">
              <a:extLst>
                <a:ext uri="{FF2B5EF4-FFF2-40B4-BE49-F238E27FC236}">
                  <a16:creationId xmlns:a16="http://schemas.microsoft.com/office/drawing/2014/main" id="{01B771D4-80AE-9D0E-A4A9-A8052E04DE9D}"/>
                </a:ext>
              </a:extLst>
            </p:cNvPr>
            <p:cNvSpPr/>
            <p:nvPr/>
          </p:nvSpPr>
          <p:spPr>
            <a:xfrm>
              <a:off x="3327839" y="1772339"/>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9" name="Google Shape;242;p10">
              <a:extLst>
                <a:ext uri="{FF2B5EF4-FFF2-40B4-BE49-F238E27FC236}">
                  <a16:creationId xmlns:a16="http://schemas.microsoft.com/office/drawing/2014/main" id="{0D01535B-E579-51B8-76C6-7AE0269894F4}"/>
                </a:ext>
              </a:extLst>
            </p:cNvPr>
            <p:cNvSpPr/>
            <p:nvPr/>
          </p:nvSpPr>
          <p:spPr>
            <a:xfrm rot="5400000">
              <a:off x="151557" y="442334"/>
              <a:ext cx="414554" cy="487213"/>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0" name="Google Shape;243;p10">
              <a:extLst>
                <a:ext uri="{FF2B5EF4-FFF2-40B4-BE49-F238E27FC236}">
                  <a16:creationId xmlns:a16="http://schemas.microsoft.com/office/drawing/2014/main" id="{B9C101BC-7D7B-942E-81BE-8CEEDB19FDEE}"/>
                </a:ext>
              </a:extLst>
            </p:cNvPr>
            <p:cNvSpPr/>
            <p:nvPr/>
          </p:nvSpPr>
          <p:spPr>
            <a:xfrm>
              <a:off x="1577544" y="1013969"/>
              <a:ext cx="1503696" cy="474888"/>
            </a:xfrm>
            <a:prstGeom prst="roundRect">
              <a:avLst>
                <a:gd name="adj" fmla="val 16670"/>
              </a:avLst>
            </a:prstGeom>
            <a:solidFill>
              <a:srgbClr val="25CBA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1" name="Google Shape;244;p10">
              <a:extLst>
                <a:ext uri="{FF2B5EF4-FFF2-40B4-BE49-F238E27FC236}">
                  <a16:creationId xmlns:a16="http://schemas.microsoft.com/office/drawing/2014/main" id="{227E38CB-2309-80E6-F7F9-856D84BFAFB7}"/>
                </a:ext>
              </a:extLst>
            </p:cNvPr>
            <p:cNvSpPr txBox="1"/>
            <p:nvPr/>
          </p:nvSpPr>
          <p:spPr>
            <a:xfrm>
              <a:off x="1600730" y="1037155"/>
              <a:ext cx="1457324" cy="428516"/>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3:</a:t>
              </a:r>
              <a:r>
                <a:rPr lang="en-US" sz="800" b="0" dirty="0">
                  <a:solidFill>
                    <a:schemeClr val="lt1"/>
                  </a:solidFill>
                  <a:latin typeface="Arial"/>
                  <a:ea typeface="Arial"/>
                  <a:cs typeface="Arial"/>
                  <a:sym typeface="Arial"/>
                </a:rPr>
                <a:t> Evaluate if additional data collection needed</a:t>
              </a:r>
              <a:r>
                <a:rPr lang="en-US" sz="800" b="1" dirty="0">
                  <a:solidFill>
                    <a:schemeClr val="lt1"/>
                  </a:solidFill>
                  <a:latin typeface="Arial"/>
                  <a:ea typeface="Arial"/>
                  <a:cs typeface="Arial"/>
                  <a:sym typeface="Arial"/>
                </a:rPr>
                <a:t> </a:t>
              </a:r>
              <a:r>
                <a:rPr lang="en-US" sz="800" b="0" dirty="0">
                  <a:solidFill>
                    <a:schemeClr val="lt1"/>
                  </a:solidFill>
                  <a:latin typeface="Arial"/>
                  <a:ea typeface="Arial"/>
                  <a:cs typeface="Arial"/>
                  <a:sym typeface="Arial"/>
                </a:rPr>
                <a:t> </a:t>
              </a:r>
              <a:endParaRPr sz="800" b="1" dirty="0">
                <a:solidFill>
                  <a:schemeClr val="lt1"/>
                </a:solidFill>
                <a:latin typeface="Arial"/>
                <a:ea typeface="Arial"/>
                <a:cs typeface="Arial"/>
                <a:sym typeface="Arial"/>
              </a:endParaRPr>
            </a:p>
          </p:txBody>
        </p:sp>
        <p:sp>
          <p:nvSpPr>
            <p:cNvPr id="17442" name="Google Shape;245;p10">
              <a:extLst>
                <a:ext uri="{FF2B5EF4-FFF2-40B4-BE49-F238E27FC236}">
                  <a16:creationId xmlns:a16="http://schemas.microsoft.com/office/drawing/2014/main" id="{D5BFA3E7-D4DE-4C2B-18A2-0D714A57F085}"/>
                </a:ext>
              </a:extLst>
            </p:cNvPr>
            <p:cNvSpPr/>
            <p:nvPr/>
          </p:nvSpPr>
          <p:spPr>
            <a:xfrm>
              <a:off x="3984916" y="2158142"/>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3" name="Google Shape;246;p10">
              <a:extLst>
                <a:ext uri="{FF2B5EF4-FFF2-40B4-BE49-F238E27FC236}">
                  <a16:creationId xmlns:a16="http://schemas.microsoft.com/office/drawing/2014/main" id="{3D665E2F-5343-0F74-09CD-56AAC5762B21}"/>
                </a:ext>
              </a:extLst>
            </p:cNvPr>
            <p:cNvSpPr/>
            <p:nvPr/>
          </p:nvSpPr>
          <p:spPr>
            <a:xfrm rot="5400000">
              <a:off x="4634786" y="2677712"/>
              <a:ext cx="59226" cy="67427"/>
            </a:xfrm>
            <a:prstGeom prst="bentUpArrow">
              <a:avLst>
                <a:gd name="adj1" fmla="val 32840"/>
                <a:gd name="adj2" fmla="val 25000"/>
                <a:gd name="adj3" fmla="val 35780"/>
              </a:avLst>
            </a:prstGeom>
            <a:solidFill>
              <a:srgbClr val="D6E6E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4" name="Google Shape;247;p10">
              <a:extLst>
                <a:ext uri="{FF2B5EF4-FFF2-40B4-BE49-F238E27FC236}">
                  <a16:creationId xmlns:a16="http://schemas.microsoft.com/office/drawing/2014/main" id="{0954D3FC-66A1-C8E9-646F-D2C98EE41E94}"/>
                </a:ext>
              </a:extLst>
            </p:cNvPr>
            <p:cNvSpPr/>
            <p:nvPr/>
          </p:nvSpPr>
          <p:spPr>
            <a:xfrm>
              <a:off x="3565810" y="2424748"/>
              <a:ext cx="1380462" cy="478814"/>
            </a:xfrm>
            <a:prstGeom prst="roundRect">
              <a:avLst>
                <a:gd name="adj" fmla="val 16670"/>
              </a:avLst>
            </a:prstGeom>
            <a:solidFill>
              <a:srgbClr val="3ED5BB"/>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5" name="Google Shape;248;p10">
              <a:extLst>
                <a:ext uri="{FF2B5EF4-FFF2-40B4-BE49-F238E27FC236}">
                  <a16:creationId xmlns:a16="http://schemas.microsoft.com/office/drawing/2014/main" id="{215B3598-A879-E3E6-BC09-9706511C4168}"/>
                </a:ext>
              </a:extLst>
            </p:cNvPr>
            <p:cNvSpPr txBox="1"/>
            <p:nvPr/>
          </p:nvSpPr>
          <p:spPr>
            <a:xfrm>
              <a:off x="3589188" y="2448126"/>
              <a:ext cx="1333706" cy="432058"/>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a:solidFill>
                    <a:schemeClr val="lt1"/>
                  </a:solidFill>
                  <a:latin typeface="Arial"/>
                  <a:ea typeface="Arial"/>
                  <a:cs typeface="Arial"/>
                  <a:sym typeface="Arial"/>
                </a:rPr>
                <a:t>Task 6:</a:t>
              </a:r>
              <a:r>
                <a:rPr lang="en-US" sz="800" b="0">
                  <a:solidFill>
                    <a:schemeClr val="lt1"/>
                  </a:solidFill>
                  <a:latin typeface="Arial"/>
                  <a:ea typeface="Arial"/>
                  <a:cs typeface="Arial"/>
                  <a:sym typeface="Arial"/>
                </a:rPr>
                <a:t> Simulation (historic conditions)</a:t>
              </a:r>
              <a:endParaRPr sz="800" b="1">
                <a:solidFill>
                  <a:schemeClr val="lt1"/>
                </a:solidFill>
                <a:latin typeface="Arial"/>
                <a:ea typeface="Arial"/>
                <a:cs typeface="Arial"/>
                <a:sym typeface="Arial"/>
              </a:endParaRPr>
            </a:p>
          </p:txBody>
        </p:sp>
        <p:sp>
          <p:nvSpPr>
            <p:cNvPr id="17446" name="Google Shape;249;p10">
              <a:extLst>
                <a:ext uri="{FF2B5EF4-FFF2-40B4-BE49-F238E27FC236}">
                  <a16:creationId xmlns:a16="http://schemas.microsoft.com/office/drawing/2014/main" id="{1FC1BD79-F8A7-7F39-9EAC-C0BC77B084CA}"/>
                </a:ext>
              </a:extLst>
            </p:cNvPr>
            <p:cNvSpPr/>
            <p:nvPr/>
          </p:nvSpPr>
          <p:spPr>
            <a:xfrm>
              <a:off x="4718797" y="2618714"/>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7" name="Google Shape;250;p10">
              <a:extLst>
                <a:ext uri="{FF2B5EF4-FFF2-40B4-BE49-F238E27FC236}">
                  <a16:creationId xmlns:a16="http://schemas.microsoft.com/office/drawing/2014/main" id="{75B50D44-EDBE-3C6A-365B-F3897049C424}"/>
                </a:ext>
              </a:extLst>
            </p:cNvPr>
            <p:cNvSpPr/>
            <p:nvPr/>
          </p:nvSpPr>
          <p:spPr>
            <a:xfrm rot="5400000">
              <a:off x="5599797" y="3064294"/>
              <a:ext cx="59226" cy="67427"/>
            </a:xfrm>
            <a:prstGeom prst="bentUpArrow">
              <a:avLst>
                <a:gd name="adj1" fmla="val 32840"/>
                <a:gd name="adj2" fmla="val 25000"/>
                <a:gd name="adj3" fmla="val 35780"/>
              </a:avLst>
            </a:prstGeom>
            <a:solidFill>
              <a:srgbClr val="DDEBE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8" name="Google Shape;251;p10">
              <a:extLst>
                <a:ext uri="{FF2B5EF4-FFF2-40B4-BE49-F238E27FC236}">
                  <a16:creationId xmlns:a16="http://schemas.microsoft.com/office/drawing/2014/main" id="{531DF9FB-298B-CEF8-4A07-989774C352C9}"/>
                </a:ext>
              </a:extLst>
            </p:cNvPr>
            <p:cNvSpPr/>
            <p:nvPr/>
          </p:nvSpPr>
          <p:spPr>
            <a:xfrm>
              <a:off x="4257039" y="2948762"/>
              <a:ext cx="1719489" cy="395519"/>
            </a:xfrm>
            <a:prstGeom prst="roundRect">
              <a:avLst>
                <a:gd name="adj" fmla="val 16670"/>
              </a:avLst>
            </a:prstGeom>
            <a:solidFill>
              <a:srgbClr val="5FD8C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9" name="Google Shape;252;p10">
              <a:extLst>
                <a:ext uri="{FF2B5EF4-FFF2-40B4-BE49-F238E27FC236}">
                  <a16:creationId xmlns:a16="http://schemas.microsoft.com/office/drawing/2014/main" id="{07765996-9EC6-5D2F-B64E-95C721DBCB5F}"/>
                </a:ext>
              </a:extLst>
            </p:cNvPr>
            <p:cNvSpPr txBox="1"/>
            <p:nvPr/>
          </p:nvSpPr>
          <p:spPr>
            <a:xfrm>
              <a:off x="4276350" y="2968073"/>
              <a:ext cx="1680867" cy="35689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a:solidFill>
                    <a:schemeClr val="lt1"/>
                  </a:solidFill>
                  <a:latin typeface="Arial"/>
                  <a:ea typeface="Arial"/>
                  <a:cs typeface="Arial"/>
                  <a:sym typeface="Arial"/>
                </a:rPr>
                <a:t>Task 7: </a:t>
              </a:r>
              <a:r>
                <a:rPr lang="en-US" sz="800" b="0">
                  <a:solidFill>
                    <a:schemeClr val="lt1"/>
                  </a:solidFill>
                  <a:latin typeface="Arial"/>
                  <a:ea typeface="Arial"/>
                  <a:cs typeface="Arial"/>
                  <a:sym typeface="Arial"/>
                </a:rPr>
                <a:t>Simulation (future sea level rise scenarios) </a:t>
              </a:r>
              <a:endParaRPr sz="800" b="1">
                <a:solidFill>
                  <a:schemeClr val="lt1"/>
                </a:solidFill>
                <a:latin typeface="Arial"/>
                <a:ea typeface="Arial"/>
                <a:cs typeface="Arial"/>
                <a:sym typeface="Arial"/>
              </a:endParaRPr>
            </a:p>
          </p:txBody>
        </p:sp>
        <p:sp>
          <p:nvSpPr>
            <p:cNvPr id="17450" name="Google Shape;253;p10">
              <a:extLst>
                <a:ext uri="{FF2B5EF4-FFF2-40B4-BE49-F238E27FC236}">
                  <a16:creationId xmlns:a16="http://schemas.microsoft.com/office/drawing/2014/main" id="{600900F1-7920-D954-A6BD-CF8FF7F3AF61}"/>
                </a:ext>
              </a:extLst>
            </p:cNvPr>
            <p:cNvSpPr/>
            <p:nvPr/>
          </p:nvSpPr>
          <p:spPr>
            <a:xfrm>
              <a:off x="5683808" y="3005296"/>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1" name="Google Shape;254;p10">
              <a:extLst>
                <a:ext uri="{FF2B5EF4-FFF2-40B4-BE49-F238E27FC236}">
                  <a16:creationId xmlns:a16="http://schemas.microsoft.com/office/drawing/2014/main" id="{A9F617AE-CE7A-22E7-8D7D-B0BDF23DA454}"/>
                </a:ext>
              </a:extLst>
            </p:cNvPr>
            <p:cNvSpPr/>
            <p:nvPr/>
          </p:nvSpPr>
          <p:spPr>
            <a:xfrm rot="5400000">
              <a:off x="6404665" y="3381116"/>
              <a:ext cx="59226" cy="67427"/>
            </a:xfrm>
            <a:prstGeom prst="bentUpArrow">
              <a:avLst>
                <a:gd name="adj1" fmla="val 32840"/>
                <a:gd name="adj2" fmla="val 25000"/>
                <a:gd name="adj3" fmla="val 35780"/>
              </a:avLst>
            </a:prstGeom>
            <a:solidFill>
              <a:srgbClr val="E5F1F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2" name="Google Shape;255;p10">
              <a:extLst>
                <a:ext uri="{FF2B5EF4-FFF2-40B4-BE49-F238E27FC236}">
                  <a16:creationId xmlns:a16="http://schemas.microsoft.com/office/drawing/2014/main" id="{49CFF4F6-3B30-4140-2914-03357E33C804}"/>
                </a:ext>
              </a:extLst>
            </p:cNvPr>
            <p:cNvSpPr/>
            <p:nvPr/>
          </p:nvSpPr>
          <p:spPr>
            <a:xfrm>
              <a:off x="4818363" y="3379906"/>
              <a:ext cx="1738228" cy="339293"/>
            </a:xfrm>
            <a:prstGeom prst="roundRect">
              <a:avLst>
                <a:gd name="adj" fmla="val 16670"/>
              </a:avLst>
            </a:prstGeom>
            <a:solidFill>
              <a:srgbClr val="7FDBD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3" name="Google Shape;256;p10">
              <a:extLst>
                <a:ext uri="{FF2B5EF4-FFF2-40B4-BE49-F238E27FC236}">
                  <a16:creationId xmlns:a16="http://schemas.microsoft.com/office/drawing/2014/main" id="{2079EB76-9AEE-ABAC-C8DB-A575007256B4}"/>
                </a:ext>
              </a:extLst>
            </p:cNvPr>
            <p:cNvSpPr txBox="1"/>
            <p:nvPr/>
          </p:nvSpPr>
          <p:spPr>
            <a:xfrm>
              <a:off x="4834929" y="3396472"/>
              <a:ext cx="1705096" cy="306161"/>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a:solidFill>
                    <a:schemeClr val="lt1"/>
                  </a:solidFill>
                  <a:latin typeface="Arial"/>
                  <a:ea typeface="Arial"/>
                  <a:cs typeface="Arial"/>
                  <a:sym typeface="Arial"/>
                </a:rPr>
                <a:t>Task 8:</a:t>
              </a:r>
              <a:r>
                <a:rPr lang="en-US" sz="800" b="0">
                  <a:solidFill>
                    <a:schemeClr val="lt1"/>
                  </a:solidFill>
                  <a:latin typeface="Arial"/>
                  <a:ea typeface="Arial"/>
                  <a:cs typeface="Arial"/>
                  <a:sym typeface="Arial"/>
                </a:rPr>
                <a:t> Analyze outputs</a:t>
              </a:r>
              <a:endParaRPr sz="800" b="1">
                <a:solidFill>
                  <a:schemeClr val="lt1"/>
                </a:solidFill>
                <a:latin typeface="Arial"/>
                <a:ea typeface="Arial"/>
                <a:cs typeface="Arial"/>
                <a:sym typeface="Arial"/>
              </a:endParaRPr>
            </a:p>
          </p:txBody>
        </p:sp>
        <p:sp>
          <p:nvSpPr>
            <p:cNvPr id="17454" name="Google Shape;257;p10">
              <a:extLst>
                <a:ext uri="{FF2B5EF4-FFF2-40B4-BE49-F238E27FC236}">
                  <a16:creationId xmlns:a16="http://schemas.microsoft.com/office/drawing/2014/main" id="{54BC3CE3-B4A3-40DF-F322-7AC089D95253}"/>
                </a:ext>
              </a:extLst>
            </p:cNvPr>
            <p:cNvSpPr/>
            <p:nvPr/>
          </p:nvSpPr>
          <p:spPr>
            <a:xfrm>
              <a:off x="6488676" y="3322118"/>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5" name="Google Shape;258;p10">
              <a:extLst>
                <a:ext uri="{FF2B5EF4-FFF2-40B4-BE49-F238E27FC236}">
                  <a16:creationId xmlns:a16="http://schemas.microsoft.com/office/drawing/2014/main" id="{5D6C28B4-8C90-ECD1-382A-B889029F8B2D}"/>
                </a:ext>
              </a:extLst>
            </p:cNvPr>
            <p:cNvSpPr/>
            <p:nvPr/>
          </p:nvSpPr>
          <p:spPr>
            <a:xfrm rot="5400000">
              <a:off x="7007595" y="3731775"/>
              <a:ext cx="59226" cy="67427"/>
            </a:xfrm>
            <a:prstGeom prst="bentUpArrow">
              <a:avLst>
                <a:gd name="adj1" fmla="val 32840"/>
                <a:gd name="adj2" fmla="val 25000"/>
                <a:gd name="adj3" fmla="val 35780"/>
              </a:avLst>
            </a:prstGeom>
            <a:solidFill>
              <a:srgbClr val="EDF6F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6" name="Google Shape;259;p10">
              <a:extLst>
                <a:ext uri="{FF2B5EF4-FFF2-40B4-BE49-F238E27FC236}">
                  <a16:creationId xmlns:a16="http://schemas.microsoft.com/office/drawing/2014/main" id="{9CB4EC3C-BE88-8BC0-96F9-E561E2628248}"/>
                </a:ext>
              </a:extLst>
            </p:cNvPr>
            <p:cNvSpPr/>
            <p:nvPr/>
          </p:nvSpPr>
          <p:spPr>
            <a:xfrm>
              <a:off x="5696308" y="3767046"/>
              <a:ext cx="1353092" cy="463194"/>
            </a:xfrm>
            <a:prstGeom prst="roundRect">
              <a:avLst>
                <a:gd name="adj" fmla="val 16670"/>
              </a:avLst>
            </a:prstGeom>
            <a:solidFill>
              <a:srgbClr val="9FDFDF"/>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7" name="Google Shape;260;p10">
              <a:extLst>
                <a:ext uri="{FF2B5EF4-FFF2-40B4-BE49-F238E27FC236}">
                  <a16:creationId xmlns:a16="http://schemas.microsoft.com/office/drawing/2014/main" id="{9F6A539A-731F-8845-0F25-86ACA61D7CC7}"/>
                </a:ext>
              </a:extLst>
            </p:cNvPr>
            <p:cNvSpPr txBox="1"/>
            <p:nvPr/>
          </p:nvSpPr>
          <p:spPr>
            <a:xfrm>
              <a:off x="5718923" y="3789661"/>
              <a:ext cx="1307862" cy="417964"/>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rgbClr val="212167"/>
                </a:buClr>
                <a:buSzPts val="1050"/>
                <a:buFont typeface="Arial"/>
                <a:buNone/>
              </a:pPr>
              <a:r>
                <a:rPr lang="en-US" sz="800" b="1">
                  <a:solidFill>
                    <a:srgbClr val="212167"/>
                  </a:solidFill>
                  <a:latin typeface="Arial"/>
                  <a:ea typeface="Arial"/>
                  <a:cs typeface="Arial"/>
                  <a:sym typeface="Arial"/>
                </a:rPr>
                <a:t>Task 9:</a:t>
              </a:r>
              <a:r>
                <a:rPr lang="en-US" sz="800" b="0">
                  <a:solidFill>
                    <a:srgbClr val="212167"/>
                  </a:solidFill>
                  <a:latin typeface="Arial"/>
                  <a:ea typeface="Arial"/>
                  <a:cs typeface="Arial"/>
                  <a:sym typeface="Arial"/>
                </a:rPr>
                <a:t> Design framework recommendations</a:t>
              </a:r>
              <a:endParaRPr sz="800" b="1">
                <a:solidFill>
                  <a:srgbClr val="212167"/>
                </a:solidFill>
                <a:latin typeface="Arial"/>
                <a:ea typeface="Arial"/>
                <a:cs typeface="Arial"/>
                <a:sym typeface="Arial"/>
              </a:endParaRPr>
            </a:p>
          </p:txBody>
        </p:sp>
        <p:sp>
          <p:nvSpPr>
            <p:cNvPr id="17458" name="Google Shape;261;p10">
              <a:extLst>
                <a:ext uri="{FF2B5EF4-FFF2-40B4-BE49-F238E27FC236}">
                  <a16:creationId xmlns:a16="http://schemas.microsoft.com/office/drawing/2014/main" id="{D216E58B-AFF1-8101-EFF6-D43BA162350C}"/>
                </a:ext>
              </a:extLst>
            </p:cNvPr>
            <p:cNvSpPr/>
            <p:nvPr/>
          </p:nvSpPr>
          <p:spPr>
            <a:xfrm>
              <a:off x="7091606" y="3672777"/>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9" name="Google Shape;262;p10">
              <a:extLst>
                <a:ext uri="{FF2B5EF4-FFF2-40B4-BE49-F238E27FC236}">
                  <a16:creationId xmlns:a16="http://schemas.microsoft.com/office/drawing/2014/main" id="{B57F66F4-2685-BA69-98C6-278FDA523BF5}"/>
                </a:ext>
              </a:extLst>
            </p:cNvPr>
            <p:cNvSpPr/>
            <p:nvPr/>
          </p:nvSpPr>
          <p:spPr>
            <a:xfrm rot="5400000">
              <a:off x="7843460" y="4091133"/>
              <a:ext cx="59226" cy="67427"/>
            </a:xfrm>
            <a:prstGeom prst="bentUpArrow">
              <a:avLst>
                <a:gd name="adj1" fmla="val 32840"/>
                <a:gd name="adj2" fmla="val 25000"/>
                <a:gd name="adj3" fmla="val 35780"/>
              </a:avLst>
            </a:prstGeom>
            <a:solidFill>
              <a:srgbClr val="F5FAF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0" name="Google Shape;263;p10">
              <a:extLst>
                <a:ext uri="{FF2B5EF4-FFF2-40B4-BE49-F238E27FC236}">
                  <a16:creationId xmlns:a16="http://schemas.microsoft.com/office/drawing/2014/main" id="{D3CDDF1F-340C-7741-85C1-91AD93B1B545}"/>
                </a:ext>
              </a:extLst>
            </p:cNvPr>
            <p:cNvSpPr/>
            <p:nvPr/>
          </p:nvSpPr>
          <p:spPr>
            <a:xfrm>
              <a:off x="6507854" y="4243411"/>
              <a:ext cx="1433826" cy="467639"/>
            </a:xfrm>
            <a:prstGeom prst="roundRect">
              <a:avLst>
                <a:gd name="adj" fmla="val 16670"/>
              </a:avLst>
            </a:prstGeom>
            <a:solidFill>
              <a:srgbClr val="BCE4E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1" name="Google Shape;264;p10">
              <a:extLst>
                <a:ext uri="{FF2B5EF4-FFF2-40B4-BE49-F238E27FC236}">
                  <a16:creationId xmlns:a16="http://schemas.microsoft.com/office/drawing/2014/main" id="{84BF2F09-2513-4172-2469-8DCF8435EBCB}"/>
                </a:ext>
              </a:extLst>
            </p:cNvPr>
            <p:cNvSpPr txBox="1"/>
            <p:nvPr/>
          </p:nvSpPr>
          <p:spPr>
            <a:xfrm>
              <a:off x="6551634" y="4240882"/>
              <a:ext cx="1398996" cy="461026"/>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rgbClr val="212167"/>
                </a:buClr>
                <a:buSzPts val="1050"/>
                <a:buFont typeface="Arial"/>
                <a:buNone/>
              </a:pPr>
              <a:r>
                <a:rPr lang="en-US" sz="800" b="1" dirty="0">
                  <a:solidFill>
                    <a:srgbClr val="212167"/>
                  </a:solidFill>
                  <a:latin typeface="Arial"/>
                  <a:ea typeface="Arial"/>
                  <a:cs typeface="Arial"/>
                  <a:sym typeface="Arial"/>
                </a:rPr>
                <a:t>Task 10:</a:t>
              </a:r>
              <a:r>
                <a:rPr lang="en-US" sz="800" b="0" dirty="0">
                  <a:solidFill>
                    <a:srgbClr val="212167"/>
                  </a:solidFill>
                  <a:latin typeface="Arial"/>
                  <a:ea typeface="Arial"/>
                  <a:cs typeface="Arial"/>
                  <a:sym typeface="Arial"/>
                </a:rPr>
                <a:t> Final ESTCP Report</a:t>
              </a:r>
              <a:endParaRPr sz="800" b="1" dirty="0">
                <a:solidFill>
                  <a:srgbClr val="212167"/>
                </a:solidFill>
                <a:latin typeface="Arial"/>
                <a:ea typeface="Arial"/>
                <a:cs typeface="Arial"/>
                <a:sym typeface="Arial"/>
              </a:endParaRPr>
            </a:p>
          </p:txBody>
        </p:sp>
        <p:sp>
          <p:nvSpPr>
            <p:cNvPr id="17462" name="Google Shape;265;p10">
              <a:extLst>
                <a:ext uri="{FF2B5EF4-FFF2-40B4-BE49-F238E27FC236}">
                  <a16:creationId xmlns:a16="http://schemas.microsoft.com/office/drawing/2014/main" id="{6A76B825-34F7-E963-0893-3C6FEADE44EB}"/>
                </a:ext>
              </a:extLst>
            </p:cNvPr>
            <p:cNvSpPr/>
            <p:nvPr/>
          </p:nvSpPr>
          <p:spPr>
            <a:xfrm>
              <a:off x="7927471" y="4032135"/>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3" name="Google Shape;266;p10">
              <a:extLst>
                <a:ext uri="{FF2B5EF4-FFF2-40B4-BE49-F238E27FC236}">
                  <a16:creationId xmlns:a16="http://schemas.microsoft.com/office/drawing/2014/main" id="{A13EB1A8-5CBF-44BA-F59F-E73FDA02F594}"/>
                </a:ext>
              </a:extLst>
            </p:cNvPr>
            <p:cNvSpPr/>
            <p:nvPr/>
          </p:nvSpPr>
          <p:spPr>
            <a:xfrm>
              <a:off x="8091805" y="4240883"/>
              <a:ext cx="1306606" cy="486329"/>
            </a:xfrm>
            <a:prstGeom prst="roundRect">
              <a:avLst>
                <a:gd name="adj" fmla="val 16670"/>
              </a:avLst>
            </a:prstGeom>
            <a:solidFill>
              <a:srgbClr val="D7ECEF"/>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4" name="Google Shape;267;p10">
              <a:extLst>
                <a:ext uri="{FF2B5EF4-FFF2-40B4-BE49-F238E27FC236}">
                  <a16:creationId xmlns:a16="http://schemas.microsoft.com/office/drawing/2014/main" id="{63377762-91AA-CB20-E539-BB0407B8CD00}"/>
                </a:ext>
              </a:extLst>
            </p:cNvPr>
            <p:cNvSpPr txBox="1"/>
            <p:nvPr/>
          </p:nvSpPr>
          <p:spPr>
            <a:xfrm>
              <a:off x="8158764" y="4283434"/>
              <a:ext cx="1239646" cy="401227"/>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rgbClr val="212167"/>
                </a:buClr>
                <a:buSzPts val="1050"/>
                <a:buFont typeface="Arial"/>
                <a:buNone/>
              </a:pPr>
              <a:r>
                <a:rPr lang="en-US" sz="800" b="1" dirty="0">
                  <a:solidFill>
                    <a:srgbClr val="212167"/>
                  </a:solidFill>
                  <a:latin typeface="Arial"/>
                  <a:ea typeface="Arial"/>
                  <a:cs typeface="Arial"/>
                  <a:sym typeface="Arial"/>
                </a:rPr>
                <a:t>Task 11:</a:t>
              </a:r>
              <a:r>
                <a:rPr lang="en-US" sz="800" b="0" dirty="0">
                  <a:solidFill>
                    <a:srgbClr val="212167"/>
                  </a:solidFill>
                  <a:latin typeface="Arial"/>
                  <a:ea typeface="Arial"/>
                  <a:cs typeface="Arial"/>
                  <a:sym typeface="Arial"/>
                </a:rPr>
                <a:t> Technology Transfer</a:t>
              </a:r>
              <a:endParaRPr sz="800" b="1" dirty="0">
                <a:solidFill>
                  <a:srgbClr val="212167"/>
                </a:solidFill>
                <a:latin typeface="Arial"/>
                <a:ea typeface="Arial"/>
                <a:cs typeface="Arial"/>
                <a:sym typeface="Arial"/>
              </a:endParaRPr>
            </a:p>
          </p:txBody>
        </p:sp>
      </p:grpSp>
      <p:sp>
        <p:nvSpPr>
          <p:cNvPr id="17465" name="Google Shape;268;p10">
            <a:extLst>
              <a:ext uri="{FF2B5EF4-FFF2-40B4-BE49-F238E27FC236}">
                <a16:creationId xmlns:a16="http://schemas.microsoft.com/office/drawing/2014/main" id="{2A2C4227-270F-09CC-F2D4-277E4DDDD958}"/>
              </a:ext>
            </a:extLst>
          </p:cNvPr>
          <p:cNvSpPr txBox="1">
            <a:spLocks/>
          </p:cNvSpPr>
          <p:nvPr/>
        </p:nvSpPr>
        <p:spPr>
          <a:xfrm>
            <a:off x="6900958" y="6245527"/>
            <a:ext cx="1832404" cy="324229"/>
          </a:xfrm>
          <a:prstGeom prst="rect">
            <a:avLst/>
          </a:prstGeom>
          <a:noFill/>
          <a:ln>
            <a:noFill/>
          </a:ln>
        </p:spPr>
        <p:txBody>
          <a:bodyPr spcFirstLastPara="1" vert="horz" wrap="square" lIns="91425" tIns="45700" rIns="91425" bIns="45700" rtlCol="0" anchor="t" anchorCtr="0">
            <a:noAutofit/>
          </a:bodyPr>
          <a:lstStyle>
            <a:defPPr>
              <a:defRPr lang="en-US"/>
            </a:defPPr>
            <a:lvl1pPr marL="0" algn="ctr"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000000-1234-1234-1234-123412341234}" type="slidenum">
              <a:rPr lang="en-US" sz="800" smtClean="0"/>
              <a:pPr algn="r"/>
              <a:t>10</a:t>
            </a:fld>
            <a:endParaRPr lang="en-US" sz="800"/>
          </a:p>
        </p:txBody>
      </p:sp>
      <p:sp>
        <p:nvSpPr>
          <p:cNvPr id="17466" name="Google Shape;269;p10">
            <a:extLst>
              <a:ext uri="{FF2B5EF4-FFF2-40B4-BE49-F238E27FC236}">
                <a16:creationId xmlns:a16="http://schemas.microsoft.com/office/drawing/2014/main" id="{4A7F916B-11F8-9655-CCE2-8CF6F7344D05}"/>
              </a:ext>
            </a:extLst>
          </p:cNvPr>
          <p:cNvSpPr/>
          <p:nvPr/>
        </p:nvSpPr>
        <p:spPr>
          <a:xfrm rot="5400000">
            <a:off x="1161037" y="1921778"/>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7" name="Google Shape;270;p10">
            <a:extLst>
              <a:ext uri="{FF2B5EF4-FFF2-40B4-BE49-F238E27FC236}">
                <a16:creationId xmlns:a16="http://schemas.microsoft.com/office/drawing/2014/main" id="{2FA1E639-BA43-921D-3C51-90B0CB9EEA66}"/>
              </a:ext>
            </a:extLst>
          </p:cNvPr>
          <p:cNvSpPr/>
          <p:nvPr/>
        </p:nvSpPr>
        <p:spPr>
          <a:xfrm rot="5400000">
            <a:off x="1799046" y="2256438"/>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8" name="Google Shape;271;p10">
            <a:extLst>
              <a:ext uri="{FF2B5EF4-FFF2-40B4-BE49-F238E27FC236}">
                <a16:creationId xmlns:a16="http://schemas.microsoft.com/office/drawing/2014/main" id="{ECD24A43-CE16-E129-2072-10E5EA215882}"/>
              </a:ext>
            </a:extLst>
          </p:cNvPr>
          <p:cNvSpPr/>
          <p:nvPr/>
        </p:nvSpPr>
        <p:spPr>
          <a:xfrm rot="5400000">
            <a:off x="2252207" y="2620957"/>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9" name="Google Shape;272;p10">
            <a:extLst>
              <a:ext uri="{FF2B5EF4-FFF2-40B4-BE49-F238E27FC236}">
                <a16:creationId xmlns:a16="http://schemas.microsoft.com/office/drawing/2014/main" id="{A4178B7E-D1CC-0B86-5986-07B829FD6BB3}"/>
              </a:ext>
            </a:extLst>
          </p:cNvPr>
          <p:cNvSpPr/>
          <p:nvPr/>
        </p:nvSpPr>
        <p:spPr>
          <a:xfrm rot="5400000">
            <a:off x="2888316" y="2938927"/>
            <a:ext cx="302862"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0" name="Google Shape;273;p10">
            <a:extLst>
              <a:ext uri="{FF2B5EF4-FFF2-40B4-BE49-F238E27FC236}">
                <a16:creationId xmlns:a16="http://schemas.microsoft.com/office/drawing/2014/main" id="{EB0F4FC2-BC56-C78A-B828-62286753865C}"/>
              </a:ext>
            </a:extLst>
          </p:cNvPr>
          <p:cNvSpPr/>
          <p:nvPr/>
        </p:nvSpPr>
        <p:spPr>
          <a:xfrm rot="5400000">
            <a:off x="3471028" y="3316835"/>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1" name="Google Shape;274;p10">
            <a:extLst>
              <a:ext uri="{FF2B5EF4-FFF2-40B4-BE49-F238E27FC236}">
                <a16:creationId xmlns:a16="http://schemas.microsoft.com/office/drawing/2014/main" id="{4ACAF788-032F-39E4-EE34-7CD39AA8687D}"/>
              </a:ext>
            </a:extLst>
          </p:cNvPr>
          <p:cNvSpPr/>
          <p:nvPr/>
        </p:nvSpPr>
        <p:spPr>
          <a:xfrm rot="5400000">
            <a:off x="4016057" y="3590521"/>
            <a:ext cx="251189"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2" name="Google Shape;275;p10">
            <a:extLst>
              <a:ext uri="{FF2B5EF4-FFF2-40B4-BE49-F238E27FC236}">
                <a16:creationId xmlns:a16="http://schemas.microsoft.com/office/drawing/2014/main" id="{994F8814-6A39-92CB-B3A8-1F3A8C78033C}"/>
              </a:ext>
            </a:extLst>
          </p:cNvPr>
          <p:cNvSpPr/>
          <p:nvPr/>
        </p:nvSpPr>
        <p:spPr>
          <a:xfrm rot="5400000">
            <a:off x="4702449" y="3910658"/>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3" name="Google Shape;276;p10">
            <a:extLst>
              <a:ext uri="{FF2B5EF4-FFF2-40B4-BE49-F238E27FC236}">
                <a16:creationId xmlns:a16="http://schemas.microsoft.com/office/drawing/2014/main" id="{6C50D6DF-94DC-3E72-3302-26E3336FC93F}"/>
              </a:ext>
            </a:extLst>
          </p:cNvPr>
          <p:cNvSpPr/>
          <p:nvPr/>
        </p:nvSpPr>
        <p:spPr>
          <a:xfrm rot="5400000">
            <a:off x="5385974" y="4265290"/>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4" name="Google Shape;277;p10">
            <a:extLst>
              <a:ext uri="{FF2B5EF4-FFF2-40B4-BE49-F238E27FC236}">
                <a16:creationId xmlns:a16="http://schemas.microsoft.com/office/drawing/2014/main" id="{E8ADA9A0-A6DB-6A75-8B3A-2C04C0C9FD84}"/>
              </a:ext>
            </a:extLst>
          </p:cNvPr>
          <p:cNvSpPr/>
          <p:nvPr/>
        </p:nvSpPr>
        <p:spPr>
          <a:xfrm>
            <a:off x="3189519" y="2988303"/>
            <a:ext cx="3158612" cy="701253"/>
          </a:xfrm>
          <a:prstGeom prst="roundRect">
            <a:avLst>
              <a:gd name="adj" fmla="val 16667"/>
            </a:avLst>
          </a:prstGeom>
          <a:noFill/>
          <a:ln w="9525" cap="flat" cmpd="sng">
            <a:solidFill>
              <a:srgbClr val="035B3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r" rtl="0">
              <a:spcBef>
                <a:spcPts val="0"/>
              </a:spcBef>
              <a:spcAft>
                <a:spcPts val="0"/>
              </a:spcAft>
              <a:buNone/>
            </a:pPr>
            <a:r>
              <a:rPr lang="en-US" sz="1200" b="1" dirty="0">
                <a:solidFill>
                  <a:srgbClr val="212167"/>
                </a:solidFill>
                <a:latin typeface="Arial"/>
                <a:ea typeface="Arial"/>
                <a:cs typeface="Arial"/>
                <a:sym typeface="Arial"/>
              </a:rPr>
              <a:t>MODEL SIMULATION</a:t>
            </a:r>
            <a:endParaRPr sz="1200" b="1" dirty="0">
              <a:solidFill>
                <a:srgbClr val="212167"/>
              </a:solidFill>
              <a:latin typeface="Arial"/>
              <a:ea typeface="Arial"/>
              <a:cs typeface="Arial"/>
              <a:sym typeface="Arial"/>
            </a:endParaRPr>
          </a:p>
        </p:txBody>
      </p:sp>
      <p:sp>
        <p:nvSpPr>
          <p:cNvPr id="17475" name="Google Shape;278;p10">
            <a:extLst>
              <a:ext uri="{FF2B5EF4-FFF2-40B4-BE49-F238E27FC236}">
                <a16:creationId xmlns:a16="http://schemas.microsoft.com/office/drawing/2014/main" id="{E0DA29BE-E1A2-9947-B334-FED8E5AC2C67}"/>
              </a:ext>
            </a:extLst>
          </p:cNvPr>
          <p:cNvSpPr/>
          <p:nvPr/>
        </p:nvSpPr>
        <p:spPr>
          <a:xfrm>
            <a:off x="5030072" y="3888593"/>
            <a:ext cx="4052967" cy="798452"/>
          </a:xfrm>
          <a:prstGeom prst="roundRect">
            <a:avLst>
              <a:gd name="adj" fmla="val 16667"/>
            </a:avLst>
          </a:prstGeom>
          <a:noFill/>
          <a:ln w="9525" cap="flat" cmpd="sng">
            <a:solidFill>
              <a:srgbClr val="035B3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r" rtl="0">
              <a:spcBef>
                <a:spcPts val="0"/>
              </a:spcBef>
              <a:spcAft>
                <a:spcPts val="0"/>
              </a:spcAft>
              <a:buNone/>
            </a:pPr>
            <a:r>
              <a:rPr lang="en-US" sz="1200" b="1" dirty="0">
                <a:solidFill>
                  <a:srgbClr val="212167"/>
                </a:solidFill>
                <a:latin typeface="Arial"/>
                <a:ea typeface="Arial"/>
                <a:cs typeface="Arial"/>
                <a:sym typeface="Arial"/>
              </a:rPr>
              <a:t>REPORTING / </a:t>
            </a:r>
            <a:endParaRPr sz="1200" dirty="0"/>
          </a:p>
          <a:p>
            <a:pPr marL="0" marR="0" lvl="0" indent="0" algn="r" rtl="0">
              <a:spcBef>
                <a:spcPts val="0"/>
              </a:spcBef>
              <a:spcAft>
                <a:spcPts val="0"/>
              </a:spcAft>
              <a:buNone/>
            </a:pPr>
            <a:r>
              <a:rPr lang="en-US" sz="1200" b="1" dirty="0">
                <a:solidFill>
                  <a:srgbClr val="212167"/>
                </a:solidFill>
                <a:latin typeface="Arial"/>
                <a:ea typeface="Arial"/>
                <a:cs typeface="Arial"/>
                <a:sym typeface="Arial"/>
              </a:rPr>
              <a:t>TECH TRANSFER</a:t>
            </a:r>
            <a:endParaRPr sz="1200" b="1" dirty="0">
              <a:solidFill>
                <a:srgbClr val="212167"/>
              </a:solidFill>
              <a:latin typeface="Arial"/>
              <a:ea typeface="Arial"/>
              <a:cs typeface="Arial"/>
              <a:sym typeface="Arial"/>
            </a:endParaRPr>
          </a:p>
        </p:txBody>
      </p:sp>
      <p:sp>
        <p:nvSpPr>
          <p:cNvPr id="17476" name="Google Shape;279;p10">
            <a:extLst>
              <a:ext uri="{FF2B5EF4-FFF2-40B4-BE49-F238E27FC236}">
                <a16:creationId xmlns:a16="http://schemas.microsoft.com/office/drawing/2014/main" id="{62A7B952-473D-99D5-70F3-ED27860EE753}"/>
              </a:ext>
            </a:extLst>
          </p:cNvPr>
          <p:cNvSpPr/>
          <p:nvPr/>
        </p:nvSpPr>
        <p:spPr>
          <a:xfrm rot="-5400000">
            <a:off x="2407623" y="1614316"/>
            <a:ext cx="302862" cy="418436"/>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7" name="Google Shape;280;p10">
            <a:extLst>
              <a:ext uri="{FF2B5EF4-FFF2-40B4-BE49-F238E27FC236}">
                <a16:creationId xmlns:a16="http://schemas.microsoft.com/office/drawing/2014/main" id="{F7CA70F7-8961-E117-0453-87ACD0545538}"/>
              </a:ext>
            </a:extLst>
          </p:cNvPr>
          <p:cNvSpPr/>
          <p:nvPr/>
        </p:nvSpPr>
        <p:spPr>
          <a:xfrm rot="5400000" flipH="1">
            <a:off x="3721045" y="2066859"/>
            <a:ext cx="302865" cy="904480"/>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8" name="Google Shape;281;p10">
            <a:extLst>
              <a:ext uri="{FF2B5EF4-FFF2-40B4-BE49-F238E27FC236}">
                <a16:creationId xmlns:a16="http://schemas.microsoft.com/office/drawing/2014/main" id="{6595D12B-2EAD-2117-2B24-346ECDF5CDA8}"/>
              </a:ext>
            </a:extLst>
          </p:cNvPr>
          <p:cNvSpPr txBox="1"/>
          <p:nvPr/>
        </p:nvSpPr>
        <p:spPr>
          <a:xfrm>
            <a:off x="4266925" y="2296695"/>
            <a:ext cx="966258"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highlight>
                  <a:srgbClr val="FFFF00"/>
                </a:highlight>
                <a:latin typeface="Arial"/>
                <a:ea typeface="Arial"/>
                <a:cs typeface="Arial"/>
                <a:sym typeface="Arial"/>
              </a:rPr>
              <a:t>Go/no go</a:t>
            </a:r>
            <a:endParaRPr sz="1200" b="1" dirty="0">
              <a:solidFill>
                <a:schemeClr val="dk1"/>
              </a:solidFill>
              <a:highlight>
                <a:srgbClr val="FFFF00"/>
              </a:highlight>
              <a:latin typeface="Arial"/>
              <a:ea typeface="Arial"/>
              <a:cs typeface="Arial"/>
              <a:sym typeface="Arial"/>
            </a:endParaRPr>
          </a:p>
        </p:txBody>
      </p:sp>
      <p:sp>
        <p:nvSpPr>
          <p:cNvPr id="17479" name="Google Shape;282;p10">
            <a:extLst>
              <a:ext uri="{FF2B5EF4-FFF2-40B4-BE49-F238E27FC236}">
                <a16:creationId xmlns:a16="http://schemas.microsoft.com/office/drawing/2014/main" id="{6E2C084C-8ED3-381F-CA4D-85DD8DB3009C}"/>
              </a:ext>
            </a:extLst>
          </p:cNvPr>
          <p:cNvSpPr/>
          <p:nvPr/>
        </p:nvSpPr>
        <p:spPr>
          <a:xfrm rot="5400000" flipH="1">
            <a:off x="4523900" y="2389028"/>
            <a:ext cx="302865" cy="904480"/>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80" name="Google Shape;283;p10">
            <a:extLst>
              <a:ext uri="{FF2B5EF4-FFF2-40B4-BE49-F238E27FC236}">
                <a16:creationId xmlns:a16="http://schemas.microsoft.com/office/drawing/2014/main" id="{CCFB3561-AB20-6820-043F-30A4E3C262E2}"/>
              </a:ext>
            </a:extLst>
          </p:cNvPr>
          <p:cNvSpPr txBox="1"/>
          <p:nvPr/>
        </p:nvSpPr>
        <p:spPr>
          <a:xfrm>
            <a:off x="5074305" y="2623411"/>
            <a:ext cx="966258"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highlight>
                  <a:srgbClr val="FFFF00"/>
                </a:highlight>
                <a:latin typeface="Arial"/>
                <a:ea typeface="Arial"/>
                <a:cs typeface="Arial"/>
                <a:sym typeface="Arial"/>
              </a:rPr>
              <a:t>Go/no go</a:t>
            </a:r>
            <a:endParaRPr sz="1200" b="1" dirty="0">
              <a:solidFill>
                <a:schemeClr val="dk1"/>
              </a:solidFill>
              <a:highlight>
                <a:srgbClr val="FFFF00"/>
              </a:highlight>
              <a:latin typeface="Arial"/>
              <a:ea typeface="Arial"/>
              <a:cs typeface="Arial"/>
              <a:sym typeface="Arial"/>
            </a:endParaRPr>
          </a:p>
        </p:txBody>
      </p:sp>
      <p:sp>
        <p:nvSpPr>
          <p:cNvPr id="17481" name="Google Shape;284;p10">
            <a:extLst>
              <a:ext uri="{FF2B5EF4-FFF2-40B4-BE49-F238E27FC236}">
                <a16:creationId xmlns:a16="http://schemas.microsoft.com/office/drawing/2014/main" id="{CF20329C-5235-93A7-6E59-A79FB29E1E25}"/>
              </a:ext>
            </a:extLst>
          </p:cNvPr>
          <p:cNvSpPr/>
          <p:nvPr/>
        </p:nvSpPr>
        <p:spPr>
          <a:xfrm rot="5400000" flipH="1">
            <a:off x="6196698" y="3369597"/>
            <a:ext cx="302865" cy="904480"/>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82" name="Google Shape;285;p10">
            <a:extLst>
              <a:ext uri="{FF2B5EF4-FFF2-40B4-BE49-F238E27FC236}">
                <a16:creationId xmlns:a16="http://schemas.microsoft.com/office/drawing/2014/main" id="{83920FBD-B437-2E2E-83D9-E141106B4BFF}"/>
              </a:ext>
            </a:extLst>
          </p:cNvPr>
          <p:cNvSpPr txBox="1"/>
          <p:nvPr/>
        </p:nvSpPr>
        <p:spPr>
          <a:xfrm>
            <a:off x="6719221" y="3602964"/>
            <a:ext cx="966258"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highlight>
                  <a:srgbClr val="FFFF00"/>
                </a:highlight>
                <a:latin typeface="Arial"/>
                <a:ea typeface="Arial"/>
                <a:cs typeface="Arial"/>
                <a:sym typeface="Arial"/>
              </a:rPr>
              <a:t>Go/no go</a:t>
            </a:r>
            <a:endParaRPr sz="1200" b="1" dirty="0">
              <a:solidFill>
                <a:schemeClr val="dk1"/>
              </a:solidFill>
              <a:highlight>
                <a:srgbClr val="FFFF00"/>
              </a:highlight>
              <a:latin typeface="Arial"/>
              <a:ea typeface="Arial"/>
              <a:cs typeface="Arial"/>
              <a:sym typeface="Arial"/>
            </a:endParaRPr>
          </a:p>
        </p:txBody>
      </p:sp>
    </p:spTree>
    <p:extLst>
      <p:ext uri="{BB962C8B-B14F-4D97-AF65-F5344CB8AC3E}">
        <p14:creationId xmlns:p14="http://schemas.microsoft.com/office/powerpoint/2010/main" val="392673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dirty="0"/>
              <a:t>Performance Objectives</a:t>
            </a:r>
          </a:p>
        </p:txBody>
      </p:sp>
      <p:sp>
        <p:nvSpPr>
          <p:cNvPr id="2" name="Slide Number Placeholder 1"/>
          <p:cNvSpPr>
            <a:spLocks noGrp="1"/>
          </p:cNvSpPr>
          <p:nvPr>
            <p:ph type="sldNum" sz="quarter" idx="12"/>
          </p:nvPr>
        </p:nvSpPr>
        <p:spPr/>
        <p:txBody>
          <a:bodyPr/>
          <a:lstStyle/>
          <a:p>
            <a:pPr>
              <a:defRPr/>
            </a:pPr>
            <a:fld id="{3FFFF23A-788A-40E7-A79E-1CDAC1097B76}" type="slidenum">
              <a:rPr lang="en-US" smtClean="0"/>
              <a:pPr>
                <a:defRPr/>
              </a:pPr>
              <a:t>11</a:t>
            </a:fld>
            <a:endParaRPr lang="en-US"/>
          </a:p>
        </p:txBody>
      </p:sp>
      <p:graphicFrame>
        <p:nvGraphicFramePr>
          <p:cNvPr id="7" name="Google Shape;319;p12">
            <a:extLst>
              <a:ext uri="{FF2B5EF4-FFF2-40B4-BE49-F238E27FC236}">
                <a16:creationId xmlns:a16="http://schemas.microsoft.com/office/drawing/2014/main" id="{C77C71BB-18F3-DC62-2662-1D2F4FBA2081}"/>
              </a:ext>
            </a:extLst>
          </p:cNvPr>
          <p:cNvGraphicFramePr/>
          <p:nvPr>
            <p:extLst>
              <p:ext uri="{D42A27DB-BD31-4B8C-83A1-F6EECF244321}">
                <p14:modId xmlns:p14="http://schemas.microsoft.com/office/powerpoint/2010/main" val="1035907258"/>
              </p:ext>
            </p:extLst>
          </p:nvPr>
        </p:nvGraphicFramePr>
        <p:xfrm>
          <a:off x="64770" y="1025539"/>
          <a:ext cx="9014460" cy="4037283"/>
        </p:xfrm>
        <a:graphic>
          <a:graphicData uri="http://schemas.openxmlformats.org/drawingml/2006/table">
            <a:tbl>
              <a:tblPr>
                <a:solidFill>
                  <a:srgbClr val="D1C0D8"/>
                </a:solidFill>
              </a:tblPr>
              <a:tblGrid>
                <a:gridCol w="1440180">
                  <a:extLst>
                    <a:ext uri="{9D8B030D-6E8A-4147-A177-3AD203B41FA5}">
                      <a16:colId xmlns:a16="http://schemas.microsoft.com/office/drawing/2014/main" val="20000"/>
                    </a:ext>
                  </a:extLst>
                </a:gridCol>
                <a:gridCol w="1691100">
                  <a:extLst>
                    <a:ext uri="{9D8B030D-6E8A-4147-A177-3AD203B41FA5}">
                      <a16:colId xmlns:a16="http://schemas.microsoft.com/office/drawing/2014/main" val="20001"/>
                    </a:ext>
                  </a:extLst>
                </a:gridCol>
                <a:gridCol w="617760">
                  <a:extLst>
                    <a:ext uri="{9D8B030D-6E8A-4147-A177-3AD203B41FA5}">
                      <a16:colId xmlns:a16="http://schemas.microsoft.com/office/drawing/2014/main" val="3941349472"/>
                    </a:ext>
                  </a:extLst>
                </a:gridCol>
                <a:gridCol w="1691640">
                  <a:extLst>
                    <a:ext uri="{9D8B030D-6E8A-4147-A177-3AD203B41FA5}">
                      <a16:colId xmlns:a16="http://schemas.microsoft.com/office/drawing/2014/main" val="20002"/>
                    </a:ext>
                  </a:extLst>
                </a:gridCol>
                <a:gridCol w="706740">
                  <a:extLst>
                    <a:ext uri="{9D8B030D-6E8A-4147-A177-3AD203B41FA5}">
                      <a16:colId xmlns:a16="http://schemas.microsoft.com/office/drawing/2014/main" val="1038617524"/>
                    </a:ext>
                  </a:extLst>
                </a:gridCol>
                <a:gridCol w="2867040">
                  <a:extLst>
                    <a:ext uri="{9D8B030D-6E8A-4147-A177-3AD203B41FA5}">
                      <a16:colId xmlns:a16="http://schemas.microsoft.com/office/drawing/2014/main" val="870152147"/>
                    </a:ext>
                  </a:extLst>
                </a:gridCol>
              </a:tblGrid>
              <a:tr h="204717">
                <a:tc>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Performance</a:t>
                      </a:r>
                      <a:r>
                        <a:rPr lang="en-US" sz="900" b="0" u="none" strike="noStrike" cap="none" dirty="0">
                          <a:solidFill>
                            <a:schemeClr val="tx1"/>
                          </a:solidFill>
                        </a:rPr>
                        <a:t> </a:t>
                      </a:r>
                      <a:r>
                        <a:rPr lang="en-US" sz="900" b="1" u="none" strike="noStrike" cap="none" dirty="0">
                          <a:solidFill>
                            <a:schemeClr val="lt1"/>
                          </a:solidFill>
                        </a:rPr>
                        <a:t>Objective</a:t>
                      </a: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Metric</a:t>
                      </a: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gridSpan="3">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Data Requirements</a:t>
                      </a: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hMerge="1">
                  <a:txBody>
                    <a:bodyPr/>
                    <a:lstStyle/>
                    <a:p>
                      <a:pPr marL="152400" marR="0" lvl="0" indent="-101600" algn="l" rtl="0">
                        <a:lnSpc>
                          <a:spcPct val="107000"/>
                        </a:lnSpc>
                        <a:spcBef>
                          <a:spcPts val="0"/>
                        </a:spcBef>
                        <a:spcAft>
                          <a:spcPts val="0"/>
                        </a:spcAft>
                        <a:buNone/>
                      </a:pPr>
                      <a:r>
                        <a:rPr lang="en-US" sz="900" b="1" u="none" strike="noStrike" cap="none">
                          <a:solidFill>
                            <a:schemeClr val="lt1"/>
                          </a:solidFill>
                        </a:rPr>
                        <a:t>Data Requirements</a:t>
                      </a:r>
                      <a:endParaRPr sz="900" u="none" strike="noStrike" cap="none">
                        <a:latin typeface="Calibri"/>
                        <a:ea typeface="Calibri"/>
                        <a:cs typeface="Calibri"/>
                        <a:sym typeface="Calibri"/>
                      </a:endParaRPr>
                    </a:p>
                  </a:txBody>
                  <a:tcPr marL="21575" marR="21575" marT="21575" marB="21575">
                    <a:solidFill>
                      <a:schemeClr val="accent1"/>
                    </a:solidFill>
                  </a:tcPr>
                </a:tc>
                <a:tc hMerge="1">
                  <a:txBody>
                    <a:bodyPr/>
                    <a:lstStyle/>
                    <a:p>
                      <a:pPr marL="152400" marR="0" lvl="0" indent="-101600" algn="l" rtl="0">
                        <a:lnSpc>
                          <a:spcPct val="107000"/>
                        </a:lnSpc>
                        <a:spcBef>
                          <a:spcPts val="0"/>
                        </a:spcBef>
                        <a:spcAft>
                          <a:spcPts val="0"/>
                        </a:spcAft>
                        <a:buNone/>
                      </a:pP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Success Criteria</a:t>
                      </a:r>
                      <a:endParaRPr sz="900" u="none" strike="noStrike" cap="none" dirty="0">
                        <a:latin typeface="Calibri"/>
                        <a:ea typeface="Calibri"/>
                        <a:cs typeface="Calibri"/>
                        <a:sym typeface="Calibri"/>
                      </a:endParaRPr>
                    </a:p>
                  </a:txBody>
                  <a:tcPr marL="21575" marR="21575" marT="21575" marB="21575">
                    <a:solidFill>
                      <a:schemeClr val="accent1"/>
                    </a:solidFill>
                  </a:tcPr>
                </a:tc>
                <a:extLst>
                  <a:ext uri="{0D108BD9-81ED-4DB2-BD59-A6C34878D82A}">
                    <a16:rowId xmlns:a16="http://schemas.microsoft.com/office/drawing/2014/main" val="10000"/>
                  </a:ext>
                </a:extLst>
              </a:tr>
              <a:tr h="176807">
                <a:tc gridSpan="6">
                  <a:txBody>
                    <a:bodyPr/>
                    <a:lstStyle/>
                    <a:p>
                      <a:pPr marL="139700" marR="0" lvl="0" indent="0" algn="l" rtl="0">
                        <a:lnSpc>
                          <a:spcPct val="107000"/>
                        </a:lnSpc>
                        <a:spcBef>
                          <a:spcPts val="0"/>
                        </a:spcBef>
                        <a:spcAft>
                          <a:spcPts val="0"/>
                        </a:spcAft>
                        <a:buNone/>
                      </a:pPr>
                      <a:r>
                        <a:rPr lang="en-US" sz="900" b="1" u="none" strike="noStrike" cap="none"/>
                        <a:t>Quantitative Performance Objectives</a:t>
                      </a:r>
                      <a:endParaRPr sz="900" b="1" u="none" strike="noStrike" cap="none">
                        <a:latin typeface="Calibri"/>
                        <a:ea typeface="Calibri"/>
                        <a:cs typeface="Calibri"/>
                        <a:sym typeface="Calibri"/>
                      </a:endParaRPr>
                    </a:p>
                  </a:txBody>
                  <a:tcPr marL="21575" marR="21575" marT="21575" marB="21575"/>
                </a:tc>
                <a:tc hMerge="1">
                  <a:txBody>
                    <a:bodyPr/>
                    <a:lstStyle/>
                    <a:p>
                      <a:endParaRPr lang="es-US"/>
                    </a:p>
                  </a:txBody>
                  <a:tcPr/>
                </a:tc>
                <a:tc hMerge="1">
                  <a:txBody>
                    <a:bodyPr/>
                    <a:lstStyle/>
                    <a:p>
                      <a:endParaRPr lang="en-US"/>
                    </a:p>
                  </a:txBody>
                  <a:tcPr/>
                </a:tc>
                <a:tc hMerge="1">
                  <a:txBody>
                    <a:bodyPr/>
                    <a:lstStyle/>
                    <a:p>
                      <a:endParaRPr lang="es-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171824">
                <a:tc>
                  <a:txBody>
                    <a:bodyPr/>
                    <a:lstStyle/>
                    <a:p>
                      <a:pPr marL="0" marR="0" lvl="0" indent="0" algn="l" rtl="0">
                        <a:lnSpc>
                          <a:spcPct val="107000"/>
                        </a:lnSpc>
                        <a:spcBef>
                          <a:spcPts val="0"/>
                        </a:spcBef>
                        <a:spcAft>
                          <a:spcPts val="0"/>
                        </a:spcAft>
                        <a:buNone/>
                      </a:pPr>
                      <a:r>
                        <a:rPr lang="en-US" sz="900" u="none" strike="noStrike" cap="none" dirty="0"/>
                        <a:t>Model calibration and validation </a:t>
                      </a:r>
                      <a:endParaRPr sz="900" u="none" strike="noStrike" cap="none" dirty="0">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a:t>Goodness-of-fit of the model for salt marsh sites selected</a:t>
                      </a:r>
                      <a:endParaRPr sz="900" u="none" strike="noStrike" cap="none" dirty="0">
                        <a:latin typeface="Calibri"/>
                        <a:ea typeface="Calibri"/>
                        <a:cs typeface="Calibri"/>
                        <a:sym typeface="Calibri"/>
                      </a:endParaRPr>
                    </a:p>
                  </a:txBody>
                  <a:tcPr marL="21575" marR="21575" marT="21575" marB="21575"/>
                </a:tc>
                <a:tc gridSpan="3">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velocity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Sediment loadings / concentrations</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data</a:t>
                      </a: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mortality rates</a:t>
                      </a: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establishment rates</a:t>
                      </a: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Biomass accretion rates</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velocity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Sediment loadings / concentrations</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data</a:t>
                      </a:r>
                      <a:endParaRPr sz="900" u="none" strike="noStrike" cap="none"/>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mortality rates</a:t>
                      </a:r>
                      <a:endParaRPr sz="900" u="none" strike="noStrike" cap="none">
                        <a:solidFill>
                          <a:schemeClr val="accent2"/>
                        </a:solidFill>
                      </a:endParaRP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establishment rates</a:t>
                      </a:r>
                      <a:endParaRPr sz="900" u="none" strike="noStrike" cap="none">
                        <a:solidFill>
                          <a:schemeClr val="accent2"/>
                        </a:solidFill>
                      </a:endParaRP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Biomass accretion rates</a:t>
                      </a:r>
                      <a:endParaRPr sz="900" u="none" strike="noStrike" cap="none">
                        <a:solidFill>
                          <a:schemeClr val="accent2"/>
                        </a:solidFill>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accent2"/>
                        </a:buClr>
                        <a:buSzPts val="1050"/>
                        <a:buFont typeface="Arial"/>
                        <a:buChar char="●"/>
                      </a:pPr>
                      <a:endParaRPr sz="900" u="none" strike="noStrike" cap="none">
                        <a:latin typeface="Calibri"/>
                        <a:ea typeface="Calibri"/>
                        <a:cs typeface="Calibri"/>
                        <a:sym typeface="Calibri"/>
                      </a:endParaRPr>
                    </a:p>
                  </a:txBody>
                  <a:tcPr marL="21575" marR="21575" marT="21575" marB="21575"/>
                </a:tc>
                <a:tc>
                  <a:txBody>
                    <a:bodyPr/>
                    <a:lstStyle/>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dirty="0"/>
                        <a:t>Root mean square error &lt; 0.5</a:t>
                      </a:r>
                      <a:endParaRPr sz="900" u="none" strike="noStrike" cap="none" dirty="0">
                        <a:solidFill>
                          <a:schemeClr val="accent2"/>
                        </a:solidFill>
                        <a:latin typeface="Calibri"/>
                        <a:ea typeface="Calibri"/>
                        <a:cs typeface="Calibri"/>
                        <a:sym typeface="Calibri"/>
                      </a:endParaRPr>
                    </a:p>
                  </a:txBody>
                  <a:tcPr marL="21575" marR="21575" marT="21575" marB="21575"/>
                </a:tc>
                <a:extLst>
                  <a:ext uri="{0D108BD9-81ED-4DB2-BD59-A6C34878D82A}">
                    <a16:rowId xmlns:a16="http://schemas.microsoft.com/office/drawing/2014/main" val="10002"/>
                  </a:ext>
                </a:extLst>
              </a:tr>
              <a:tr h="603243">
                <a:tc>
                  <a:txBody>
                    <a:bodyPr/>
                    <a:lstStyle/>
                    <a:p>
                      <a:pPr marL="0" marR="0" lvl="0" indent="0" algn="l" rtl="0">
                        <a:lnSpc>
                          <a:spcPct val="107000"/>
                        </a:lnSpc>
                        <a:spcBef>
                          <a:spcPts val="0"/>
                        </a:spcBef>
                        <a:spcAft>
                          <a:spcPts val="0"/>
                        </a:spcAft>
                        <a:buNone/>
                      </a:pPr>
                      <a:r>
                        <a:rPr lang="en-US" sz="900" u="none" strike="noStrike" cap="none"/>
                        <a:t>Create salt marsh habitat</a:t>
                      </a:r>
                      <a:endParaRPr sz="900" u="none" strike="noStrike" cap="none">
                        <a:latin typeface="Calibri"/>
                        <a:ea typeface="Calibri"/>
                        <a:cs typeface="Calibri"/>
                        <a:sym typeface="Calibri"/>
                      </a:endParaRPr>
                    </a:p>
                  </a:txBody>
                  <a:tcPr marL="21575" marR="21575" marT="21575" marB="21575"/>
                </a:tc>
                <a:tc>
                  <a:txBody>
                    <a:bodyPr/>
                    <a:lstStyle/>
                    <a:p>
                      <a:pPr marL="0" marR="63500" lvl="0" indent="0" algn="l" rtl="0">
                        <a:lnSpc>
                          <a:spcPct val="107000"/>
                        </a:lnSpc>
                        <a:spcBef>
                          <a:spcPts val="0"/>
                        </a:spcBef>
                        <a:spcAft>
                          <a:spcPts val="0"/>
                        </a:spcAft>
                        <a:buNone/>
                      </a:pPr>
                      <a:r>
                        <a:rPr lang="en-US" sz="900" u="none" strike="noStrike" cap="none"/>
                        <a:t>Area of </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high marsh habitat</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low marsh habitat</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mudflat habitat</a:t>
                      </a:r>
                      <a:endParaRPr sz="900" u="none" strike="noStrike" cap="none">
                        <a:latin typeface="Calibri"/>
                        <a:ea typeface="Calibri"/>
                        <a:cs typeface="Calibri"/>
                        <a:sym typeface="Calibri"/>
                      </a:endParaRPr>
                    </a:p>
                  </a:txBody>
                  <a:tcPr marL="21575" marR="21575" marT="21575" marB="21575"/>
                </a:tc>
                <a:tc gridSpan="3">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level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velocity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measurements</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level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velocity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measurements</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endParaRPr sz="900" u="none" strike="noStrike" cap="none">
                        <a:latin typeface="Calibri"/>
                        <a:ea typeface="Calibri"/>
                        <a:cs typeface="Calibri"/>
                        <a:sym typeface="Calibri"/>
                      </a:endParaRPr>
                    </a:p>
                  </a:txBody>
                  <a:tcPr marL="21575" marR="21575" marT="21575" marB="21575"/>
                </a:tc>
                <a:tc>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current </a:t>
                      </a:r>
                      <a:r>
                        <a:rPr lang="en-US" sz="900" u="none" strike="noStrike" cap="none"/>
                        <a:t>habitat area achieved) / (habitat area goal) &gt; 0.7</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projected future </a:t>
                      </a:r>
                      <a:r>
                        <a:rPr lang="en-US" sz="900" u="none" strike="noStrike" cap="none"/>
                        <a:t>habitat area achieved) / (habitat area goal) &gt; 0.5</a:t>
                      </a:r>
                      <a:endParaRPr sz="900" u="none" strike="noStrike" cap="none">
                        <a:latin typeface="Calibri"/>
                        <a:ea typeface="Calibri"/>
                        <a:cs typeface="Calibri"/>
                        <a:sym typeface="Calibri"/>
                      </a:endParaRPr>
                    </a:p>
                  </a:txBody>
                  <a:tcPr marL="21575" marR="21575" marT="21575" marB="21575"/>
                </a:tc>
                <a:extLst>
                  <a:ext uri="{0D108BD9-81ED-4DB2-BD59-A6C34878D82A}">
                    <a16:rowId xmlns:a16="http://schemas.microsoft.com/office/drawing/2014/main" val="10003"/>
                  </a:ext>
                </a:extLst>
              </a:tr>
              <a:tr h="603243">
                <a:tc>
                  <a:txBody>
                    <a:bodyPr/>
                    <a:lstStyle/>
                    <a:p>
                      <a:pPr marL="0" marR="0" lvl="0" indent="0" algn="l" rtl="0">
                        <a:lnSpc>
                          <a:spcPct val="107000"/>
                        </a:lnSpc>
                        <a:spcBef>
                          <a:spcPts val="0"/>
                        </a:spcBef>
                        <a:spcAft>
                          <a:spcPts val="0"/>
                        </a:spcAft>
                        <a:buNone/>
                      </a:pPr>
                      <a:r>
                        <a:rPr lang="en-US" sz="900" u="none" strike="noStrike" cap="none"/>
                        <a:t>Wave Attenuation</a:t>
                      </a:r>
                      <a:endParaRPr sz="900" u="none" strike="noStrike" cap="none">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a:t>Daily mean wave height attenuation</a:t>
                      </a:r>
                      <a:endParaRPr sz="900" u="none" strike="noStrike" cap="none">
                        <a:latin typeface="Calibri"/>
                        <a:ea typeface="Calibri"/>
                        <a:cs typeface="Calibri"/>
                        <a:sym typeface="Calibri"/>
                      </a:endParaRPr>
                    </a:p>
                  </a:txBody>
                  <a:tcPr marL="21575" marR="21575" marT="21575" marB="21575"/>
                </a:tc>
                <a:tc gridSpan="3">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 at bay and shore side of marsh</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wave data at bay and shore side of marsh</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 at bay and shore side of marsh</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wave data at bay and shore side of marsh</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endParaRPr sz="900" u="none" strike="noStrike" cap="none">
                        <a:latin typeface="Calibri"/>
                        <a:ea typeface="Calibri"/>
                        <a:cs typeface="Calibri"/>
                        <a:sym typeface="Calibri"/>
                      </a:endParaRPr>
                    </a:p>
                  </a:txBody>
                  <a:tcPr marL="21575" marR="21575" marT="21575" marB="21575"/>
                </a:tc>
                <a:tc>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mean historical</a:t>
                      </a:r>
                      <a:r>
                        <a:rPr lang="en-US" sz="900" u="none" strike="noStrike" cap="none"/>
                        <a:t> wave height at shore side) /(</a:t>
                      </a:r>
                      <a:r>
                        <a:rPr lang="en-US" sz="900" u="sng" strike="noStrike" cap="none"/>
                        <a:t>mean historical</a:t>
                      </a:r>
                      <a:r>
                        <a:rPr lang="en-US" sz="900" u="none" strike="noStrike" cap="none"/>
                        <a:t> wave height on bayside) &lt; 0.8</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mean projected</a:t>
                      </a:r>
                      <a:r>
                        <a:rPr lang="en-US" sz="900" u="none" strike="noStrike" cap="none"/>
                        <a:t> wave height at shore side) / (</a:t>
                      </a:r>
                      <a:r>
                        <a:rPr lang="en-US" sz="900" u="sng" strike="noStrike" cap="none"/>
                        <a:t>mean projected </a:t>
                      </a:r>
                      <a:r>
                        <a:rPr lang="en-US" sz="900" u="none" strike="noStrike" cap="none"/>
                        <a:t>wave height on bayside) &lt; 0.6</a:t>
                      </a:r>
                      <a:endParaRPr sz="900" u="none" strike="noStrike" cap="none">
                        <a:latin typeface="Calibri"/>
                        <a:ea typeface="Calibri"/>
                        <a:cs typeface="Calibri"/>
                        <a:sym typeface="Calibri"/>
                      </a:endParaRPr>
                    </a:p>
                  </a:txBody>
                  <a:tcPr marL="21575" marR="21575" marT="21575" marB="21575"/>
                </a:tc>
                <a:extLst>
                  <a:ext uri="{0D108BD9-81ED-4DB2-BD59-A6C34878D82A}">
                    <a16:rowId xmlns:a16="http://schemas.microsoft.com/office/drawing/2014/main" val="10004"/>
                  </a:ext>
                </a:extLst>
              </a:tr>
              <a:tr h="603243">
                <a:tc>
                  <a:txBody>
                    <a:bodyPr/>
                    <a:lstStyle/>
                    <a:p>
                      <a:pPr marL="0" marR="0" lvl="0" indent="0" algn="l" rtl="0">
                        <a:lnSpc>
                          <a:spcPct val="107000"/>
                        </a:lnSpc>
                        <a:spcBef>
                          <a:spcPts val="0"/>
                        </a:spcBef>
                        <a:spcAft>
                          <a:spcPts val="0"/>
                        </a:spcAft>
                        <a:buNone/>
                      </a:pPr>
                      <a:r>
                        <a:rPr lang="en-US" sz="900" u="none" strike="noStrike" cap="none" dirty="0"/>
                        <a:t>Relationships between marsh characteristic and performance metrics</a:t>
                      </a:r>
                      <a:endParaRPr sz="900" u="none" strike="noStrike" cap="none" dirty="0">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dirty="0"/>
                        <a:t> Correlation coefficient</a:t>
                      </a:r>
                      <a:endParaRPr sz="900" u="none" strike="noStrike" cap="none" dirty="0">
                        <a:latin typeface="Calibri"/>
                        <a:ea typeface="Calibri"/>
                        <a:cs typeface="Calibri"/>
                        <a:sym typeface="Calibri"/>
                      </a:endParaRPr>
                    </a:p>
                  </a:txBody>
                  <a:tcPr marL="21575" marR="21575" marT="21575" marB="21575"/>
                </a:tc>
                <a:tc gridSpan="3">
                  <a:txBody>
                    <a:bodyPr/>
                    <a:lstStyle/>
                    <a:p>
                      <a:pPr marL="0" marR="0" lvl="0" indent="0" algn="l" rtl="0">
                        <a:lnSpc>
                          <a:spcPct val="107000"/>
                        </a:lnSpc>
                        <a:spcBef>
                          <a:spcPts val="0"/>
                        </a:spcBef>
                        <a:spcAft>
                          <a:spcPts val="0"/>
                        </a:spcAft>
                        <a:buNone/>
                      </a:pPr>
                      <a:r>
                        <a:rPr lang="en-US" sz="900" u="none" strike="noStrike" cap="none" dirty="0"/>
                        <a:t>Dependent on trends identified through simulation</a:t>
                      </a:r>
                      <a:endParaRPr sz="900" u="none" strike="noStrike" cap="none" dirty="0">
                        <a:latin typeface="Calibri"/>
                        <a:ea typeface="Calibri"/>
                        <a:cs typeface="Calibri"/>
                        <a:sym typeface="Calibri"/>
                      </a:endParaRPr>
                    </a:p>
                  </a:txBody>
                  <a:tcPr marL="21575" marR="21575" marT="21575" marB="21575"/>
                </a:tc>
                <a:tc hMerge="1">
                  <a:txBody>
                    <a:bodyPr/>
                    <a:lstStyle/>
                    <a:p>
                      <a:pPr marL="0" marR="0" lvl="0" indent="0" algn="l" rtl="0">
                        <a:lnSpc>
                          <a:spcPct val="107000"/>
                        </a:lnSpc>
                        <a:spcBef>
                          <a:spcPts val="0"/>
                        </a:spcBef>
                        <a:spcAft>
                          <a:spcPts val="0"/>
                        </a:spcAft>
                        <a:buNone/>
                      </a:pPr>
                      <a:r>
                        <a:rPr lang="en-US" sz="900" u="none" strike="noStrike" cap="none"/>
                        <a:t>Dependent on trends identified through simulation</a:t>
                      </a:r>
                      <a:endParaRPr sz="900" u="none" strike="noStrike" cap="none">
                        <a:latin typeface="Calibri"/>
                        <a:ea typeface="Calibri"/>
                        <a:cs typeface="Calibri"/>
                        <a:sym typeface="Calibri"/>
                      </a:endParaRPr>
                    </a:p>
                  </a:txBody>
                  <a:tcPr marL="21575" marR="21575" marT="21575" marB="21575"/>
                </a:tc>
                <a:tc hMerge="1">
                  <a:txBody>
                    <a:bodyPr/>
                    <a:lstStyle/>
                    <a:p>
                      <a:pPr marL="0" marR="0" lvl="0" indent="0" algn="l" rtl="0">
                        <a:lnSpc>
                          <a:spcPct val="107000"/>
                        </a:lnSpc>
                        <a:spcBef>
                          <a:spcPts val="0"/>
                        </a:spcBef>
                        <a:spcAft>
                          <a:spcPts val="0"/>
                        </a:spcAft>
                        <a:buNone/>
                      </a:pPr>
                      <a:endParaRPr sz="900" u="none" strike="noStrike" cap="none" dirty="0">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dirty="0"/>
                        <a:t>Correlation coefficient &gt; 0.5</a:t>
                      </a:r>
                      <a:endParaRPr sz="900" u="none" strike="noStrike" cap="none" dirty="0">
                        <a:latin typeface="Calibri"/>
                        <a:ea typeface="Calibri"/>
                        <a:cs typeface="Calibri"/>
                        <a:sym typeface="Calibri"/>
                      </a:endParaRPr>
                    </a:p>
                  </a:txBody>
                  <a:tcPr marL="21575" marR="21575" marT="21575" marB="21575"/>
                </a:tc>
                <a:extLst>
                  <a:ext uri="{0D108BD9-81ED-4DB2-BD59-A6C34878D82A}">
                    <a16:rowId xmlns:a16="http://schemas.microsoft.com/office/drawing/2014/main" val="10005"/>
                  </a:ext>
                </a:extLst>
              </a:tr>
              <a:tr h="176807">
                <a:tc gridSpan="6">
                  <a:txBody>
                    <a:bodyPr/>
                    <a:lstStyle/>
                    <a:p>
                      <a:pPr marL="139700" marR="0" lvl="0" indent="0" algn="l" rtl="0">
                        <a:lnSpc>
                          <a:spcPct val="107000"/>
                        </a:lnSpc>
                        <a:spcBef>
                          <a:spcPts val="0"/>
                        </a:spcBef>
                        <a:spcAft>
                          <a:spcPts val="0"/>
                        </a:spcAft>
                        <a:buNone/>
                      </a:pPr>
                      <a:r>
                        <a:rPr lang="en-US" sz="900" b="1" u="none" strike="noStrike" cap="none"/>
                        <a:t>Qualitative Performance Objectives</a:t>
                      </a:r>
                      <a:endParaRPr sz="900" b="1" u="none" strike="noStrike" cap="none">
                        <a:latin typeface="Calibri"/>
                        <a:ea typeface="Calibri"/>
                        <a:cs typeface="Calibri"/>
                        <a:sym typeface="Calibri"/>
                      </a:endParaRPr>
                    </a:p>
                  </a:txBody>
                  <a:tcPr marL="21575" marR="21575" marT="21575" marB="21575"/>
                </a:tc>
                <a:tc hMerge="1">
                  <a:txBody>
                    <a:bodyPr/>
                    <a:lstStyle/>
                    <a:p>
                      <a:endParaRPr lang="es-US"/>
                    </a:p>
                  </a:txBody>
                  <a:tcPr/>
                </a:tc>
                <a:tc hMerge="1">
                  <a:txBody>
                    <a:bodyPr/>
                    <a:lstStyle/>
                    <a:p>
                      <a:endParaRPr lang="en-US"/>
                    </a:p>
                  </a:txBody>
                  <a:tcPr/>
                </a:tc>
                <a:tc hMerge="1">
                  <a:txBody>
                    <a:bodyPr/>
                    <a:lstStyle/>
                    <a:p>
                      <a:endParaRPr lang="es-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408929">
                <a:tc>
                  <a:txBody>
                    <a:bodyPr/>
                    <a:lstStyle/>
                    <a:p>
                      <a:pPr marL="0" marR="0" lvl="0" indent="0" algn="l" rtl="0">
                        <a:lnSpc>
                          <a:spcPct val="107000"/>
                        </a:lnSpc>
                        <a:spcBef>
                          <a:spcPts val="0"/>
                        </a:spcBef>
                        <a:spcAft>
                          <a:spcPts val="0"/>
                        </a:spcAft>
                        <a:buNone/>
                      </a:pPr>
                      <a:r>
                        <a:rPr lang="en-US" sz="900" u="none" strike="noStrike" cap="none"/>
                        <a:t>Technology transfer effectiveness</a:t>
                      </a:r>
                      <a:endParaRPr sz="900" u="none" strike="noStrike" cap="none">
                        <a:latin typeface="Calibri"/>
                        <a:ea typeface="Calibri"/>
                        <a:cs typeface="Calibri"/>
                        <a:sym typeface="Calibri"/>
                      </a:endParaRPr>
                    </a:p>
                  </a:txBody>
                  <a:tcPr marL="21575" marR="21575" marT="21575" marB="21575"/>
                </a:tc>
                <a:tc gridSpan="2">
                  <a:txBody>
                    <a:bodyPr/>
                    <a:lstStyle/>
                    <a:p>
                      <a:pPr marL="0" marR="0" lvl="0" indent="0" algn="l" rtl="0">
                        <a:lnSpc>
                          <a:spcPct val="107000"/>
                        </a:lnSpc>
                        <a:spcBef>
                          <a:spcPts val="0"/>
                        </a:spcBef>
                        <a:spcAft>
                          <a:spcPts val="0"/>
                        </a:spcAft>
                        <a:buNone/>
                      </a:pPr>
                      <a:r>
                        <a:rPr lang="en-US" sz="900" u="none" strike="noStrike" cap="none"/>
                        <a:t>Successful communication of lessons learned and implications for marsh design</a:t>
                      </a:r>
                      <a:endParaRPr sz="900" u="none" strike="noStrike" cap="none">
                        <a:latin typeface="Calibri"/>
                        <a:ea typeface="Calibri"/>
                        <a:cs typeface="Calibri"/>
                        <a:sym typeface="Calibri"/>
                      </a:endParaRPr>
                    </a:p>
                  </a:txBody>
                  <a:tcPr marL="21575" marR="21575" marT="21575" marB="21575"/>
                </a:tc>
                <a:tc hMerge="1">
                  <a:txBody>
                    <a:bodyPr/>
                    <a:lstStyle/>
                    <a:p>
                      <a:pPr marL="0" marR="0" lvl="0" indent="0" algn="l" rtl="0">
                        <a:lnSpc>
                          <a:spcPct val="107000"/>
                        </a:lnSpc>
                        <a:spcBef>
                          <a:spcPts val="0"/>
                        </a:spcBef>
                        <a:spcAft>
                          <a:spcPts val="0"/>
                        </a:spcAft>
                        <a:buNone/>
                      </a:pPr>
                      <a:endParaRPr sz="900" u="none" strike="noStrike" cap="none">
                        <a:latin typeface="Calibri"/>
                        <a:ea typeface="Calibri"/>
                        <a:cs typeface="Calibri"/>
                        <a:sym typeface="Calibri"/>
                      </a:endParaRPr>
                    </a:p>
                  </a:txBody>
                  <a:tcPr marL="21575" marR="21575" marT="21575" marB="21575"/>
                </a:tc>
                <a:tc>
                  <a:txBody>
                    <a:bodyPr/>
                    <a:lstStyle/>
                    <a:p>
                      <a:pPr marL="0" marR="0" lvl="0" indent="0" algn="l" rtl="0">
                        <a:spcBef>
                          <a:spcPts val="0"/>
                        </a:spcBef>
                        <a:spcAft>
                          <a:spcPts val="0"/>
                        </a:spcAft>
                        <a:buNone/>
                      </a:pPr>
                      <a:r>
                        <a:rPr lang="en-US" sz="900" u="none" strike="noStrike" cap="none"/>
                        <a:t>Feedback from audiences</a:t>
                      </a:r>
                      <a:endParaRPr sz="900"/>
                    </a:p>
                  </a:txBody>
                  <a:tcPr marL="21575" marR="21575" marT="21575" marB="21575"/>
                </a:tc>
                <a:tc gridSpan="2">
                  <a:txBody>
                    <a:bodyPr/>
                    <a:lstStyle/>
                    <a:p>
                      <a:r>
                        <a:rPr lang="en-US" sz="900" dirty="0"/>
                        <a:t>Interest in pursuing future efforts to update formal salt marsh framework recommendations for DoD.</a:t>
                      </a:r>
                      <a:endParaRPr lang="en-US" dirty="0"/>
                    </a:p>
                  </a:txBody>
                  <a:tcPr marL="21575" marR="21575" marT="21575" marB="21575"/>
                </a:tc>
                <a:tc hMerge="1">
                  <a:txBody>
                    <a:bodyPr/>
                    <a:lstStyle/>
                    <a:p>
                      <a:pPr marL="0" marR="0" lvl="0" indent="0" algn="l" rtl="0">
                        <a:spcBef>
                          <a:spcPts val="0"/>
                        </a:spcBef>
                        <a:spcAft>
                          <a:spcPts val="0"/>
                        </a:spcAft>
                        <a:buNone/>
                      </a:pPr>
                      <a:endParaRPr sz="900"/>
                    </a:p>
                  </a:txBody>
                  <a:tcPr marL="21575" marR="21575" marT="21575" marB="21575"/>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29954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normAutofit/>
          </a:bodyPr>
          <a:lstStyle/>
          <a:p>
            <a:pPr eaLnBrk="1" hangingPunct="1"/>
            <a:r>
              <a:rPr lang="en-US" altLang="en-US" dirty="0"/>
              <a:t>Results to Date</a:t>
            </a:r>
          </a:p>
        </p:txBody>
      </p:sp>
      <p:sp>
        <p:nvSpPr>
          <p:cNvPr id="13315" name="Rectangle 5"/>
          <p:cNvSpPr>
            <a:spLocks noGrp="1" noChangeArrowheads="1"/>
          </p:cNvSpPr>
          <p:nvPr>
            <p:ph idx="1"/>
          </p:nvPr>
        </p:nvSpPr>
        <p:spPr>
          <a:xfrm>
            <a:off x="220980" y="1360333"/>
            <a:ext cx="6880368" cy="3263504"/>
          </a:xfrm>
        </p:spPr>
        <p:txBody>
          <a:bodyPr/>
          <a:lstStyle/>
          <a:p>
            <a:pPr>
              <a:buClr>
                <a:srgbClr val="32859B"/>
              </a:buClr>
              <a:buFont typeface="Wingdings" panose="05000000000000000000" pitchFamily="2" charset="2"/>
              <a:buChar char="§"/>
            </a:pPr>
            <a:r>
              <a:rPr lang="en-US" sz="1600" u="sng" dirty="0">
                <a:effectLst/>
                <a:ea typeface="Aptos" panose="020B0004020202020204" pitchFamily="34" charset="0"/>
              </a:rPr>
              <a:t>Phase I: Site Selection and Identification of Key Calibration Parameters</a:t>
            </a:r>
          </a:p>
          <a:p>
            <a:pPr lvl="1">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The team identified key calibration parameters for the first restoration site, Dotson Family Marsh, and our benchmark (</a:t>
            </a:r>
            <a:r>
              <a:rPr lang="en-US" sz="1400" i="1" kern="100" dirty="0">
                <a:effectLst/>
                <a:ea typeface="Aptos" panose="020B0004020202020204" pitchFamily="34" charset="0"/>
                <a:cs typeface="Times New Roman" panose="02020603050405020304" pitchFamily="18" charset="0"/>
              </a:rPr>
              <a:t>natural</a:t>
            </a:r>
            <a:r>
              <a:rPr lang="en-US" sz="1400" kern="100" dirty="0">
                <a:effectLst/>
                <a:ea typeface="Aptos" panose="020B0004020202020204" pitchFamily="34" charset="0"/>
                <a:cs typeface="Times New Roman" panose="02020603050405020304" pitchFamily="18" charset="0"/>
              </a:rPr>
              <a:t>) site, Giant Marsh. We selected a range of calibration parameters (outlined in the Subtask 1.3 report) and include input time series data:</a:t>
            </a:r>
            <a:endParaRPr lang="en-US" sz="1400" kern="100" dirty="0">
              <a:ea typeface="Aptos" panose="020B0004020202020204" pitchFamily="34" charset="0"/>
              <a:cs typeface="Times New Roman" panose="02020603050405020304" pitchFamily="18" charset="0"/>
            </a:endParaRP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Water levels surrounding the marsh (sub-hourly)</a:t>
            </a:r>
          </a:p>
          <a:p>
            <a:pPr lvl="1">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Wind/waves entering the marsh (sub-hourly) </a:t>
            </a:r>
          </a:p>
          <a:p>
            <a:pPr marL="342900" lvl="1" indent="0">
              <a:lnSpc>
                <a:spcPct val="107000"/>
              </a:lnSpc>
              <a:spcBef>
                <a:spcPts val="0"/>
              </a:spcBef>
              <a:spcAft>
                <a:spcPts val="800"/>
              </a:spcAft>
              <a:buNone/>
            </a:pPr>
            <a:r>
              <a:rPr lang="en-US" sz="1400" kern="100" dirty="0">
                <a:effectLst/>
                <a:ea typeface="Aptos" panose="020B0004020202020204" pitchFamily="34" charset="0"/>
                <a:cs typeface="Times New Roman" panose="02020603050405020304" pitchFamily="18" charset="0"/>
              </a:rPr>
              <a:t>And input boundary conditions:</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marsh water levels </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morphology </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vegetation coverage</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marsh sediment concentration</a:t>
            </a:r>
            <a:endParaRPr lang="en-US" sz="1400" kern="100" dirty="0">
              <a:ea typeface="Aptos" panose="020B0004020202020204" pitchFamily="34" charset="0"/>
              <a:cs typeface="Times New Roman" panose="02020603050405020304" pitchFamily="18" charset="0"/>
            </a:endParaRPr>
          </a:p>
          <a:p>
            <a:pPr lvl="1">
              <a:lnSpc>
                <a:spcPct val="107000"/>
              </a:lnSpc>
              <a:spcBef>
                <a:spcPts val="0"/>
              </a:spcBef>
            </a:pPr>
            <a:r>
              <a:rPr lang="en-US" sz="1400" dirty="0">
                <a:effectLst/>
                <a:ea typeface="Aptos" panose="020B0004020202020204" pitchFamily="34" charset="0"/>
              </a:rPr>
              <a:t>Mean sediment concentrations surrounding the marsh</a:t>
            </a:r>
            <a:endParaRPr lang="en-US" altLang="en-US" sz="1400" dirty="0"/>
          </a:p>
          <a:p>
            <a:pPr marL="600075" lvl="1" indent="-257175">
              <a:buFont typeface="Wingdings" charset="2"/>
              <a:buAutoNum type="arabicPeriod"/>
            </a:pPr>
            <a:endParaRPr lang="en-US" altLang="en-US" sz="1000" dirty="0"/>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963D4241-8363-4A22-B8EF-4A78708B629D}" type="slidenum">
              <a:rPr lang="en-US" altLang="en-US" sz="1000"/>
              <a:pPr>
                <a:spcBef>
                  <a:spcPct val="0"/>
                </a:spcBef>
                <a:buSzTx/>
                <a:buFontTx/>
                <a:buNone/>
              </a:pPr>
              <a:t>12</a:t>
            </a:fld>
            <a:endParaRPr lang="en-US" altLang="en-US" sz="1000"/>
          </a:p>
        </p:txBody>
      </p:sp>
      <p:pic>
        <p:nvPicPr>
          <p:cNvPr id="7" name="Picture 6">
            <a:extLst>
              <a:ext uri="{FF2B5EF4-FFF2-40B4-BE49-F238E27FC236}">
                <a16:creationId xmlns:a16="http://schemas.microsoft.com/office/drawing/2014/main" id="{8D4085E2-5E81-7135-5F31-540DBC5960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01348" y="1277607"/>
            <a:ext cx="1879886" cy="2354826"/>
          </a:xfrm>
          <a:prstGeom prst="rect">
            <a:avLst/>
          </a:prstGeom>
          <a:noFill/>
          <a:ln w="12700">
            <a:solidFill>
              <a:schemeClr val="tx1"/>
            </a:solidFill>
          </a:ln>
        </p:spPr>
      </p:pic>
      <p:sp>
        <p:nvSpPr>
          <p:cNvPr id="8" name="TextBox 7">
            <a:extLst>
              <a:ext uri="{FF2B5EF4-FFF2-40B4-BE49-F238E27FC236}">
                <a16:creationId xmlns:a16="http://schemas.microsoft.com/office/drawing/2014/main" id="{FE41271C-3907-FCD2-2165-77A3F4E8C67E}"/>
              </a:ext>
            </a:extLst>
          </p:cNvPr>
          <p:cNvSpPr txBox="1"/>
          <p:nvPr/>
        </p:nvSpPr>
        <p:spPr>
          <a:xfrm>
            <a:off x="6990776" y="3645747"/>
            <a:ext cx="2079481" cy="861774"/>
          </a:xfrm>
          <a:prstGeom prst="rect">
            <a:avLst/>
          </a:prstGeom>
          <a:noFill/>
        </p:spPr>
        <p:txBody>
          <a:bodyPr wrap="square" rtlCol="0">
            <a:spAutoFit/>
          </a:bodyPr>
          <a:lstStyle/>
          <a:p>
            <a:r>
              <a:rPr lang="en-US" sz="1000" b="1" kern="100" dirty="0">
                <a:effectLst/>
                <a:ea typeface="Aptos" panose="020B0004020202020204" pitchFamily="34" charset="0"/>
                <a:cs typeface="Times New Roman" panose="02020603050405020304" pitchFamily="18" charset="0"/>
              </a:rPr>
              <a:t>Figure</a:t>
            </a:r>
            <a:r>
              <a:rPr lang="en-US" sz="1000" kern="100" dirty="0">
                <a:effectLst/>
                <a:ea typeface="Aptos" panose="020B0004020202020204" pitchFamily="34" charset="0"/>
                <a:cs typeface="Times New Roman" panose="02020603050405020304" pitchFamily="18" charset="0"/>
              </a:rPr>
              <a:t>. Visual representation of simulated water levels in Dotson Family Marsh in 2016 following restoration. </a:t>
            </a:r>
          </a:p>
          <a:p>
            <a:endParaRPr lang="en-US" sz="1000" dirty="0"/>
          </a:p>
        </p:txBody>
      </p:sp>
    </p:spTree>
    <p:extLst>
      <p:ext uri="{BB962C8B-B14F-4D97-AF65-F5344CB8AC3E}">
        <p14:creationId xmlns:p14="http://schemas.microsoft.com/office/powerpoint/2010/main" val="3168812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normAutofit/>
          </a:bodyPr>
          <a:lstStyle/>
          <a:p>
            <a:pPr eaLnBrk="1" hangingPunct="1"/>
            <a:r>
              <a:rPr lang="en-US" altLang="en-US" dirty="0"/>
              <a:t>Results to Date</a:t>
            </a:r>
          </a:p>
        </p:txBody>
      </p:sp>
      <p:sp>
        <p:nvSpPr>
          <p:cNvPr id="13315" name="Rectangle 5"/>
          <p:cNvSpPr>
            <a:spLocks noGrp="1" noChangeArrowheads="1"/>
          </p:cNvSpPr>
          <p:nvPr>
            <p:ph idx="1"/>
          </p:nvPr>
        </p:nvSpPr>
        <p:spPr>
          <a:xfrm>
            <a:off x="274320" y="1369219"/>
            <a:ext cx="5791200" cy="3263504"/>
          </a:xfrm>
        </p:spPr>
        <p:txBody>
          <a:bodyPr/>
          <a:lstStyle/>
          <a:p>
            <a:pPr>
              <a:buClr>
                <a:srgbClr val="32859B"/>
              </a:buClr>
              <a:buFont typeface="Wingdings" panose="05000000000000000000" pitchFamily="2" charset="2"/>
              <a:buChar char="§"/>
            </a:pPr>
            <a:endParaRPr lang="en-US" altLang="en-US" dirty="0"/>
          </a:p>
          <a:p>
            <a:pPr>
              <a:buClr>
                <a:srgbClr val="32859B"/>
              </a:buClr>
              <a:buFont typeface="Wingdings" panose="05000000000000000000" pitchFamily="2" charset="2"/>
              <a:buChar char="§"/>
            </a:pPr>
            <a:r>
              <a:rPr lang="en-US" sz="1600" u="sng" dirty="0">
                <a:effectLst/>
                <a:ea typeface="Aptos" panose="020B0004020202020204" pitchFamily="34" charset="0"/>
              </a:rPr>
              <a:t>Phase II: Model Calibration and Validation</a:t>
            </a:r>
          </a:p>
          <a:p>
            <a:pPr lvl="1">
              <a:buClr>
                <a:srgbClr val="32859B"/>
              </a:buClr>
              <a:buFont typeface="Wingdings" panose="05000000000000000000" pitchFamily="2" charset="2"/>
              <a:buChar char="§"/>
            </a:pPr>
            <a:r>
              <a:rPr lang="en-US" sz="1400" dirty="0">
                <a:effectLst/>
                <a:ea typeface="Aptos" panose="020B0004020202020204" pitchFamily="34" charset="0"/>
              </a:rPr>
              <a:t>The team performed initial calibration of the hydrodynamic and wave modules in Delft3D (separately and coupled) to test the accuracy and robustness of the model. We followed calibration methods similar to those defined in Nederhoff et al. (2021).</a:t>
            </a:r>
          </a:p>
          <a:p>
            <a:pPr lvl="1">
              <a:buClr>
                <a:srgbClr val="32859B"/>
              </a:buClr>
              <a:buFont typeface="Wingdings" panose="05000000000000000000" pitchFamily="2" charset="2"/>
              <a:buChar char="§"/>
            </a:pPr>
            <a:r>
              <a:rPr lang="en-US" sz="1400" dirty="0">
                <a:effectLst/>
                <a:ea typeface="Aptos" panose="020B0004020202020204" pitchFamily="34" charset="0"/>
              </a:rPr>
              <a:t>We </a:t>
            </a:r>
            <a:r>
              <a:rPr lang="en-US" sz="1400" kern="100" dirty="0">
                <a:effectLst/>
                <a:ea typeface="Aptos" panose="020B0004020202020204" pitchFamily="34" charset="0"/>
                <a:cs typeface="Times New Roman" panose="02020603050405020304" pitchFamily="18" charset="0"/>
              </a:rPr>
              <a:t>used </a:t>
            </a:r>
            <a:r>
              <a:rPr lang="en-US" sz="1400" kern="100" dirty="0" err="1">
                <a:effectLst/>
                <a:ea typeface="Aptos" panose="020B0004020202020204" pitchFamily="34" charset="0"/>
                <a:cs typeface="Times New Roman" panose="02020603050405020304" pitchFamily="18" charset="0"/>
              </a:rPr>
              <a:t>OpenDA</a:t>
            </a:r>
            <a:r>
              <a:rPr lang="en-US" sz="1400" kern="100" dirty="0">
                <a:effectLst/>
                <a:ea typeface="Aptos" panose="020B0004020202020204" pitchFamily="34" charset="0"/>
                <a:cs typeface="Times New Roman" panose="02020603050405020304" pitchFamily="18" charset="0"/>
              </a:rPr>
              <a:t>, an open interface tool for rapid calibration and data assimilation, to calibrate the Delft3D hydrodynamic and wave models.</a:t>
            </a:r>
          </a:p>
          <a:p>
            <a:pPr lvl="1">
              <a:buClr>
                <a:srgbClr val="32859B"/>
              </a:buClr>
              <a:buFont typeface="Wingdings" panose="05000000000000000000" pitchFamily="2" charset="2"/>
              <a:buChar char="§"/>
            </a:pPr>
            <a:r>
              <a:rPr lang="en-US" sz="1400" kern="100" dirty="0">
                <a:effectLst/>
                <a:ea typeface="Aptos" panose="020B0004020202020204" pitchFamily="34" charset="0"/>
                <a:cs typeface="Times New Roman" panose="02020603050405020304" pitchFamily="18" charset="0"/>
              </a:rPr>
              <a:t>We ran several preliminary calibration simulations – interchanging parameter combinations and estimates for each simulation. The goal of this effort was to minimize the difference between observed values and model outputs (RMSE &lt;0.5).</a:t>
            </a:r>
            <a:endParaRPr lang="en-US" altLang="en-US" sz="1350" dirty="0"/>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963D4241-8363-4A22-B8EF-4A78708B629D}" type="slidenum">
              <a:rPr lang="en-US" altLang="en-US" sz="1050"/>
              <a:pPr>
                <a:spcBef>
                  <a:spcPct val="0"/>
                </a:spcBef>
                <a:buSzTx/>
                <a:buFontTx/>
                <a:buNone/>
              </a:pPr>
              <a:t>13</a:t>
            </a:fld>
            <a:endParaRPr lang="en-US" altLang="en-US" sz="1050"/>
          </a:p>
        </p:txBody>
      </p:sp>
      <p:grpSp>
        <p:nvGrpSpPr>
          <p:cNvPr id="10" name="Group 9">
            <a:extLst>
              <a:ext uri="{FF2B5EF4-FFF2-40B4-BE49-F238E27FC236}">
                <a16:creationId xmlns:a16="http://schemas.microsoft.com/office/drawing/2014/main" id="{E239A9EE-88FA-AC82-1003-74FFC2D2E069}"/>
              </a:ext>
            </a:extLst>
          </p:cNvPr>
          <p:cNvGrpSpPr/>
          <p:nvPr/>
        </p:nvGrpSpPr>
        <p:grpSpPr>
          <a:xfrm>
            <a:off x="6045032" y="1211259"/>
            <a:ext cx="2953265" cy="2661251"/>
            <a:chOff x="6045032" y="1211259"/>
            <a:chExt cx="2953265" cy="2661251"/>
          </a:xfrm>
        </p:grpSpPr>
        <p:pic>
          <p:nvPicPr>
            <p:cNvPr id="2" name="Picture 1">
              <a:extLst>
                <a:ext uri="{FF2B5EF4-FFF2-40B4-BE49-F238E27FC236}">
                  <a16:creationId xmlns:a16="http://schemas.microsoft.com/office/drawing/2014/main" id="{C4FE8F28-2686-1CDD-CD19-54D123F8C83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5032" y="1211259"/>
              <a:ext cx="1471957" cy="1354519"/>
            </a:xfrm>
            <a:prstGeom prst="rect">
              <a:avLst/>
            </a:prstGeom>
            <a:noFill/>
            <a:ln w="12700">
              <a:solidFill>
                <a:schemeClr val="tx1"/>
              </a:solidFill>
            </a:ln>
          </p:spPr>
        </p:pic>
        <p:pic>
          <p:nvPicPr>
            <p:cNvPr id="3" name="Picture 2">
              <a:extLst>
                <a:ext uri="{FF2B5EF4-FFF2-40B4-BE49-F238E27FC236}">
                  <a16:creationId xmlns:a16="http://schemas.microsoft.com/office/drawing/2014/main" id="{666B5F4C-2EAA-295F-75E4-E7DA6874773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90405" y="1211260"/>
              <a:ext cx="1407892" cy="1345759"/>
            </a:xfrm>
            <a:prstGeom prst="rect">
              <a:avLst/>
            </a:prstGeom>
            <a:noFill/>
            <a:ln w="12700">
              <a:solidFill>
                <a:schemeClr val="tx1"/>
              </a:solidFill>
            </a:ln>
          </p:spPr>
        </p:pic>
        <p:pic>
          <p:nvPicPr>
            <p:cNvPr id="4" name="Picture 3">
              <a:extLst>
                <a:ext uri="{FF2B5EF4-FFF2-40B4-BE49-F238E27FC236}">
                  <a16:creationId xmlns:a16="http://schemas.microsoft.com/office/drawing/2014/main" id="{8C5202B0-8058-9579-642A-825AAE9694C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45032" y="2623756"/>
              <a:ext cx="1471956" cy="1247365"/>
            </a:xfrm>
            <a:prstGeom prst="rect">
              <a:avLst/>
            </a:prstGeom>
            <a:noFill/>
            <a:ln w="12700">
              <a:solidFill>
                <a:schemeClr val="tx1"/>
              </a:solidFill>
            </a:ln>
          </p:spPr>
        </p:pic>
        <p:pic>
          <p:nvPicPr>
            <p:cNvPr id="5" name="Picture 4">
              <a:extLst>
                <a:ext uri="{FF2B5EF4-FFF2-40B4-BE49-F238E27FC236}">
                  <a16:creationId xmlns:a16="http://schemas.microsoft.com/office/drawing/2014/main" id="{1D1453F6-D39C-28D7-FA82-BA7B5229FE0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90405" y="2623757"/>
              <a:ext cx="1407892" cy="1248753"/>
            </a:xfrm>
            <a:prstGeom prst="rect">
              <a:avLst/>
            </a:prstGeom>
            <a:noFill/>
            <a:ln w="12700">
              <a:solidFill>
                <a:schemeClr val="tx1"/>
              </a:solidFill>
            </a:ln>
          </p:spPr>
        </p:pic>
      </p:grpSp>
      <p:sp>
        <p:nvSpPr>
          <p:cNvPr id="9" name="TextBox 8">
            <a:extLst>
              <a:ext uri="{FF2B5EF4-FFF2-40B4-BE49-F238E27FC236}">
                <a16:creationId xmlns:a16="http://schemas.microsoft.com/office/drawing/2014/main" id="{175E9219-F005-2FA5-6E56-43485F7EC679}"/>
              </a:ext>
            </a:extLst>
          </p:cNvPr>
          <p:cNvSpPr txBox="1"/>
          <p:nvPr/>
        </p:nvSpPr>
        <p:spPr>
          <a:xfrm>
            <a:off x="5936768" y="3871121"/>
            <a:ext cx="3207232" cy="984885"/>
          </a:xfrm>
          <a:prstGeom prst="rect">
            <a:avLst/>
          </a:prstGeom>
          <a:noFill/>
        </p:spPr>
        <p:txBody>
          <a:bodyPr wrap="square" rtlCol="0">
            <a:spAutoFit/>
          </a:bodyPr>
          <a:lstStyle/>
          <a:p>
            <a:r>
              <a:rPr lang="en-US" sz="1000" b="1" kern="100" dirty="0">
                <a:effectLst/>
                <a:ea typeface="Aptos" panose="020B0004020202020204" pitchFamily="34" charset="0"/>
                <a:cs typeface="Times New Roman" panose="02020603050405020304" pitchFamily="18" charset="0"/>
              </a:rPr>
              <a:t>Figure.</a:t>
            </a:r>
            <a:r>
              <a:rPr lang="en-US" sz="1000" kern="100" dirty="0">
                <a:effectLst/>
                <a:ea typeface="Aptos" panose="020B0004020202020204" pitchFamily="34" charset="0"/>
                <a:cs typeface="Times New Roman" panose="02020603050405020304" pitchFamily="18" charset="0"/>
              </a:rPr>
              <a:t> A subset of preliminary model testing using specified calibration parameters in Delft3D depicting a) cell averaged water level, b) cell averaged water depth, c) </a:t>
            </a:r>
            <a:r>
              <a:rPr lang="en-US" sz="1000" kern="100" dirty="0" err="1">
                <a:effectLst/>
                <a:ea typeface="Aptos" panose="020B0004020202020204" pitchFamily="34" charset="0"/>
                <a:cs typeface="Times New Roman" panose="02020603050405020304" pitchFamily="18" charset="0"/>
              </a:rPr>
              <a:t>Chezy</a:t>
            </a:r>
            <a:r>
              <a:rPr lang="en-US" sz="1000" kern="100" dirty="0">
                <a:effectLst/>
                <a:ea typeface="Aptos" panose="020B0004020202020204" pitchFamily="34" charset="0"/>
                <a:cs typeface="Times New Roman" panose="02020603050405020304" pitchFamily="18" charset="0"/>
              </a:rPr>
              <a:t> roughness, and d) flow velocity. </a:t>
            </a:r>
          </a:p>
          <a:p>
            <a:endParaRPr lang="en-US" dirty="0"/>
          </a:p>
        </p:txBody>
      </p:sp>
    </p:spTree>
    <p:extLst>
      <p:ext uri="{BB962C8B-B14F-4D97-AF65-F5344CB8AC3E}">
        <p14:creationId xmlns:p14="http://schemas.microsoft.com/office/powerpoint/2010/main" val="4234744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normAutofit/>
          </a:bodyPr>
          <a:lstStyle/>
          <a:p>
            <a:pPr eaLnBrk="1" hangingPunct="1"/>
            <a:r>
              <a:rPr lang="en-US" altLang="en-US" dirty="0"/>
              <a:t>Results to Date</a:t>
            </a:r>
          </a:p>
        </p:txBody>
      </p:sp>
      <p:sp>
        <p:nvSpPr>
          <p:cNvPr id="13315" name="Rectangle 5"/>
          <p:cNvSpPr>
            <a:spLocks noGrp="1" noChangeArrowheads="1"/>
          </p:cNvSpPr>
          <p:nvPr>
            <p:ph idx="1"/>
          </p:nvPr>
        </p:nvSpPr>
        <p:spPr>
          <a:xfrm>
            <a:off x="390832" y="1369219"/>
            <a:ext cx="8341688" cy="3263504"/>
          </a:xfrm>
        </p:spPr>
        <p:txBody>
          <a:bodyPr/>
          <a:lstStyle/>
          <a:p>
            <a:pPr>
              <a:buClr>
                <a:srgbClr val="32859B"/>
              </a:buClr>
              <a:buFont typeface="Wingdings" panose="05000000000000000000" pitchFamily="2" charset="2"/>
              <a:buChar char="§"/>
            </a:pPr>
            <a:endParaRPr lang="en-US" altLang="en-US" sz="1500" dirty="0"/>
          </a:p>
          <a:p>
            <a:pPr>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The team has made significant progress toward full calibration of the hydrodynamic and wave models and will soon be able to calibrate the integrated vegetation components with support from Deltares. </a:t>
            </a:r>
          </a:p>
          <a:p>
            <a:pPr>
              <a:lnSpc>
                <a:spcPct val="107000"/>
              </a:lnSpc>
              <a:spcBef>
                <a:spcPts val="0"/>
              </a:spcBef>
              <a:spcAft>
                <a:spcPts val="800"/>
              </a:spcAft>
            </a:pPr>
            <a:r>
              <a:rPr lang="en-US" sz="1400" kern="100" dirty="0">
                <a:ea typeface="Aptos" panose="020B0004020202020204" pitchFamily="34" charset="0"/>
                <a:cs typeface="Times New Roman" panose="02020603050405020304" pitchFamily="18" charset="0"/>
              </a:rPr>
              <a:t>We will </a:t>
            </a:r>
            <a:r>
              <a:rPr lang="en-US" sz="1400" kern="100" dirty="0">
                <a:effectLst/>
                <a:ea typeface="Aptos" panose="020B0004020202020204" pitchFamily="34" charset="0"/>
                <a:cs typeface="Times New Roman" panose="02020603050405020304" pitchFamily="18" charset="0"/>
              </a:rPr>
              <a:t>compare calibration ‘goodness-of-fit’ across all models (separately and fully integrated). Specifically, we will evaluate 1) overall RMSE and bias, and 2) residual areas with large discrepancies in model output. Our goal is to understand how the fully integrated model will reproduce vegetation extent and sediment accretion for the observed time periods.</a:t>
            </a:r>
          </a:p>
          <a:p>
            <a:pPr>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With support from local partners, SFEI and EBRPD, the team will compare model output with storm event information and determine the ability for the model detect the presence of hydrologic or morphologic anomalies.</a:t>
            </a:r>
          </a:p>
          <a:p>
            <a:pPr>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The team is working with Navy subject matter experts to gather data at the second site and determine next steps for calibration using a similar model setup. More information will be shared in the next quarterly progress report.  </a:t>
            </a:r>
          </a:p>
          <a:p>
            <a:pPr marL="0" marR="0" indent="228600">
              <a:lnSpc>
                <a:spcPct val="107000"/>
              </a:lnSpc>
              <a:spcBef>
                <a:spcPts val="0"/>
              </a:spcBef>
              <a:spcAft>
                <a:spcPts val="800"/>
              </a:spcAft>
            </a:pPr>
            <a:endParaRPr lang="en-US" sz="1500" kern="100" dirty="0">
              <a:effectLst/>
              <a:ea typeface="Aptos" panose="020B0004020202020204" pitchFamily="34" charset="0"/>
              <a:cs typeface="Times New Roman" panose="02020603050405020304" pitchFamily="18" charset="0"/>
            </a:endParaRPr>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963D4241-8363-4A22-B8EF-4A78708B629D}" type="slidenum">
              <a:rPr lang="en-US" altLang="en-US" sz="1050"/>
              <a:pPr>
                <a:spcBef>
                  <a:spcPct val="0"/>
                </a:spcBef>
                <a:buSzTx/>
                <a:buFontTx/>
                <a:buNone/>
              </a:pPr>
              <a:t>14</a:t>
            </a:fld>
            <a:endParaRPr lang="en-US" altLang="en-US" sz="1050"/>
          </a:p>
        </p:txBody>
      </p:sp>
    </p:spTree>
    <p:extLst>
      <p:ext uri="{BB962C8B-B14F-4D97-AF65-F5344CB8AC3E}">
        <p14:creationId xmlns:p14="http://schemas.microsoft.com/office/powerpoint/2010/main" val="918328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Issues</a:t>
            </a:r>
          </a:p>
        </p:txBody>
      </p:sp>
      <p:sp>
        <p:nvSpPr>
          <p:cNvPr id="16387" name="Rectangle 3"/>
          <p:cNvSpPr>
            <a:spLocks noGrp="1" noChangeArrowheads="1"/>
          </p:cNvSpPr>
          <p:nvPr>
            <p:ph idx="1"/>
          </p:nvPr>
        </p:nvSpPr>
        <p:spPr>
          <a:xfrm>
            <a:off x="628650" y="1316668"/>
            <a:ext cx="7886700" cy="3360435"/>
          </a:xfrm>
        </p:spPr>
        <p:txBody>
          <a:bodyPr/>
          <a:lstStyle/>
          <a:p>
            <a:pPr>
              <a:buClr>
                <a:srgbClr val="32859B"/>
              </a:buClr>
              <a:buFont typeface="Wingdings" panose="05000000000000000000" pitchFamily="2" charset="2"/>
              <a:buChar char="§"/>
            </a:pPr>
            <a:r>
              <a:rPr lang="en-US" altLang="en-US" sz="1600" dirty="0"/>
              <a:t>Due to staff turnover and internal administrative delays, we have not yet been able to calibrate the vegetation components of our coupled model. This includes the accretion and NBSDynamics modules.</a:t>
            </a:r>
          </a:p>
          <a:p>
            <a:pPr>
              <a:buClr>
                <a:srgbClr val="32859B"/>
              </a:buClr>
              <a:buFont typeface="Wingdings" panose="05000000000000000000" pitchFamily="2" charset="2"/>
              <a:buChar char="§"/>
            </a:pPr>
            <a:r>
              <a:rPr lang="en-US" altLang="en-US" sz="1600" i="1" dirty="0"/>
              <a:t>We are currently working with Deltares to fully integrate both components into the Delft3D Flow-Wave modeling suite. Calibration will begin once integration is complete.</a:t>
            </a:r>
          </a:p>
          <a:p>
            <a:pPr>
              <a:buClr>
                <a:srgbClr val="32859B"/>
              </a:buClr>
              <a:buFont typeface="Wingdings" panose="05000000000000000000" pitchFamily="2" charset="2"/>
              <a:buChar char="§"/>
            </a:pPr>
            <a:r>
              <a:rPr lang="en-US" altLang="en-US" sz="1600" i="1" dirty="0"/>
              <a:t>These delays were not anticipated and have temporarily slowed Phase II progress.</a:t>
            </a:r>
          </a:p>
          <a:p>
            <a:pPr>
              <a:buClr>
                <a:srgbClr val="32859B"/>
              </a:buClr>
              <a:buFont typeface="Wingdings" panose="05000000000000000000" pitchFamily="2" charset="2"/>
              <a:buChar char="§"/>
            </a:pPr>
            <a:r>
              <a:rPr lang="en-US" altLang="en-US" sz="1600" i="1" dirty="0"/>
              <a:t>Financial Implications: No current cost overrun is anticipated, but further delay in subcontracting or staffing could require no-cost extension to maintain model fidelity and delivery schedule.</a:t>
            </a:r>
          </a:p>
          <a:p>
            <a:pPr>
              <a:buClr>
                <a:srgbClr val="32859B"/>
              </a:buClr>
              <a:buFont typeface="Wingdings" panose="05000000000000000000" pitchFamily="2" charset="2"/>
              <a:buChar char="§"/>
            </a:pPr>
            <a:r>
              <a:rPr lang="en-US" altLang="en-US" sz="1600" i="1" dirty="0"/>
              <a:t>Impacts to Project Timeline: Vegetation model calibration is approximately one quarter behind schedule. However, the team expects to realign with the overall timeline if integration is completed this quarter and calibration begins as planned.</a:t>
            </a:r>
            <a:endParaRPr lang="en-US" sz="1600" kern="100" dirty="0">
              <a:solidFill>
                <a:schemeClr val="accent1"/>
              </a:solidFill>
              <a:effectLst/>
              <a:ea typeface="Aptos" panose="020B0004020202020204" pitchFamily="34" charset="0"/>
              <a:cs typeface="Times New Roman" panose="02020603050405020304" pitchFamily="18" charset="0"/>
            </a:endParaRPr>
          </a:p>
          <a:p>
            <a:pPr>
              <a:buClr>
                <a:srgbClr val="005C8F"/>
              </a:buClr>
              <a:buFont typeface="Wingdings" panose="05000000000000000000" pitchFamily="2" charset="2"/>
              <a:buChar char="§"/>
            </a:pPr>
            <a:endParaRPr lang="en-US" altLang="en-US" sz="1600" dirty="0"/>
          </a:p>
          <a:p>
            <a:pPr eaLnBrk="1" hangingPunct="1"/>
            <a:endParaRPr lang="en-US" altLang="en-US" sz="1600" dirty="0"/>
          </a:p>
          <a:p>
            <a:pPr eaLnBrk="1" hangingPunct="1"/>
            <a:endParaRPr lang="en-US" altLang="en-US" sz="1600" dirty="0"/>
          </a:p>
        </p:txBody>
      </p:sp>
      <p:sp>
        <p:nvSpPr>
          <p:cNvPr id="1638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5CE98062-4888-40D0-86FF-7941C9C7CEC2}" type="slidenum">
              <a:rPr lang="en-US" altLang="en-US" sz="1050"/>
              <a:pPr>
                <a:spcBef>
                  <a:spcPct val="0"/>
                </a:spcBef>
                <a:buSzTx/>
                <a:buFontTx/>
                <a:buNone/>
              </a:pPr>
              <a:t>15</a:t>
            </a:fld>
            <a:endParaRPr lang="en-US" altLang="en-US" sz="1050" dirty="0"/>
          </a:p>
        </p:txBody>
      </p:sp>
    </p:spTree>
    <p:extLst>
      <p:ext uri="{BB962C8B-B14F-4D97-AF65-F5344CB8AC3E}">
        <p14:creationId xmlns:p14="http://schemas.microsoft.com/office/powerpoint/2010/main" val="3272516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7321" y="1402135"/>
            <a:ext cx="3189799" cy="2842205"/>
          </a:xfrm>
        </p:spPr>
        <p:txBody>
          <a:bodyPr rtlCol="0"/>
          <a:lstStyle/>
          <a:p>
            <a:pPr>
              <a:buClr>
                <a:srgbClr val="32859B"/>
              </a:buClr>
              <a:buFont typeface="Wingdings" panose="05000000000000000000" pitchFamily="2" charset="2"/>
              <a:buChar char="§"/>
              <a:defRPr/>
            </a:pPr>
            <a:r>
              <a:rPr lang="en-US" dirty="0">
                <a:solidFill>
                  <a:schemeClr val="accent4">
                    <a:lumMod val="10000"/>
                  </a:schemeClr>
                </a:solidFill>
              </a:rPr>
              <a:t>Major milestones:</a:t>
            </a:r>
          </a:p>
          <a:p>
            <a:pPr lvl="1">
              <a:buClr>
                <a:srgbClr val="32859B"/>
              </a:buClr>
              <a:buFont typeface="Wingdings" panose="05000000000000000000" pitchFamily="2" charset="2"/>
              <a:buChar char="§"/>
              <a:defRPr/>
            </a:pPr>
            <a:r>
              <a:rPr lang="en-US" sz="1600" dirty="0">
                <a:solidFill>
                  <a:schemeClr val="accent4">
                    <a:lumMod val="10000"/>
                  </a:schemeClr>
                </a:solidFill>
              </a:rPr>
              <a:t>General framework recommendations report (12/31/2025)</a:t>
            </a:r>
          </a:p>
          <a:p>
            <a:pPr marL="342900" lvl="1" indent="0">
              <a:buClr>
                <a:srgbClr val="32859B"/>
              </a:buClr>
              <a:buNone/>
              <a:defRPr/>
            </a:pPr>
            <a:endParaRPr lang="en-US" sz="1600" dirty="0">
              <a:solidFill>
                <a:schemeClr val="accent4">
                  <a:lumMod val="10000"/>
                </a:schemeClr>
              </a:solidFill>
            </a:endParaRPr>
          </a:p>
          <a:p>
            <a:pPr lvl="1">
              <a:buClr>
                <a:srgbClr val="32859B"/>
              </a:buClr>
              <a:buFont typeface="Wingdings" panose="05000000000000000000" pitchFamily="2" charset="2"/>
              <a:buChar char="§"/>
              <a:defRPr/>
            </a:pPr>
            <a:r>
              <a:rPr lang="en-US" sz="1600" dirty="0">
                <a:solidFill>
                  <a:schemeClr val="accent4">
                    <a:lumMod val="10000"/>
                  </a:schemeClr>
                </a:solidFill>
              </a:rPr>
              <a:t>Submit peer-reviewed journal article (03/31/2026)</a:t>
            </a:r>
          </a:p>
          <a:p>
            <a:pPr marL="342900" lvl="1" indent="0">
              <a:buClr>
                <a:srgbClr val="32859B"/>
              </a:buClr>
              <a:buNone/>
              <a:defRPr/>
            </a:pPr>
            <a:endParaRPr lang="en-US" sz="1600" dirty="0">
              <a:solidFill>
                <a:schemeClr val="accent4">
                  <a:lumMod val="10000"/>
                </a:schemeClr>
              </a:solidFill>
            </a:endParaRPr>
          </a:p>
          <a:p>
            <a:pPr lvl="1">
              <a:buClr>
                <a:srgbClr val="32859B"/>
              </a:buClr>
              <a:buFont typeface="Wingdings" panose="05000000000000000000" pitchFamily="2" charset="2"/>
              <a:buChar char="§"/>
              <a:defRPr/>
            </a:pPr>
            <a:r>
              <a:rPr lang="en-US" sz="1600" dirty="0">
                <a:solidFill>
                  <a:schemeClr val="accent4">
                    <a:lumMod val="10000"/>
                  </a:schemeClr>
                </a:solidFill>
              </a:rPr>
              <a:t>Final Report (03/31/2026)</a:t>
            </a:r>
          </a:p>
          <a:p>
            <a:pPr lvl="1">
              <a:buClr>
                <a:srgbClr val="32859B"/>
              </a:buClr>
              <a:buFont typeface="Wingdings" panose="05000000000000000000" pitchFamily="2" charset="2"/>
              <a:buChar char="§"/>
              <a:defRPr/>
            </a:pPr>
            <a:endParaRPr lang="en-US" dirty="0">
              <a:solidFill>
                <a:schemeClr val="accent4">
                  <a:lumMod val="10000"/>
                </a:schemeClr>
              </a:solidFill>
            </a:endParaRPr>
          </a:p>
        </p:txBody>
      </p:sp>
      <p:sp>
        <p:nvSpPr>
          <p:cNvPr id="2" name="Slide Number Placeholder 1"/>
          <p:cNvSpPr>
            <a:spLocks noGrp="1"/>
          </p:cNvSpPr>
          <p:nvPr>
            <p:ph type="sldNum" sz="quarter" idx="12"/>
          </p:nvPr>
        </p:nvSpPr>
        <p:spPr/>
        <p:txBody>
          <a:bodyPr/>
          <a:lstStyle/>
          <a:p>
            <a:pPr>
              <a:defRPr/>
            </a:pPr>
            <a:fld id="{3FFFF23A-788A-40E7-A79E-1CDAC1097B76}" type="slidenum">
              <a:rPr lang="en-US" smtClean="0"/>
              <a:pPr>
                <a:defRPr/>
              </a:pPr>
              <a:t>16</a:t>
            </a:fld>
            <a:endParaRPr lang="en-US"/>
          </a:p>
        </p:txBody>
      </p:sp>
      <p:sp>
        <p:nvSpPr>
          <p:cNvPr id="5" name="Title 4">
            <a:extLst>
              <a:ext uri="{FF2B5EF4-FFF2-40B4-BE49-F238E27FC236}">
                <a16:creationId xmlns:a16="http://schemas.microsoft.com/office/drawing/2014/main" id="{5E5E87A3-2E94-9EED-3C09-7E3CFDF06899}"/>
              </a:ext>
            </a:extLst>
          </p:cNvPr>
          <p:cNvSpPr>
            <a:spLocks noGrp="1"/>
          </p:cNvSpPr>
          <p:nvPr>
            <p:ph type="title"/>
          </p:nvPr>
        </p:nvSpPr>
        <p:spPr/>
        <p:txBody>
          <a:bodyPr/>
          <a:lstStyle/>
          <a:p>
            <a:r>
              <a:rPr lang="en-US"/>
              <a:t>Next Steps</a:t>
            </a:r>
          </a:p>
        </p:txBody>
      </p:sp>
      <p:graphicFrame>
        <p:nvGraphicFramePr>
          <p:cNvPr id="4" name="Table 3">
            <a:extLst>
              <a:ext uri="{FF2B5EF4-FFF2-40B4-BE49-F238E27FC236}">
                <a16:creationId xmlns:a16="http://schemas.microsoft.com/office/drawing/2014/main" id="{D93B9955-C0EE-3F3E-F0A7-B89756845894}"/>
              </a:ext>
            </a:extLst>
          </p:cNvPr>
          <p:cNvGraphicFramePr>
            <a:graphicFrameLocks noGrp="1"/>
          </p:cNvGraphicFramePr>
          <p:nvPr>
            <p:extLst>
              <p:ext uri="{D42A27DB-BD31-4B8C-83A1-F6EECF244321}">
                <p14:modId xmlns:p14="http://schemas.microsoft.com/office/powerpoint/2010/main" val="2836776244"/>
              </p:ext>
            </p:extLst>
          </p:nvPr>
        </p:nvGraphicFramePr>
        <p:xfrm>
          <a:off x="3627120" y="1239927"/>
          <a:ext cx="5288282" cy="3262315"/>
        </p:xfrm>
        <a:graphic>
          <a:graphicData uri="http://schemas.openxmlformats.org/drawingml/2006/table">
            <a:tbl>
              <a:tblPr firstRow="1" firstCol="1">
                <a:tableStyleId>{5C22544A-7EE6-4342-B048-85BDC9FD1C3A}</a:tableStyleId>
              </a:tblPr>
              <a:tblGrid>
                <a:gridCol w="1849930">
                  <a:extLst>
                    <a:ext uri="{9D8B030D-6E8A-4147-A177-3AD203B41FA5}">
                      <a16:colId xmlns:a16="http://schemas.microsoft.com/office/drawing/2014/main" val="2972237278"/>
                    </a:ext>
                  </a:extLst>
                </a:gridCol>
                <a:gridCol w="532702">
                  <a:extLst>
                    <a:ext uri="{9D8B030D-6E8A-4147-A177-3AD203B41FA5}">
                      <a16:colId xmlns:a16="http://schemas.microsoft.com/office/drawing/2014/main" val="153944892"/>
                    </a:ext>
                  </a:extLst>
                </a:gridCol>
                <a:gridCol w="290565">
                  <a:extLst>
                    <a:ext uri="{9D8B030D-6E8A-4147-A177-3AD203B41FA5}">
                      <a16:colId xmlns:a16="http://schemas.microsoft.com/office/drawing/2014/main" val="1236616824"/>
                    </a:ext>
                  </a:extLst>
                </a:gridCol>
                <a:gridCol w="290565">
                  <a:extLst>
                    <a:ext uri="{9D8B030D-6E8A-4147-A177-3AD203B41FA5}">
                      <a16:colId xmlns:a16="http://schemas.microsoft.com/office/drawing/2014/main" val="2142138197"/>
                    </a:ext>
                  </a:extLst>
                </a:gridCol>
                <a:gridCol w="290565">
                  <a:extLst>
                    <a:ext uri="{9D8B030D-6E8A-4147-A177-3AD203B41FA5}">
                      <a16:colId xmlns:a16="http://schemas.microsoft.com/office/drawing/2014/main" val="2617738279"/>
                    </a:ext>
                  </a:extLst>
                </a:gridCol>
                <a:gridCol w="290565">
                  <a:extLst>
                    <a:ext uri="{9D8B030D-6E8A-4147-A177-3AD203B41FA5}">
                      <a16:colId xmlns:a16="http://schemas.microsoft.com/office/drawing/2014/main" val="733940934"/>
                    </a:ext>
                  </a:extLst>
                </a:gridCol>
                <a:gridCol w="290565">
                  <a:extLst>
                    <a:ext uri="{9D8B030D-6E8A-4147-A177-3AD203B41FA5}">
                      <a16:colId xmlns:a16="http://schemas.microsoft.com/office/drawing/2014/main" val="3475759376"/>
                    </a:ext>
                  </a:extLst>
                </a:gridCol>
                <a:gridCol w="290565">
                  <a:extLst>
                    <a:ext uri="{9D8B030D-6E8A-4147-A177-3AD203B41FA5}">
                      <a16:colId xmlns:a16="http://schemas.microsoft.com/office/drawing/2014/main" val="3098654520"/>
                    </a:ext>
                  </a:extLst>
                </a:gridCol>
                <a:gridCol w="290565">
                  <a:extLst>
                    <a:ext uri="{9D8B030D-6E8A-4147-A177-3AD203B41FA5}">
                      <a16:colId xmlns:a16="http://schemas.microsoft.com/office/drawing/2014/main" val="3455066460"/>
                    </a:ext>
                  </a:extLst>
                </a:gridCol>
                <a:gridCol w="290565">
                  <a:extLst>
                    <a:ext uri="{9D8B030D-6E8A-4147-A177-3AD203B41FA5}">
                      <a16:colId xmlns:a16="http://schemas.microsoft.com/office/drawing/2014/main" val="243308464"/>
                    </a:ext>
                  </a:extLst>
                </a:gridCol>
                <a:gridCol w="290565">
                  <a:extLst>
                    <a:ext uri="{9D8B030D-6E8A-4147-A177-3AD203B41FA5}">
                      <a16:colId xmlns:a16="http://schemas.microsoft.com/office/drawing/2014/main" val="444849744"/>
                    </a:ext>
                  </a:extLst>
                </a:gridCol>
                <a:gridCol w="290565">
                  <a:extLst>
                    <a:ext uri="{9D8B030D-6E8A-4147-A177-3AD203B41FA5}">
                      <a16:colId xmlns:a16="http://schemas.microsoft.com/office/drawing/2014/main" val="2715020011"/>
                    </a:ext>
                  </a:extLst>
                </a:gridCol>
              </a:tblGrid>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gridSpan="2">
                  <a:txBody>
                    <a:bodyPr/>
                    <a:lstStyle/>
                    <a:p>
                      <a:pPr marL="0" marR="0" algn="ctr">
                        <a:lnSpc>
                          <a:spcPct val="107000"/>
                        </a:lnSpc>
                        <a:spcBef>
                          <a:spcPts val="0"/>
                        </a:spcBef>
                        <a:spcAft>
                          <a:spcPts val="0"/>
                        </a:spcAft>
                      </a:pPr>
                      <a:r>
                        <a:rPr lang="en-US" sz="800" kern="100">
                          <a:effectLst/>
                        </a:rPr>
                        <a:t>2024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gridSpan="4">
                  <a:txBody>
                    <a:bodyPr/>
                    <a:lstStyle/>
                    <a:p>
                      <a:pPr marL="0" marR="0" algn="ctr">
                        <a:lnSpc>
                          <a:spcPct val="107000"/>
                        </a:lnSpc>
                        <a:spcBef>
                          <a:spcPts val="0"/>
                        </a:spcBef>
                        <a:spcAft>
                          <a:spcPts val="0"/>
                        </a:spcAft>
                      </a:pPr>
                      <a:r>
                        <a:rPr lang="en-US" sz="800" kern="100">
                          <a:effectLst/>
                        </a:rPr>
                        <a:t>2025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algn="ctr">
                        <a:lnSpc>
                          <a:spcPct val="107000"/>
                        </a:lnSpc>
                        <a:spcBef>
                          <a:spcPts val="0"/>
                        </a:spcBef>
                        <a:spcAft>
                          <a:spcPts val="0"/>
                        </a:spcAft>
                      </a:pPr>
                      <a:r>
                        <a:rPr lang="en-US" sz="800" kern="100">
                          <a:effectLst/>
                        </a:rPr>
                        <a:t>2026</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4330022"/>
                  </a:ext>
                </a:extLst>
              </a:tr>
              <a:tr h="167837">
                <a:tc>
                  <a:txBody>
                    <a:bodyPr/>
                    <a:lstStyle/>
                    <a:p>
                      <a:pPr marL="0" marR="0">
                        <a:lnSpc>
                          <a:spcPct val="107000"/>
                        </a:lnSpc>
                        <a:spcBef>
                          <a:spcPts val="0"/>
                        </a:spcBef>
                        <a:spcAft>
                          <a:spcPts val="0"/>
                        </a:spcAft>
                      </a:pPr>
                      <a:r>
                        <a:rPr lang="en-US" sz="800" kern="100">
                          <a:effectLst/>
                        </a:rPr>
                        <a:t>Phase</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Task</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629803890"/>
                  </a:ext>
                </a:extLst>
              </a:tr>
              <a:tr h="270107">
                <a:tc>
                  <a:txBody>
                    <a:bodyPr/>
                    <a:lstStyle/>
                    <a:p>
                      <a:pPr marL="0" marR="0">
                        <a:lnSpc>
                          <a:spcPct val="107000"/>
                        </a:lnSpc>
                        <a:spcBef>
                          <a:spcPts val="0"/>
                        </a:spcBef>
                        <a:spcAft>
                          <a:spcPts val="0"/>
                        </a:spcAft>
                      </a:pPr>
                      <a:r>
                        <a:rPr lang="en-US" sz="800" kern="100">
                          <a:effectLst/>
                        </a:rPr>
                        <a:t>Site Selection and Key Calibration Parameters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a:effectLst/>
                          <a:highlight>
                            <a:srgbClr val="00FF00"/>
                          </a:highligh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047352014"/>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highlight>
                            <a:srgbClr val="00FF00"/>
                          </a:highligh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a:effectLst/>
                          <a:highlight>
                            <a:srgbClr val="00FF00"/>
                          </a:highligh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835676250"/>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334337176"/>
                  </a:ext>
                </a:extLst>
              </a:tr>
              <a:tr h="134270">
                <a:tc>
                  <a:txBody>
                    <a:bodyPr/>
                    <a:lstStyle/>
                    <a:p>
                      <a:pPr marL="0" marR="0">
                        <a:lnSpc>
                          <a:spcPct val="107000"/>
                        </a:lnSpc>
                        <a:spcBef>
                          <a:spcPts val="0"/>
                        </a:spcBef>
                        <a:spcAft>
                          <a:spcPts val="0"/>
                        </a:spcAft>
                      </a:pPr>
                      <a:r>
                        <a:rPr lang="en-US" sz="800" kern="100">
                          <a:effectLst/>
                        </a:rPr>
                        <a:t>Calibration and Validation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rgbClr val="FFFF00"/>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rgbClr val="FFFF00"/>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459196308"/>
                  </a:ext>
                </a:extLst>
              </a:tr>
              <a:tr h="134270">
                <a:tc>
                  <a:txBody>
                    <a:bodyPr/>
                    <a:lstStyle/>
                    <a:p>
                      <a:pPr marL="0" marR="0">
                        <a:lnSpc>
                          <a:spcPct val="107000"/>
                        </a:lnSpc>
                        <a:spcBef>
                          <a:spcPts val="0"/>
                        </a:spcBef>
                        <a:spcAft>
                          <a:spcPts val="0"/>
                        </a:spcAft>
                      </a:pPr>
                      <a:r>
                        <a:rPr lang="en-US" sz="800" kern="100">
                          <a:effectLst/>
                        </a:rPr>
                        <a:t>Model Simulation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509048696"/>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6</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274236423"/>
                  </a:ext>
                </a:extLst>
              </a:tr>
              <a:tr h="270107">
                <a:tc>
                  <a:txBody>
                    <a:bodyPr/>
                    <a:lstStyle/>
                    <a:p>
                      <a:pPr marL="0" marR="0">
                        <a:lnSpc>
                          <a:spcPct val="107000"/>
                        </a:lnSpc>
                        <a:spcBef>
                          <a:spcPts val="0"/>
                        </a:spcBef>
                        <a:spcAft>
                          <a:spcPts val="0"/>
                        </a:spcAft>
                      </a:pPr>
                      <a:r>
                        <a:rPr lang="en-US" sz="800" kern="100">
                          <a:effectLst/>
                        </a:rPr>
                        <a:t>Output Compilation and Analysis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7</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336723533"/>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8</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800210391"/>
                  </a:ext>
                </a:extLst>
              </a:tr>
              <a:tr h="270107">
                <a:tc>
                  <a:txBody>
                    <a:bodyPr/>
                    <a:lstStyle/>
                    <a:p>
                      <a:pPr marL="0" marR="0">
                        <a:lnSpc>
                          <a:spcPct val="107000"/>
                        </a:lnSpc>
                        <a:spcBef>
                          <a:spcPts val="0"/>
                        </a:spcBef>
                        <a:spcAft>
                          <a:spcPts val="0"/>
                        </a:spcAft>
                      </a:pPr>
                      <a:r>
                        <a:rPr lang="en-US" sz="800" kern="100">
                          <a:effectLst/>
                        </a:rPr>
                        <a:t>Reporting and Technology Transfer</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9</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425333279"/>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950646724"/>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973992189"/>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025778975"/>
                  </a:ext>
                </a:extLst>
              </a:tr>
              <a:tr h="134270">
                <a:tc>
                  <a:txBody>
                    <a:bodyPr/>
                    <a:lstStyle/>
                    <a:p>
                      <a:pPr marL="0" marR="0">
                        <a:lnSpc>
                          <a:spcPct val="107000"/>
                        </a:lnSpc>
                        <a:spcBef>
                          <a:spcPts val="0"/>
                        </a:spcBef>
                        <a:spcAft>
                          <a:spcPts val="0"/>
                        </a:spcAft>
                      </a:pPr>
                      <a:r>
                        <a:rPr lang="en-US" sz="800" kern="100">
                          <a:effectLst/>
                        </a:rPr>
                        <a:t>Annual ESTCP IPR</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X</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X</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329512694"/>
                  </a:ext>
                </a:extLst>
              </a:tr>
              <a:tr h="134270">
                <a:tc>
                  <a:txBody>
                    <a:bodyPr/>
                    <a:lstStyle/>
                    <a:p>
                      <a:pPr marL="0" marR="0">
                        <a:lnSpc>
                          <a:spcPct val="107000"/>
                        </a:lnSpc>
                        <a:spcBef>
                          <a:spcPts val="0"/>
                        </a:spcBef>
                        <a:spcAft>
                          <a:spcPts val="0"/>
                        </a:spcAft>
                      </a:pPr>
                      <a:r>
                        <a:rPr lang="en-US" sz="800" kern="100">
                          <a:effectLst/>
                        </a:rPr>
                        <a:t>Symposium Poster Presentation*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X</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759743396"/>
                  </a:ext>
                </a:extLst>
              </a:tr>
              <a:tr h="134270">
                <a:tc>
                  <a:txBody>
                    <a:bodyPr/>
                    <a:lstStyle/>
                    <a:p>
                      <a:pPr marL="0" marR="0">
                        <a:lnSpc>
                          <a:spcPct val="107000"/>
                        </a:lnSpc>
                        <a:spcBef>
                          <a:spcPts val="0"/>
                        </a:spcBef>
                        <a:spcAft>
                          <a:spcPts val="0"/>
                        </a:spcAft>
                      </a:pPr>
                      <a:r>
                        <a:rPr lang="en-US" sz="800" kern="100">
                          <a:effectLst/>
                        </a:rPr>
                        <a:t>Quarterly Reports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60193999"/>
                  </a:ext>
                </a:extLst>
              </a:tr>
              <a:tr h="270107">
                <a:tc>
                  <a:txBody>
                    <a:bodyPr/>
                    <a:lstStyle/>
                    <a:p>
                      <a:pPr marL="0" marR="0">
                        <a:lnSpc>
                          <a:spcPct val="107000"/>
                        </a:lnSpc>
                        <a:spcBef>
                          <a:spcPts val="0"/>
                        </a:spcBef>
                        <a:spcAft>
                          <a:spcPts val="0"/>
                        </a:spcAft>
                      </a:pPr>
                      <a:r>
                        <a:rPr lang="en-US" sz="800" kern="100">
                          <a:effectLst/>
                        </a:rPr>
                        <a:t>Submit peer-reviewed journal article</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069249263"/>
                  </a:ext>
                </a:extLst>
              </a:tr>
              <a:tr h="134270">
                <a:tc>
                  <a:txBody>
                    <a:bodyPr/>
                    <a:lstStyle/>
                    <a:p>
                      <a:pPr marL="0" marR="0">
                        <a:lnSpc>
                          <a:spcPct val="107000"/>
                        </a:lnSpc>
                        <a:spcBef>
                          <a:spcPts val="0"/>
                        </a:spcBef>
                        <a:spcAft>
                          <a:spcPts val="0"/>
                        </a:spcAft>
                      </a:pPr>
                      <a:r>
                        <a:rPr lang="en-US" sz="800" kern="100">
                          <a:effectLst/>
                        </a:rPr>
                        <a:t>Final Report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668101092"/>
                  </a:ext>
                </a:extLst>
              </a:tr>
              <a:tr h="134270">
                <a:tc gridSpan="12">
                  <a:txBody>
                    <a:bodyPr/>
                    <a:lstStyle/>
                    <a:p>
                      <a:pPr marL="0" marR="0">
                        <a:lnSpc>
                          <a:spcPct val="107000"/>
                        </a:lnSpc>
                        <a:spcBef>
                          <a:spcPts val="0"/>
                        </a:spcBef>
                        <a:spcAft>
                          <a:spcPts val="0"/>
                        </a:spcAft>
                      </a:pPr>
                      <a:r>
                        <a:rPr lang="en-US" sz="800" kern="100" dirty="0">
                          <a:effectLst/>
                        </a:rPr>
                        <a:t>*The team will present a poster during each active year at the SERDP and ESTCP symposium</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58502897"/>
                  </a:ext>
                </a:extLst>
              </a:tr>
            </a:tbl>
          </a:graphicData>
        </a:graphic>
      </p:graphicFrame>
    </p:spTree>
    <p:extLst>
      <p:ext uri="{BB962C8B-B14F-4D97-AF65-F5344CB8AC3E}">
        <p14:creationId xmlns:p14="http://schemas.microsoft.com/office/powerpoint/2010/main" val="3541681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4D21-2C0B-E47D-50DD-354038E5DCBF}"/>
              </a:ext>
            </a:extLst>
          </p:cNvPr>
          <p:cNvSpPr>
            <a:spLocks noGrp="1"/>
          </p:cNvSpPr>
          <p:nvPr>
            <p:ph type="title"/>
          </p:nvPr>
        </p:nvSpPr>
        <p:spPr/>
        <p:txBody>
          <a:bodyPr>
            <a:normAutofit/>
          </a:bodyPr>
          <a:lstStyle/>
          <a:p>
            <a:r>
              <a:rPr lang="en-US" dirty="0"/>
              <a:t>Impact to DoD Mission  </a:t>
            </a:r>
          </a:p>
        </p:txBody>
      </p:sp>
      <p:sp>
        <p:nvSpPr>
          <p:cNvPr id="3" name="Content Placeholder 2">
            <a:extLst>
              <a:ext uri="{FF2B5EF4-FFF2-40B4-BE49-F238E27FC236}">
                <a16:creationId xmlns:a16="http://schemas.microsoft.com/office/drawing/2014/main" id="{19756478-6925-A9B3-7458-7D5696D98EAD}"/>
              </a:ext>
            </a:extLst>
          </p:cNvPr>
          <p:cNvSpPr>
            <a:spLocks noGrp="1"/>
          </p:cNvSpPr>
          <p:nvPr>
            <p:ph idx="1"/>
          </p:nvPr>
        </p:nvSpPr>
        <p:spPr>
          <a:xfrm>
            <a:off x="628650" y="1409149"/>
            <a:ext cx="8019404" cy="3165872"/>
          </a:xfrm>
        </p:spPr>
        <p:txBody>
          <a:bodyPr/>
          <a:lstStyle/>
          <a:p>
            <a:pPr algn="l" eaLnBrk="1" hangingPunct="1">
              <a:spcBef>
                <a:spcPct val="20000"/>
              </a:spcBef>
              <a:buClr>
                <a:srgbClr val="32859B"/>
              </a:buClr>
              <a:buSzPct val="75000"/>
              <a:buFont typeface="Wingdings" panose="05000000000000000000" pitchFamily="2" charset="2"/>
              <a:buChar char="§"/>
            </a:pPr>
            <a:r>
              <a:rPr lang="en-US" sz="1800" dirty="0"/>
              <a:t>Top 3 Accomplishments</a:t>
            </a:r>
          </a:p>
          <a:p>
            <a:pPr lvl="1">
              <a:spcBef>
                <a:spcPct val="20000"/>
              </a:spcBef>
              <a:buClr>
                <a:srgbClr val="32859B"/>
              </a:buClr>
              <a:buSzPct val="75000"/>
              <a:buFont typeface="Wingdings" panose="05000000000000000000" pitchFamily="2" charset="2"/>
              <a:buChar char="§"/>
            </a:pPr>
            <a:r>
              <a:rPr lang="en-US" dirty="0"/>
              <a:t>Successful integration of Delft3D hydrodynamics and wave models for restored and benchmark marshes, establishing the foundation for evaluating restoration performance.</a:t>
            </a:r>
          </a:p>
          <a:p>
            <a:pPr lvl="1">
              <a:spcBef>
                <a:spcPct val="20000"/>
              </a:spcBef>
              <a:buClr>
                <a:srgbClr val="32859B"/>
              </a:buClr>
              <a:buSzPct val="75000"/>
              <a:buFont typeface="Wingdings" panose="05000000000000000000" pitchFamily="2" charset="2"/>
              <a:buChar char="§"/>
            </a:pPr>
            <a:r>
              <a:rPr lang="en-US" dirty="0"/>
              <a:t>Development of a coupled modeling framework that links waves, flow, sediment, and vegetation, enabling predictive simulation under future sea level rise and restoration design scenarios.</a:t>
            </a:r>
          </a:p>
          <a:p>
            <a:pPr lvl="1">
              <a:spcBef>
                <a:spcPct val="20000"/>
              </a:spcBef>
              <a:buClr>
                <a:srgbClr val="32859B"/>
              </a:buClr>
              <a:buSzPct val="75000"/>
              <a:buFont typeface="Wingdings" panose="05000000000000000000" pitchFamily="2" charset="2"/>
              <a:buChar char="§"/>
            </a:pPr>
            <a:r>
              <a:rPr lang="en-US" dirty="0"/>
              <a:t>Selection and characterization of two paired marsh sites (Dotson and Giant Marsh) with extensive data support, strengthening model calibration and real-world applicability.</a:t>
            </a:r>
          </a:p>
        </p:txBody>
      </p:sp>
      <p:sp>
        <p:nvSpPr>
          <p:cNvPr id="4" name="Slide Number Placeholder 3">
            <a:extLst>
              <a:ext uri="{FF2B5EF4-FFF2-40B4-BE49-F238E27FC236}">
                <a16:creationId xmlns:a16="http://schemas.microsoft.com/office/drawing/2014/main" id="{EC058BAD-625B-2E28-BD78-187A26281ED4}"/>
              </a:ext>
            </a:extLst>
          </p:cNvPr>
          <p:cNvSpPr>
            <a:spLocks noGrp="1"/>
          </p:cNvSpPr>
          <p:nvPr>
            <p:ph type="sldNum" sz="quarter" idx="12"/>
          </p:nvPr>
        </p:nvSpPr>
        <p:spPr/>
        <p:txBody>
          <a:bodyPr/>
          <a:lstStyle/>
          <a:p>
            <a:pPr>
              <a:defRPr/>
            </a:pPr>
            <a:fld id="{680333F5-0E11-4EF3-8AF3-CAB6FC9ECC79}" type="slidenum">
              <a:rPr lang="en-US" smtClean="0"/>
              <a:pPr>
                <a:defRPr/>
              </a:pPr>
              <a:t>17</a:t>
            </a:fld>
            <a:endParaRPr lang="en-US"/>
          </a:p>
        </p:txBody>
      </p:sp>
    </p:spTree>
    <p:extLst>
      <p:ext uri="{BB962C8B-B14F-4D97-AF65-F5344CB8AC3E}">
        <p14:creationId xmlns:p14="http://schemas.microsoft.com/office/powerpoint/2010/main" val="1880583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6DED7-0BD9-8541-1730-6C62A6F9B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B2424-06C4-9AD1-7692-950AC6289E38}"/>
              </a:ext>
            </a:extLst>
          </p:cNvPr>
          <p:cNvSpPr>
            <a:spLocks noGrp="1"/>
          </p:cNvSpPr>
          <p:nvPr>
            <p:ph type="title"/>
          </p:nvPr>
        </p:nvSpPr>
        <p:spPr/>
        <p:txBody>
          <a:bodyPr>
            <a:normAutofit/>
          </a:bodyPr>
          <a:lstStyle/>
          <a:p>
            <a:r>
              <a:rPr lang="en-US" dirty="0"/>
              <a:t>Impact to DoD Mission (continued)  </a:t>
            </a:r>
          </a:p>
        </p:txBody>
      </p:sp>
      <p:sp>
        <p:nvSpPr>
          <p:cNvPr id="3" name="Content Placeholder 2">
            <a:extLst>
              <a:ext uri="{FF2B5EF4-FFF2-40B4-BE49-F238E27FC236}">
                <a16:creationId xmlns:a16="http://schemas.microsoft.com/office/drawing/2014/main" id="{A36CCCBB-BF34-4315-191B-3F9D4FC2B38B}"/>
              </a:ext>
            </a:extLst>
          </p:cNvPr>
          <p:cNvSpPr>
            <a:spLocks noGrp="1"/>
          </p:cNvSpPr>
          <p:nvPr>
            <p:ph idx="1"/>
          </p:nvPr>
        </p:nvSpPr>
        <p:spPr>
          <a:xfrm>
            <a:off x="628650" y="1409149"/>
            <a:ext cx="8019404" cy="3165872"/>
          </a:xfrm>
        </p:spPr>
        <p:txBody>
          <a:bodyPr/>
          <a:lstStyle/>
          <a:p>
            <a:pPr algn="l" eaLnBrk="1" hangingPunct="1">
              <a:spcBef>
                <a:spcPct val="20000"/>
              </a:spcBef>
              <a:buClr>
                <a:srgbClr val="32859B"/>
              </a:buClr>
              <a:buSzPct val="75000"/>
              <a:buFont typeface="Wingdings" panose="05000000000000000000" pitchFamily="2" charset="2"/>
              <a:buChar char="§"/>
            </a:pPr>
            <a:r>
              <a:rPr lang="en-US" sz="1800" dirty="0"/>
              <a:t>Why This Matters for DoD</a:t>
            </a:r>
          </a:p>
          <a:p>
            <a:pPr lvl="1">
              <a:spcBef>
                <a:spcPct val="20000"/>
              </a:spcBef>
              <a:buClr>
                <a:srgbClr val="32859B"/>
              </a:buClr>
              <a:buSzPct val="75000"/>
              <a:buFont typeface="Wingdings" panose="05000000000000000000" pitchFamily="2" charset="2"/>
              <a:buChar char="§"/>
            </a:pPr>
            <a:r>
              <a:rPr lang="en-US" dirty="0"/>
              <a:t>Coastal DoD installations face rising threats from sea level rise, storm surge, and coastal erosion.</a:t>
            </a:r>
          </a:p>
          <a:p>
            <a:pPr lvl="1">
              <a:spcBef>
                <a:spcPct val="20000"/>
              </a:spcBef>
              <a:buClr>
                <a:srgbClr val="32859B"/>
              </a:buClr>
              <a:buSzPct val="75000"/>
              <a:buFont typeface="Wingdings" panose="05000000000000000000" pitchFamily="2" charset="2"/>
              <a:buChar char="§"/>
            </a:pPr>
            <a:r>
              <a:rPr lang="en-US" dirty="0"/>
              <a:t>This project delivers a science-based, predictive design framework for salt marsh restoration, supporting nature-based infrastructure that enhances resilience while lowering lifecycle costs.</a:t>
            </a:r>
          </a:p>
          <a:p>
            <a:pPr lvl="1">
              <a:spcBef>
                <a:spcPct val="20000"/>
              </a:spcBef>
              <a:buClr>
                <a:srgbClr val="32859B"/>
              </a:buClr>
              <a:buSzPct val="75000"/>
              <a:buFont typeface="Wingdings" panose="05000000000000000000" pitchFamily="2" charset="2"/>
              <a:buChar char="§"/>
            </a:pPr>
            <a:r>
              <a:rPr lang="en-US" dirty="0"/>
              <a:t>It enables DoD planners and engineers to quantify performance tradeoffs and optimize designs for installation protection, ecosystem restoration, and regulatory compliance.</a:t>
            </a:r>
          </a:p>
        </p:txBody>
      </p:sp>
      <p:sp>
        <p:nvSpPr>
          <p:cNvPr id="4" name="Slide Number Placeholder 3">
            <a:extLst>
              <a:ext uri="{FF2B5EF4-FFF2-40B4-BE49-F238E27FC236}">
                <a16:creationId xmlns:a16="http://schemas.microsoft.com/office/drawing/2014/main" id="{E494DDE7-30CD-3F81-8B18-AB587004539D}"/>
              </a:ext>
            </a:extLst>
          </p:cNvPr>
          <p:cNvSpPr>
            <a:spLocks noGrp="1"/>
          </p:cNvSpPr>
          <p:nvPr>
            <p:ph type="sldNum" sz="quarter" idx="12"/>
          </p:nvPr>
        </p:nvSpPr>
        <p:spPr/>
        <p:txBody>
          <a:bodyPr/>
          <a:lstStyle/>
          <a:p>
            <a:pPr>
              <a:defRPr/>
            </a:pPr>
            <a:fld id="{680333F5-0E11-4EF3-8AF3-CAB6FC9ECC79}" type="slidenum">
              <a:rPr lang="en-US" smtClean="0"/>
              <a:pPr>
                <a:defRPr/>
              </a:pPr>
              <a:t>18</a:t>
            </a:fld>
            <a:endParaRPr lang="en-US"/>
          </a:p>
        </p:txBody>
      </p:sp>
    </p:spTree>
    <p:extLst>
      <p:ext uri="{BB962C8B-B14F-4D97-AF65-F5344CB8AC3E}">
        <p14:creationId xmlns:p14="http://schemas.microsoft.com/office/powerpoint/2010/main" val="483362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18222-642E-0CE5-6325-B8354A6F2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D372E-49B2-E15A-FC29-3482CC30B769}"/>
              </a:ext>
            </a:extLst>
          </p:cNvPr>
          <p:cNvSpPr>
            <a:spLocks noGrp="1"/>
          </p:cNvSpPr>
          <p:nvPr>
            <p:ph type="title"/>
          </p:nvPr>
        </p:nvSpPr>
        <p:spPr/>
        <p:txBody>
          <a:bodyPr>
            <a:normAutofit/>
          </a:bodyPr>
          <a:lstStyle/>
          <a:p>
            <a:r>
              <a:rPr lang="en-US" dirty="0"/>
              <a:t>Impact to DoD Mission (continued)  </a:t>
            </a:r>
          </a:p>
        </p:txBody>
      </p:sp>
      <p:sp>
        <p:nvSpPr>
          <p:cNvPr id="3" name="Content Placeholder 2">
            <a:extLst>
              <a:ext uri="{FF2B5EF4-FFF2-40B4-BE49-F238E27FC236}">
                <a16:creationId xmlns:a16="http://schemas.microsoft.com/office/drawing/2014/main" id="{DA9439B4-6CDD-EF59-8B30-54AF9BBDC06B}"/>
              </a:ext>
            </a:extLst>
          </p:cNvPr>
          <p:cNvSpPr>
            <a:spLocks noGrp="1"/>
          </p:cNvSpPr>
          <p:nvPr>
            <p:ph idx="1"/>
          </p:nvPr>
        </p:nvSpPr>
        <p:spPr>
          <a:xfrm>
            <a:off x="628650" y="1409149"/>
            <a:ext cx="8019404" cy="3165872"/>
          </a:xfrm>
        </p:spPr>
        <p:txBody>
          <a:bodyPr/>
          <a:lstStyle/>
          <a:p>
            <a:pPr algn="l" eaLnBrk="1" hangingPunct="1">
              <a:spcBef>
                <a:spcPct val="20000"/>
              </a:spcBef>
              <a:buClr>
                <a:srgbClr val="32859B"/>
              </a:buClr>
              <a:buSzPct val="75000"/>
              <a:buFont typeface="Wingdings" panose="05000000000000000000" pitchFamily="2" charset="2"/>
              <a:buChar char="§"/>
            </a:pPr>
            <a:r>
              <a:rPr lang="en-US" sz="1800" dirty="0"/>
              <a:t>Broader Community Impact</a:t>
            </a:r>
          </a:p>
          <a:p>
            <a:pPr lvl="1">
              <a:spcBef>
                <a:spcPct val="20000"/>
              </a:spcBef>
              <a:buClr>
                <a:srgbClr val="32859B"/>
              </a:buClr>
              <a:buSzPct val="75000"/>
              <a:buFont typeface="Wingdings" panose="05000000000000000000" pitchFamily="2" charset="2"/>
              <a:buChar char="§"/>
            </a:pPr>
            <a:r>
              <a:rPr lang="en-US" dirty="0"/>
              <a:t>Advances a scalable, transferable approach for salt marsh design applicable to East, West, and Gulf Coast installations.</a:t>
            </a:r>
          </a:p>
          <a:p>
            <a:pPr lvl="1">
              <a:spcBef>
                <a:spcPct val="20000"/>
              </a:spcBef>
              <a:buClr>
                <a:srgbClr val="32859B"/>
              </a:buClr>
              <a:buSzPct val="75000"/>
              <a:buFont typeface="Wingdings" panose="05000000000000000000" pitchFamily="2" charset="2"/>
              <a:buChar char="§"/>
            </a:pPr>
            <a:r>
              <a:rPr lang="en-US" dirty="0"/>
              <a:t>Reinforces collaboration with USGS, SFEI, and Deltares, promoting cross-agency learning and standardization.</a:t>
            </a:r>
          </a:p>
          <a:p>
            <a:pPr lvl="1">
              <a:spcBef>
                <a:spcPct val="20000"/>
              </a:spcBef>
              <a:buClr>
                <a:srgbClr val="32859B"/>
              </a:buClr>
              <a:buSzPct val="75000"/>
              <a:buFont typeface="Wingdings" panose="05000000000000000000" pitchFamily="2" charset="2"/>
              <a:buChar char="§"/>
            </a:pPr>
            <a:r>
              <a:rPr lang="en-US" dirty="0"/>
              <a:t>Supports broader Engineering With Nature (EWN) goals, building coastal resilience while preserving ecological function.</a:t>
            </a:r>
          </a:p>
        </p:txBody>
      </p:sp>
      <p:sp>
        <p:nvSpPr>
          <p:cNvPr id="4" name="Slide Number Placeholder 3">
            <a:extLst>
              <a:ext uri="{FF2B5EF4-FFF2-40B4-BE49-F238E27FC236}">
                <a16:creationId xmlns:a16="http://schemas.microsoft.com/office/drawing/2014/main" id="{DBE50571-C4A8-C464-6CCB-0C8C061340F0}"/>
              </a:ext>
            </a:extLst>
          </p:cNvPr>
          <p:cNvSpPr>
            <a:spLocks noGrp="1"/>
          </p:cNvSpPr>
          <p:nvPr>
            <p:ph type="sldNum" sz="quarter" idx="12"/>
          </p:nvPr>
        </p:nvSpPr>
        <p:spPr/>
        <p:txBody>
          <a:bodyPr/>
          <a:lstStyle/>
          <a:p>
            <a:pPr>
              <a:defRPr/>
            </a:pPr>
            <a:fld id="{680333F5-0E11-4EF3-8AF3-CAB6FC9ECC79}" type="slidenum">
              <a:rPr lang="en-US" smtClean="0"/>
              <a:pPr>
                <a:defRPr/>
              </a:pPr>
              <a:t>19</a:t>
            </a:fld>
            <a:endParaRPr lang="en-US"/>
          </a:p>
        </p:txBody>
      </p:sp>
    </p:spTree>
    <p:extLst>
      <p:ext uri="{BB962C8B-B14F-4D97-AF65-F5344CB8AC3E}">
        <p14:creationId xmlns:p14="http://schemas.microsoft.com/office/powerpoint/2010/main" val="1849582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a:latin typeface="Arial" charset="0"/>
                <a:cs typeface="Arial" charset="0"/>
              </a:rPr>
              <a:t>Technology Transfer</a:t>
            </a:r>
          </a:p>
        </p:txBody>
      </p:sp>
      <p:sp>
        <p:nvSpPr>
          <p:cNvPr id="24579" name="Rectangle 3"/>
          <p:cNvSpPr>
            <a:spLocks noGrp="1" noChangeArrowheads="1"/>
          </p:cNvSpPr>
          <p:nvPr>
            <p:ph idx="1"/>
          </p:nvPr>
        </p:nvSpPr>
        <p:spPr>
          <a:xfrm>
            <a:off x="628650" y="1444999"/>
            <a:ext cx="8084697" cy="3149862"/>
          </a:xfrm>
        </p:spPr>
        <p:txBody>
          <a:bodyPr/>
          <a:lstStyle/>
          <a:p>
            <a:pPr marL="0" lvl="0" indent="0" algn="l" rtl="0">
              <a:spcBef>
                <a:spcPts val="460"/>
              </a:spcBef>
              <a:spcAft>
                <a:spcPts val="0"/>
              </a:spcAft>
              <a:buClr>
                <a:srgbClr val="000000"/>
              </a:buClr>
              <a:buSzPts val="1725"/>
              <a:buFont typeface="Arial"/>
              <a:buNone/>
            </a:pPr>
            <a:r>
              <a:rPr lang="en-US" sz="1800" b="1" dirty="0"/>
              <a:t>Main product</a:t>
            </a:r>
            <a:r>
              <a:rPr lang="en-US" sz="1800" dirty="0"/>
              <a:t>: Salt marsh model and initial design framework for nature-based shoreline solutions</a:t>
            </a:r>
          </a:p>
          <a:p>
            <a:pPr marL="0" lvl="0" indent="0" algn="l" rtl="0">
              <a:spcBef>
                <a:spcPts val="460"/>
              </a:spcBef>
              <a:spcAft>
                <a:spcPts val="0"/>
              </a:spcAft>
              <a:buClr>
                <a:srgbClr val="000000"/>
              </a:buClr>
              <a:buSzPts val="1725"/>
              <a:buFont typeface="Arial"/>
              <a:buNone/>
            </a:pPr>
            <a:r>
              <a:rPr lang="en-US" sz="1800" b="1" dirty="0"/>
              <a:t>DoD Users:</a:t>
            </a:r>
            <a:r>
              <a:rPr lang="en-US" sz="1800" dirty="0"/>
              <a:t> DoD installation and USACE planners, regulators, and coastal engineers</a:t>
            </a:r>
          </a:p>
          <a:p>
            <a:pPr marL="0" lvl="0" indent="0" algn="l" rtl="0">
              <a:spcBef>
                <a:spcPts val="460"/>
              </a:spcBef>
              <a:spcAft>
                <a:spcPts val="0"/>
              </a:spcAft>
              <a:buClr>
                <a:srgbClr val="000000"/>
              </a:buClr>
              <a:buSzPts val="1725"/>
              <a:buFont typeface="Arial"/>
              <a:buNone/>
            </a:pPr>
            <a:r>
              <a:rPr lang="en-US" sz="1800" b="1" dirty="0"/>
              <a:t>Initial Target Group:</a:t>
            </a:r>
            <a:r>
              <a:rPr lang="en-US" sz="1800" dirty="0"/>
              <a:t> Coastal engineers/planners on the </a:t>
            </a:r>
            <a:r>
              <a:rPr lang="en-US" sz="1800" u="sng" dirty="0"/>
              <a:t>U.S. East Coast</a:t>
            </a:r>
            <a:r>
              <a:rPr lang="en-US" sz="1800" dirty="0"/>
              <a:t>.</a:t>
            </a:r>
            <a:endParaRPr lang="en-US" sz="1800" b="1" dirty="0"/>
          </a:p>
          <a:p>
            <a:pPr marL="0" lvl="0" indent="0" algn="l" rtl="0">
              <a:spcBef>
                <a:spcPts val="460"/>
              </a:spcBef>
              <a:spcAft>
                <a:spcPts val="0"/>
              </a:spcAft>
              <a:buClr>
                <a:srgbClr val="000000"/>
              </a:buClr>
              <a:buSzPts val="1725"/>
              <a:buFont typeface="Arial"/>
              <a:buNone/>
            </a:pPr>
            <a:r>
              <a:rPr lang="en-US" sz="1800" b="1" dirty="0"/>
              <a:t>Tech Transfer Plan:</a:t>
            </a:r>
            <a:endParaRPr lang="en-US" sz="1800" dirty="0"/>
          </a:p>
          <a:p>
            <a:pPr marL="342906" lvl="0" indent="-342906" algn="l" rtl="0">
              <a:spcBef>
                <a:spcPts val="460"/>
              </a:spcBef>
              <a:spcAft>
                <a:spcPts val="0"/>
              </a:spcAft>
              <a:buClr>
                <a:srgbClr val="000000"/>
              </a:buClr>
              <a:buSzPts val="1725"/>
              <a:buFont typeface="Arial"/>
              <a:buChar char="•"/>
            </a:pPr>
            <a:r>
              <a:rPr lang="en-US" sz="1800" dirty="0"/>
              <a:t>Engage primary stakeholders and users early</a:t>
            </a:r>
          </a:p>
          <a:p>
            <a:pPr marL="342906" lvl="0" indent="-342906" algn="l" rtl="0">
              <a:spcBef>
                <a:spcPts val="460"/>
              </a:spcBef>
              <a:spcAft>
                <a:spcPts val="0"/>
              </a:spcAft>
              <a:buClr>
                <a:srgbClr val="000000"/>
              </a:buClr>
              <a:buSzPts val="1725"/>
              <a:buFont typeface="Arial"/>
              <a:buChar char="•"/>
            </a:pPr>
            <a:r>
              <a:rPr lang="en-US" sz="1800" dirty="0"/>
              <a:t>Tailor outputs for planning and design workflows</a:t>
            </a:r>
          </a:p>
          <a:p>
            <a:pPr marL="342906" lvl="0" indent="-342906" algn="l" rtl="0">
              <a:spcBef>
                <a:spcPts val="460"/>
              </a:spcBef>
              <a:spcAft>
                <a:spcPts val="0"/>
              </a:spcAft>
              <a:buClr>
                <a:srgbClr val="000000"/>
              </a:buClr>
              <a:buSzPts val="1725"/>
              <a:buFont typeface="Arial"/>
              <a:buChar char="•"/>
            </a:pPr>
            <a:r>
              <a:rPr lang="en-US" sz="1800" dirty="0"/>
              <a:t>Develop user-specific communication strategies</a:t>
            </a:r>
          </a:p>
          <a:p>
            <a:pPr marL="342906" lvl="0" indent="-342906" algn="l" rtl="0">
              <a:spcBef>
                <a:spcPts val="460"/>
              </a:spcBef>
              <a:spcAft>
                <a:spcPts val="0"/>
              </a:spcAft>
              <a:buClr>
                <a:srgbClr val="000000"/>
              </a:buClr>
              <a:buSzPts val="1725"/>
              <a:buFont typeface="Arial"/>
              <a:buChar char="•"/>
            </a:pPr>
            <a:r>
              <a:rPr lang="en-US" sz="1800" dirty="0"/>
              <a:t>Provide documentation and training support</a:t>
            </a:r>
          </a:p>
        </p:txBody>
      </p:sp>
      <p:sp>
        <p:nvSpPr>
          <p:cNvPr id="2" name="Slide Number Placeholder 1"/>
          <p:cNvSpPr>
            <a:spLocks noGrp="1"/>
          </p:cNvSpPr>
          <p:nvPr>
            <p:ph type="sldNum" sz="quarter" idx="12"/>
          </p:nvPr>
        </p:nvSpPr>
        <p:spPr/>
        <p:txBody>
          <a:bodyPr/>
          <a:lstStyle/>
          <a:p>
            <a:pPr>
              <a:defRPr/>
            </a:pPr>
            <a:fld id="{3FFFF23A-788A-40E7-A79E-1CDAC1097B76}" type="slidenum">
              <a:rPr lang="en-US" smtClean="0"/>
              <a:pPr>
                <a:defRPr/>
              </a:pPr>
              <a:t>20</a:t>
            </a:fld>
            <a:endParaRPr lang="en-US"/>
          </a:p>
        </p:txBody>
      </p:sp>
    </p:spTree>
    <p:extLst>
      <p:ext uri="{BB962C8B-B14F-4D97-AF65-F5344CB8AC3E}">
        <p14:creationId xmlns:p14="http://schemas.microsoft.com/office/powerpoint/2010/main" val="2410933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Funding</a:t>
            </a:r>
            <a:br>
              <a:rPr lang="en-US" dirty="0"/>
            </a:br>
            <a:r>
              <a:rPr lang="en-US" sz="1200" dirty="0"/>
              <a:t>(Submit this table to your Program Office 2 weeks in advance of the IPR)</a:t>
            </a:r>
          </a:p>
        </p:txBody>
      </p:sp>
      <p:sp>
        <p:nvSpPr>
          <p:cNvPr id="5" name="Slide Number Placeholder 4"/>
          <p:cNvSpPr>
            <a:spLocks noGrp="1"/>
          </p:cNvSpPr>
          <p:nvPr>
            <p:ph type="sldNum" sz="quarter" idx="12"/>
          </p:nvPr>
        </p:nvSpPr>
        <p:spPr/>
        <p:txBody>
          <a:bodyPr/>
          <a:lstStyle/>
          <a:p>
            <a:pPr>
              <a:defRPr/>
            </a:pPr>
            <a:fld id="{3FFFF23A-788A-40E7-A79E-1CDAC1097B76}" type="slidenum">
              <a:rPr lang="en-US" smtClean="0"/>
              <a:pPr>
                <a:defRPr/>
              </a:pPr>
              <a:t>21</a:t>
            </a:fld>
            <a:endParaRPr lang="en-US"/>
          </a:p>
        </p:txBody>
      </p:sp>
      <p:graphicFrame>
        <p:nvGraphicFramePr>
          <p:cNvPr id="3" name="Group 59">
            <a:extLst>
              <a:ext uri="{FF2B5EF4-FFF2-40B4-BE49-F238E27FC236}">
                <a16:creationId xmlns:a16="http://schemas.microsoft.com/office/drawing/2014/main" id="{E29B040F-AFF2-BC9A-21F9-3D041C225013}"/>
              </a:ext>
            </a:extLst>
          </p:cNvPr>
          <p:cNvGraphicFramePr>
            <a:graphicFrameLocks noGrp="1"/>
          </p:cNvGraphicFramePr>
          <p:nvPr>
            <p:extLst>
              <p:ext uri="{D42A27DB-BD31-4B8C-83A1-F6EECF244321}">
                <p14:modId xmlns:p14="http://schemas.microsoft.com/office/powerpoint/2010/main" val="513765240"/>
              </p:ext>
            </p:extLst>
          </p:nvPr>
        </p:nvGraphicFramePr>
        <p:xfrm>
          <a:off x="764029" y="1902045"/>
          <a:ext cx="7615941" cy="2180079"/>
        </p:xfrm>
        <a:graphic>
          <a:graphicData uri="http://schemas.openxmlformats.org/drawingml/2006/table">
            <a:tbl>
              <a:tblPr/>
              <a:tblGrid>
                <a:gridCol w="3032272">
                  <a:extLst>
                    <a:ext uri="{9D8B030D-6E8A-4147-A177-3AD203B41FA5}">
                      <a16:colId xmlns:a16="http://schemas.microsoft.com/office/drawing/2014/main" val="20000"/>
                    </a:ext>
                  </a:extLst>
                </a:gridCol>
                <a:gridCol w="775698">
                  <a:extLst>
                    <a:ext uri="{9D8B030D-6E8A-4147-A177-3AD203B41FA5}">
                      <a16:colId xmlns:a16="http://schemas.microsoft.com/office/drawing/2014/main" val="20001"/>
                    </a:ext>
                  </a:extLst>
                </a:gridCol>
                <a:gridCol w="775698">
                  <a:extLst>
                    <a:ext uri="{9D8B030D-6E8A-4147-A177-3AD203B41FA5}">
                      <a16:colId xmlns:a16="http://schemas.microsoft.com/office/drawing/2014/main" val="20002"/>
                    </a:ext>
                  </a:extLst>
                </a:gridCol>
                <a:gridCol w="775698">
                  <a:extLst>
                    <a:ext uri="{9D8B030D-6E8A-4147-A177-3AD203B41FA5}">
                      <a16:colId xmlns:a16="http://schemas.microsoft.com/office/drawing/2014/main" val="20003"/>
                    </a:ext>
                  </a:extLst>
                </a:gridCol>
                <a:gridCol w="775698">
                  <a:extLst>
                    <a:ext uri="{9D8B030D-6E8A-4147-A177-3AD203B41FA5}">
                      <a16:colId xmlns:a16="http://schemas.microsoft.com/office/drawing/2014/main" val="20004"/>
                    </a:ext>
                  </a:extLst>
                </a:gridCol>
                <a:gridCol w="1480877">
                  <a:extLst>
                    <a:ext uri="{9D8B030D-6E8A-4147-A177-3AD203B41FA5}">
                      <a16:colId xmlns:a16="http://schemas.microsoft.com/office/drawing/2014/main" val="20005"/>
                    </a:ext>
                  </a:extLst>
                </a:gridCol>
              </a:tblGrid>
              <a:tr h="483722">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endParaRPr kumimoji="0" lang="en-US" sz="1400" b="0" i="0" u="none" strike="noStrike" cap="none" normalizeH="0" baseline="0">
                        <a:ln>
                          <a:noFill/>
                        </a:ln>
                        <a:solidFill>
                          <a:schemeClr val="bg1"/>
                        </a:solidFill>
                        <a:effectLst/>
                        <a:latin typeface="Arial"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FY23</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FY24</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FY25</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Total</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extLst>
                  <a:ext uri="{0D108BD9-81ED-4DB2-BD59-A6C34878D82A}">
                    <a16:rowId xmlns:a16="http://schemas.microsoft.com/office/drawing/2014/main" val="10000"/>
                  </a:ext>
                </a:extLst>
              </a:tr>
              <a:tr h="378449">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Proposal Requested ($K)</a:t>
                      </a:r>
                      <a:endParaRPr kumimoji="0" lang="en-US" sz="1100" b="0" i="0" u="none" strike="noStrike" cap="none" normalizeH="0" baseline="0" dirty="0">
                        <a:ln>
                          <a:noFill/>
                        </a:ln>
                        <a:solidFill>
                          <a:srgbClr val="006600"/>
                        </a:solidFill>
                        <a:effectLst/>
                        <a:latin typeface="Arial"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459</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kern="1200" cap="none" normalizeH="0" baseline="0" dirty="0">
                          <a:ln>
                            <a:noFill/>
                          </a:ln>
                          <a:solidFill>
                            <a:srgbClr val="006600"/>
                          </a:solidFill>
                          <a:effectLst/>
                          <a:latin typeface="Arial" charset="0"/>
                          <a:ea typeface="+mn-ea"/>
                          <a:cs typeface="+mn-cs"/>
                        </a:rPr>
                        <a:t>245</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990</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8461">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Funds Received</a:t>
                      </a:r>
                      <a:endParaRPr kumimoji="0" lang="en-US" sz="1200" b="0" i="0" u="none" strike="noStrike" cap="none" normalizeH="0" baseline="0">
                        <a:ln>
                          <a:noFill/>
                        </a:ln>
                        <a:solidFill>
                          <a:srgbClr val="006600"/>
                        </a:solidFill>
                        <a:effectLst/>
                        <a:latin typeface="Arial"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459</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448</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83779">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Funds Expended (Invoiced)</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cs typeface="Arial" charset="0"/>
                        </a:rPr>
                        <a:t>142</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423</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5668">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Requested Revised Funding</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245</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dirty="0">
                          <a:ln>
                            <a:noFill/>
                          </a:ln>
                          <a:solidFill>
                            <a:srgbClr val="006600"/>
                          </a:solidFill>
                          <a:effectLst/>
                          <a:latin typeface="Arial" charset="0"/>
                        </a:rPr>
                        <a:t>990</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4658647"/>
                  </a:ext>
                </a:extLst>
              </a:tr>
            </a:tbl>
          </a:graphicData>
        </a:graphic>
      </p:graphicFrame>
    </p:spTree>
    <p:extLst>
      <p:ext uri="{BB962C8B-B14F-4D97-AF65-F5344CB8AC3E}">
        <p14:creationId xmlns:p14="http://schemas.microsoft.com/office/powerpoint/2010/main" val="515715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ctrTitle"/>
          </p:nvPr>
        </p:nvSpPr>
        <p:spPr>
          <a:xfrm>
            <a:off x="520250" y="1769269"/>
            <a:ext cx="6343650" cy="802481"/>
          </a:xfrm>
        </p:spPr>
        <p:txBody>
          <a:bodyPr/>
          <a:lstStyle/>
          <a:p>
            <a:pPr eaLnBrk="1" hangingPunct="1"/>
            <a:r>
              <a:rPr lang="en-US" altLang="en-US"/>
              <a:t>BACKUP MATERIAL</a:t>
            </a:r>
          </a:p>
        </p:txBody>
      </p:sp>
      <p:sp>
        <p:nvSpPr>
          <p:cNvPr id="21507" name="Rectangle 3"/>
          <p:cNvSpPr>
            <a:spLocks noGrp="1" noChangeArrowheads="1"/>
          </p:cNvSpPr>
          <p:nvPr>
            <p:ph type="subTitle" idx="1"/>
          </p:nvPr>
        </p:nvSpPr>
        <p:spPr>
          <a:xfrm>
            <a:off x="584774" y="2684206"/>
            <a:ext cx="4800600" cy="971550"/>
          </a:xfrm>
        </p:spPr>
        <p:txBody>
          <a:bodyPr/>
          <a:lstStyle/>
          <a:p>
            <a:r>
              <a:rPr lang="en-US" sz="2400" dirty="0"/>
              <a:t>These charts are required, but will only be briefed if questions arise.</a:t>
            </a:r>
          </a:p>
        </p:txBody>
      </p:sp>
    </p:spTree>
    <p:extLst>
      <p:ext uri="{BB962C8B-B14F-4D97-AF65-F5344CB8AC3E}">
        <p14:creationId xmlns:p14="http://schemas.microsoft.com/office/powerpoint/2010/main" val="1130494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F7294-63C1-3E57-3F13-3F7E37EA446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9EA735D-971B-DCD0-5FDF-64DC085D16CC}"/>
              </a:ext>
            </a:extLst>
          </p:cNvPr>
          <p:cNvSpPr txBox="1">
            <a:spLocks noChangeArrowheads="1"/>
          </p:cNvSpPr>
          <p:nvPr/>
        </p:nvSpPr>
        <p:spPr bwMode="auto">
          <a:xfrm>
            <a:off x="661571" y="182883"/>
            <a:ext cx="8104057" cy="756988"/>
          </a:xfrm>
          <a:prstGeom prst="rect">
            <a:avLst/>
          </a:prstGeom>
          <a:noFill/>
          <a:ln w="9525">
            <a:noFill/>
            <a:miter lim="800000"/>
            <a:headEnd/>
            <a:tailEnd/>
          </a:ln>
        </p:spPr>
        <p:txBody>
          <a:bodyPr anchor="ctr"/>
          <a:lstStyle/>
          <a:p>
            <a:pPr eaLnBrk="1" hangingPunct="1">
              <a:defRPr/>
            </a:pPr>
            <a:r>
              <a:rPr lang="en-US" sz="2100" b="1" kern="0" dirty="0">
                <a:solidFill>
                  <a:schemeClr val="bg1"/>
                </a:solidFill>
                <a:latin typeface="+mj-lt"/>
                <a:ea typeface="ＭＳ Ｐゴシック"/>
                <a:cs typeface="ＭＳ Ｐゴシック"/>
              </a:rPr>
              <a:t>NH24-8072: Advancing Engineering Design Guidance for Constructed Salt Marshes with High Fidelity Modeling and Long-Term Monitoring</a:t>
            </a:r>
            <a:endParaRPr lang="en-US" sz="2100" b="1" i="1" kern="0" dirty="0">
              <a:solidFill>
                <a:schemeClr val="bg1"/>
              </a:solidFill>
              <a:latin typeface="+mj-lt"/>
              <a:ea typeface="ＭＳ Ｐゴシック"/>
              <a:cs typeface="ＭＳ Ｐゴシック"/>
            </a:endParaRPr>
          </a:p>
        </p:txBody>
      </p:sp>
      <p:sp>
        <p:nvSpPr>
          <p:cNvPr id="3076" name="TextBox 40">
            <a:extLst>
              <a:ext uri="{FF2B5EF4-FFF2-40B4-BE49-F238E27FC236}">
                <a16:creationId xmlns:a16="http://schemas.microsoft.com/office/drawing/2014/main" id="{EF949F82-6899-BDC1-749C-401899B42DA2}"/>
              </a:ext>
            </a:extLst>
          </p:cNvPr>
          <p:cNvSpPr txBox="1">
            <a:spLocks noChangeArrowheads="1"/>
          </p:cNvSpPr>
          <p:nvPr/>
        </p:nvSpPr>
        <p:spPr bwMode="auto">
          <a:xfrm>
            <a:off x="661571" y="1192668"/>
            <a:ext cx="6149127" cy="3757439"/>
          </a:xfrm>
          <a:prstGeom prst="rect">
            <a:avLst/>
          </a:prstGeom>
          <a:noFill/>
          <a:ln>
            <a:noFill/>
          </a:ln>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Aft>
                <a:spcPts val="450"/>
              </a:spcAft>
              <a:defRPr/>
            </a:pPr>
            <a:r>
              <a:rPr lang="en-US" sz="1100" b="1" dirty="0"/>
              <a:t>Performers:</a:t>
            </a:r>
          </a:p>
          <a:p>
            <a:pPr marL="171450" indent="-171450" eaLnBrk="1" hangingPunct="1">
              <a:buFont typeface="Arial" panose="020B0604020202020204" pitchFamily="34" charset="0"/>
              <a:buChar char="•"/>
              <a:defRPr/>
            </a:pPr>
            <a:r>
              <a:rPr lang="en-US" sz="900" i="1" dirty="0"/>
              <a:t>Todd Steissberg (ERDC-EL, Lead PI), Matt Smith &amp; Marriah Abellera (USACE-IWR), Jenny Olszewski (USGS), with NAVFAC, Deltares, and SFEI collaboration.</a:t>
            </a:r>
            <a:endParaRPr lang="en-US" sz="1100" b="1" dirty="0"/>
          </a:p>
          <a:p>
            <a:pPr eaLnBrk="1" hangingPunct="1">
              <a:defRPr/>
            </a:pPr>
            <a:endParaRPr lang="en-US" sz="1100" b="1" dirty="0"/>
          </a:p>
          <a:p>
            <a:pPr eaLnBrk="1" hangingPunct="1">
              <a:defRPr/>
            </a:pPr>
            <a:r>
              <a:rPr lang="en-US" sz="1100" b="1" dirty="0"/>
              <a:t>Technology Focus</a:t>
            </a:r>
            <a:endParaRPr lang="en-US" sz="1200" b="1" dirty="0"/>
          </a:p>
          <a:p>
            <a:pPr marL="214313" indent="-214313" eaLnBrk="1" hangingPunct="1">
              <a:buFont typeface="Arial" pitchFamily="34" charset="0"/>
              <a:buChar char="•"/>
              <a:defRPr/>
            </a:pPr>
            <a:r>
              <a:rPr lang="en-US" sz="900" i="1" dirty="0"/>
              <a:t>Development of a high-fidelity, spatially distributed salt marsh model integrating hydrodynamics, waves, sediment, and vegetation to inform resilient restoration design</a:t>
            </a:r>
          </a:p>
          <a:p>
            <a:pPr eaLnBrk="1" hangingPunct="1">
              <a:buFont typeface="Arial" charset="0"/>
              <a:buChar char="•"/>
              <a:defRPr/>
            </a:pPr>
            <a:endParaRPr lang="en-US" sz="900" b="1" i="1" dirty="0">
              <a:solidFill>
                <a:srgbClr val="FF0000"/>
              </a:solidFill>
            </a:endParaRPr>
          </a:p>
          <a:p>
            <a:pPr eaLnBrk="1" hangingPunct="1">
              <a:defRPr/>
            </a:pPr>
            <a:r>
              <a:rPr lang="en-US" sz="1100" b="1" dirty="0"/>
              <a:t>Demonstration Site</a:t>
            </a:r>
          </a:p>
          <a:p>
            <a:pPr marL="214313" indent="-214313" eaLnBrk="1" hangingPunct="1">
              <a:buFont typeface="Arial" pitchFamily="34" charset="0"/>
              <a:buChar char="•"/>
              <a:defRPr/>
            </a:pPr>
            <a:r>
              <a:rPr lang="en-US" sz="900" i="1" dirty="0">
                <a:solidFill>
                  <a:srgbClr val="000000"/>
                </a:solidFill>
                <a:ea typeface="ＭＳ Ｐゴシック" charset="-128"/>
              </a:rPr>
              <a:t> Dotson Family Marsh, San Pablo Bay, California (with benchmark site: Giant Marsh)</a:t>
            </a:r>
          </a:p>
          <a:p>
            <a:pPr eaLnBrk="1" hangingPunct="1">
              <a:defRPr/>
            </a:pPr>
            <a:endParaRPr lang="en-US" sz="1100" b="1" dirty="0"/>
          </a:p>
          <a:p>
            <a:pPr eaLnBrk="1" hangingPunct="1">
              <a:defRPr/>
            </a:pPr>
            <a:r>
              <a:rPr lang="en-US" sz="1100" b="1" dirty="0"/>
              <a:t>Demonstration Objectives</a:t>
            </a:r>
          </a:p>
          <a:p>
            <a:pPr marL="214313" indent="-214313" eaLnBrk="1" hangingPunct="1">
              <a:buFont typeface="Arial" pitchFamily="34" charset="0"/>
              <a:buChar char="•"/>
              <a:defRPr/>
            </a:pPr>
            <a:r>
              <a:rPr lang="en-US" sz="900" i="1" dirty="0"/>
              <a:t>Simulate wave attenuation and habitat performance under current and future sea level conditions at restored and reference salt marsh sites. Develop initial engineering design framework for salt marshes</a:t>
            </a:r>
          </a:p>
          <a:p>
            <a:pPr eaLnBrk="1" hangingPunct="1">
              <a:defRPr/>
            </a:pPr>
            <a:endParaRPr lang="en-US" sz="900" dirty="0"/>
          </a:p>
          <a:p>
            <a:pPr eaLnBrk="1" hangingPunct="1">
              <a:defRPr/>
            </a:pPr>
            <a:r>
              <a:rPr lang="en-US" sz="1100" b="1" dirty="0"/>
              <a:t>Project Progress and Results</a:t>
            </a:r>
          </a:p>
          <a:p>
            <a:pPr marL="214313" indent="-214313" eaLnBrk="1" hangingPunct="1">
              <a:buFont typeface="Arial" panose="020B0604020202020204" pitchFamily="34" charset="0"/>
              <a:buChar char="•"/>
              <a:defRPr/>
            </a:pPr>
            <a:r>
              <a:rPr lang="en-US" sz="900" i="1" dirty="0"/>
              <a:t>Phase I complete: site selection, data collection, initial model development. Phase II underway: hydrodynamic and wave models calibrated; vegetation and sediment model integration in progress. Delays due to staffing and admin issues; calibration pending.</a:t>
            </a:r>
            <a:endParaRPr lang="en-US" sz="900" b="1" dirty="0"/>
          </a:p>
          <a:p>
            <a:pPr eaLnBrk="1" hangingPunct="1">
              <a:defRPr/>
            </a:pPr>
            <a:endParaRPr lang="en-US" sz="1100" b="1" dirty="0"/>
          </a:p>
          <a:p>
            <a:pPr eaLnBrk="1" hangingPunct="1">
              <a:defRPr/>
            </a:pPr>
            <a:r>
              <a:rPr lang="en-US" sz="1100" b="1" dirty="0"/>
              <a:t>Implementation Status</a:t>
            </a:r>
          </a:p>
          <a:p>
            <a:pPr marL="171450" indent="-171450" eaLnBrk="1" hangingPunct="1">
              <a:buFont typeface="Arial" panose="020B0604020202020204" pitchFamily="34" charset="0"/>
              <a:buChar char="•"/>
              <a:defRPr/>
            </a:pPr>
            <a:r>
              <a:rPr lang="en-US" sz="900" i="1" dirty="0"/>
              <a:t>Coordination ongoing with NAVFAC, SFEI, and Deltares</a:t>
            </a:r>
          </a:p>
          <a:p>
            <a:pPr marL="171450" indent="-171450" eaLnBrk="1" hangingPunct="1">
              <a:buFont typeface="Arial" panose="020B0604020202020204" pitchFamily="34" charset="0"/>
              <a:buChar char="•"/>
              <a:defRPr/>
            </a:pPr>
            <a:r>
              <a:rPr lang="en-US" sz="900" i="1" dirty="0"/>
              <a:t>Next steps: full model integration, calibration, and evaluation under future scenarios. </a:t>
            </a:r>
          </a:p>
        </p:txBody>
      </p:sp>
      <p:sp>
        <p:nvSpPr>
          <p:cNvPr id="2" name="Slide Number Placeholder 1">
            <a:extLst>
              <a:ext uri="{FF2B5EF4-FFF2-40B4-BE49-F238E27FC236}">
                <a16:creationId xmlns:a16="http://schemas.microsoft.com/office/drawing/2014/main" id="{E0B80444-2958-01EF-3034-8AC72F891BCD}"/>
              </a:ext>
            </a:extLst>
          </p:cNvPr>
          <p:cNvSpPr>
            <a:spLocks noGrp="1"/>
          </p:cNvSpPr>
          <p:nvPr>
            <p:ph type="sldNum" sz="quarter" idx="12"/>
          </p:nvPr>
        </p:nvSpPr>
        <p:spPr/>
        <p:txBody>
          <a:bodyPr/>
          <a:lstStyle/>
          <a:p>
            <a:pPr>
              <a:defRPr/>
            </a:pPr>
            <a:fld id="{3FFFF23A-788A-40E7-A79E-1CDAC1097B76}" type="slidenum">
              <a:rPr lang="en-US" smtClean="0"/>
              <a:pPr>
                <a:defRPr/>
              </a:pPr>
              <a:t>23</a:t>
            </a:fld>
            <a:endParaRPr lang="en-US"/>
          </a:p>
        </p:txBody>
      </p:sp>
      <p:pic>
        <p:nvPicPr>
          <p:cNvPr id="3" name="Google Shape;213;p9">
            <a:extLst>
              <a:ext uri="{FF2B5EF4-FFF2-40B4-BE49-F238E27FC236}">
                <a16:creationId xmlns:a16="http://schemas.microsoft.com/office/drawing/2014/main" id="{D11C223B-E8B3-F666-0096-2F1FDF19E987}"/>
              </a:ext>
            </a:extLst>
          </p:cNvPr>
          <p:cNvPicPr preferRelativeResize="0"/>
          <p:nvPr/>
        </p:nvPicPr>
        <p:blipFill rotWithShape="1">
          <a:blip r:embed="rId3">
            <a:alphaModFix/>
          </a:blip>
          <a:srcRect/>
          <a:stretch/>
        </p:blipFill>
        <p:spPr>
          <a:xfrm>
            <a:off x="6432317" y="2186152"/>
            <a:ext cx="2663476" cy="1595444"/>
          </a:xfrm>
          <a:prstGeom prst="rect">
            <a:avLst/>
          </a:prstGeom>
          <a:noFill/>
          <a:ln>
            <a:noFill/>
          </a:ln>
        </p:spPr>
      </p:pic>
    </p:spTree>
    <p:extLst>
      <p:ext uri="{BB962C8B-B14F-4D97-AF65-F5344CB8AC3E}">
        <p14:creationId xmlns:p14="http://schemas.microsoft.com/office/powerpoint/2010/main" val="2702392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4D21-2C0B-E47D-50DD-354038E5DCBF}"/>
              </a:ext>
            </a:extLst>
          </p:cNvPr>
          <p:cNvSpPr>
            <a:spLocks noGrp="1"/>
          </p:cNvSpPr>
          <p:nvPr>
            <p:ph type="title"/>
          </p:nvPr>
        </p:nvSpPr>
        <p:spPr/>
        <p:txBody>
          <a:bodyPr/>
          <a:lstStyle/>
          <a:p>
            <a:r>
              <a:rPr lang="en-US"/>
              <a:t>Plain Language Summary</a:t>
            </a:r>
          </a:p>
        </p:txBody>
      </p:sp>
      <p:sp>
        <p:nvSpPr>
          <p:cNvPr id="3" name="Content Placeholder 2">
            <a:extLst>
              <a:ext uri="{FF2B5EF4-FFF2-40B4-BE49-F238E27FC236}">
                <a16:creationId xmlns:a16="http://schemas.microsoft.com/office/drawing/2014/main" id="{19756478-6925-A9B3-7458-7D5696D98EAD}"/>
              </a:ext>
            </a:extLst>
          </p:cNvPr>
          <p:cNvSpPr>
            <a:spLocks noGrp="1"/>
          </p:cNvSpPr>
          <p:nvPr>
            <p:ph idx="1"/>
          </p:nvPr>
        </p:nvSpPr>
        <p:spPr>
          <a:xfrm>
            <a:off x="772977" y="1409149"/>
            <a:ext cx="7596108" cy="3165872"/>
          </a:xfrm>
        </p:spPr>
        <p:txBody>
          <a:bodyPr/>
          <a:lstStyle/>
          <a:p>
            <a:pPr>
              <a:buClr>
                <a:srgbClr val="32859B"/>
              </a:buClr>
              <a:buFont typeface="Wingdings" panose="05000000000000000000" pitchFamily="2" charset="2"/>
              <a:buChar char="§"/>
            </a:pPr>
            <a:r>
              <a:rPr lang="en-US" sz="1600" dirty="0"/>
              <a:t>Problem: Many DoD coastal installations face increasing flood risks and shoreline loss, but current design tools lack the ability to simulate how restored salt marshes perform under future sea level rise and storm conditions.</a:t>
            </a:r>
          </a:p>
          <a:p>
            <a:pPr>
              <a:buClr>
                <a:srgbClr val="32859B"/>
              </a:buClr>
              <a:buFont typeface="Wingdings" panose="05000000000000000000" pitchFamily="2" charset="2"/>
              <a:buChar char="§"/>
            </a:pPr>
            <a:r>
              <a:rPr lang="en-US" sz="1600" dirty="0"/>
              <a:t>Objective: We’re building a high-resolution model that links water flow, waves, sediment, and plant growth to test how different salt marsh designs reduce flooding and improve habitat over time.</a:t>
            </a:r>
          </a:p>
          <a:p>
            <a:pPr>
              <a:buClr>
                <a:srgbClr val="32859B"/>
              </a:buClr>
              <a:buFont typeface="Wingdings" panose="05000000000000000000" pitchFamily="2" charset="2"/>
              <a:buChar char="§"/>
            </a:pPr>
            <a:r>
              <a:rPr lang="en-US" sz="1600" dirty="0"/>
              <a:t>Approach: The model is calibrated using real-world data from two marshes in San Francisco Bay—one restored, one natural—to simulate performance under historic and future conditions.</a:t>
            </a:r>
          </a:p>
          <a:p>
            <a:pPr>
              <a:buClr>
                <a:srgbClr val="32859B"/>
              </a:buClr>
              <a:buFont typeface="Wingdings" panose="05000000000000000000" pitchFamily="2" charset="2"/>
              <a:buChar char="§"/>
            </a:pPr>
            <a:r>
              <a:rPr lang="en-US" sz="1600" dirty="0"/>
              <a:t>Outcomes: The results will help DoD planners and engineers design more resilient nature-based shorelines, with science-based tools for evaluating and optimizing marsh restoration strategies.</a:t>
            </a:r>
          </a:p>
        </p:txBody>
      </p:sp>
      <p:sp>
        <p:nvSpPr>
          <p:cNvPr id="4" name="Slide Number Placeholder 3">
            <a:extLst>
              <a:ext uri="{FF2B5EF4-FFF2-40B4-BE49-F238E27FC236}">
                <a16:creationId xmlns:a16="http://schemas.microsoft.com/office/drawing/2014/main" id="{EC058BAD-625B-2E28-BD78-187A26281ED4}"/>
              </a:ext>
            </a:extLst>
          </p:cNvPr>
          <p:cNvSpPr>
            <a:spLocks noGrp="1"/>
          </p:cNvSpPr>
          <p:nvPr>
            <p:ph type="sldNum" sz="quarter" idx="12"/>
          </p:nvPr>
        </p:nvSpPr>
        <p:spPr/>
        <p:txBody>
          <a:bodyPr/>
          <a:lstStyle/>
          <a:p>
            <a:pPr>
              <a:defRPr/>
            </a:pPr>
            <a:fld id="{680333F5-0E11-4EF3-8AF3-CAB6FC9ECC79}" type="slidenum">
              <a:rPr lang="en-US" smtClean="0"/>
              <a:pPr>
                <a:defRPr/>
              </a:pPr>
              <a:t>24</a:t>
            </a:fld>
            <a:endParaRPr lang="en-US"/>
          </a:p>
        </p:txBody>
      </p:sp>
    </p:spTree>
    <p:extLst>
      <p:ext uri="{BB962C8B-B14F-4D97-AF65-F5344CB8AC3E}">
        <p14:creationId xmlns:p14="http://schemas.microsoft.com/office/powerpoint/2010/main" val="2594239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a:t>Action Items</a:t>
            </a:r>
          </a:p>
        </p:txBody>
      </p:sp>
      <p:sp>
        <p:nvSpPr>
          <p:cNvPr id="15363" name="Rectangle 3"/>
          <p:cNvSpPr>
            <a:spLocks noGrp="1" noChangeArrowheads="1"/>
          </p:cNvSpPr>
          <p:nvPr>
            <p:ph idx="1"/>
          </p:nvPr>
        </p:nvSpPr>
        <p:spPr/>
        <p:txBody>
          <a:bodyPr/>
          <a:lstStyle/>
          <a:p>
            <a:pPr eaLnBrk="1" hangingPunct="1">
              <a:buClr>
                <a:srgbClr val="32859B"/>
              </a:buClr>
              <a:buFont typeface="Wingdings" panose="05000000000000000000" pitchFamily="2" charset="2"/>
              <a:buChar char="§"/>
            </a:pPr>
            <a:r>
              <a:rPr lang="en-US" altLang="en-US" dirty="0"/>
              <a:t>None</a:t>
            </a:r>
          </a:p>
          <a:p>
            <a:pPr eaLnBrk="1" hangingPunct="1"/>
            <a:endParaRPr lang="en-US" altLang="en-US" dirty="0"/>
          </a:p>
          <a:p>
            <a:pPr eaLnBrk="1" hangingPunct="1"/>
            <a:endParaRPr lang="en-US" altLang="en-US" dirty="0"/>
          </a:p>
          <a:p>
            <a:pPr marL="0" indent="0" eaLnBrk="1" hangingPunct="1">
              <a:buNone/>
            </a:pPr>
            <a:endParaRPr lang="en-US" altLang="en-US" dirty="0"/>
          </a:p>
          <a:p>
            <a:pPr eaLnBrk="1" hangingPunct="1">
              <a:buFont typeface="Arial" charset="0"/>
              <a:buNone/>
            </a:pPr>
            <a:r>
              <a:rPr lang="en-US" altLang="en-US" dirty="0"/>
              <a:t>	NOTE: Include only if required.</a:t>
            </a:r>
          </a:p>
          <a:p>
            <a:pPr eaLnBrk="1" hangingPunct="1"/>
            <a:endParaRPr lang="en-US" altLang="en-US" dirty="0"/>
          </a:p>
        </p:txBody>
      </p:sp>
      <p:sp>
        <p:nvSpPr>
          <p:cNvPr id="153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E938DC44-42D0-46D6-9B9A-07FD695E7AF6}" type="slidenum">
              <a:rPr lang="en-US" altLang="en-US" sz="1050"/>
              <a:pPr>
                <a:spcBef>
                  <a:spcPct val="0"/>
                </a:spcBef>
                <a:buSzTx/>
                <a:buFontTx/>
                <a:buNone/>
              </a:pPr>
              <a:t>25</a:t>
            </a:fld>
            <a:endParaRPr lang="en-US" altLang="en-US" sz="1050" dirty="0"/>
          </a:p>
        </p:txBody>
      </p:sp>
    </p:spTree>
    <p:extLst>
      <p:ext uri="{BB962C8B-B14F-4D97-AF65-F5344CB8AC3E}">
        <p14:creationId xmlns:p14="http://schemas.microsoft.com/office/powerpoint/2010/main" val="1713446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a:t>Status of Funds for Federal Performers</a:t>
            </a:r>
          </a:p>
        </p:txBody>
      </p:sp>
      <p:sp>
        <p:nvSpPr>
          <p:cNvPr id="23555" name="Rectangle 3"/>
          <p:cNvSpPr>
            <a:spLocks noGrp="1" noChangeArrowheads="1"/>
          </p:cNvSpPr>
          <p:nvPr>
            <p:ph idx="1"/>
          </p:nvPr>
        </p:nvSpPr>
        <p:spPr>
          <a:xfrm>
            <a:off x="671788" y="1283449"/>
            <a:ext cx="7843561" cy="857250"/>
          </a:xfrm>
        </p:spPr>
        <p:txBody>
          <a:bodyPr vert="horz" lIns="91440" tIns="45720" rIns="91440" bIns="45720" rtlCol="0" anchor="t">
            <a:noAutofit/>
          </a:bodyPr>
          <a:lstStyle/>
          <a:p>
            <a:pPr>
              <a:buClr>
                <a:srgbClr val="32859B"/>
              </a:buClr>
              <a:buFont typeface="Wingdings" panose="05000000000000000000" pitchFamily="2" charset="2"/>
              <a:buChar char="§"/>
            </a:pPr>
            <a:r>
              <a:rPr lang="en-US" altLang="en-US" sz="1600" dirty="0"/>
              <a:t>Report on the status of funds for each MIPR received by a directly funded Federal performer. Provide information on each fiscal year for which there has not been 100% expenditure of funds. If you or your co-performer do not understand how to fill this out, contact your Program Manager in advance of the IPR. </a:t>
            </a:r>
            <a:endParaRPr lang="en-US" altLang="en-US" sz="1600"/>
          </a:p>
        </p:txBody>
      </p:sp>
      <p:sp>
        <p:nvSpPr>
          <p:cNvPr id="23591" name="Slide Number Placeholder 5"/>
          <p:cNvSpPr>
            <a:spLocks noGrp="1"/>
          </p:cNvSpPr>
          <p:nvPr>
            <p:ph type="sldNum" sz="quarter" idx="12"/>
          </p:nvPr>
        </p:nvSpPr>
        <p:spPr>
          <a:xfrm>
            <a:off x="3564868" y="4869656"/>
            <a:ext cx="2057400" cy="27384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8482399E-ED0C-4F8F-8A1C-3F188045C624}" type="slidenum">
              <a:rPr lang="en-US" altLang="en-US" sz="1050"/>
              <a:pPr>
                <a:spcBef>
                  <a:spcPct val="0"/>
                </a:spcBef>
                <a:buSzTx/>
                <a:buFontTx/>
                <a:buNone/>
              </a:pPr>
              <a:t>26</a:t>
            </a:fld>
            <a:endParaRPr lang="en-US" altLang="en-US" sz="1050" dirty="0"/>
          </a:p>
        </p:txBody>
      </p:sp>
      <p:graphicFrame>
        <p:nvGraphicFramePr>
          <p:cNvPr id="32810" name="Group 42"/>
          <p:cNvGraphicFramePr>
            <a:graphicFrameLocks noGrp="1"/>
          </p:cNvGraphicFramePr>
          <p:nvPr>
            <p:extLst>
              <p:ext uri="{D42A27DB-BD31-4B8C-83A1-F6EECF244321}">
                <p14:modId xmlns:p14="http://schemas.microsoft.com/office/powerpoint/2010/main" val="909342012"/>
              </p:ext>
            </p:extLst>
          </p:nvPr>
        </p:nvGraphicFramePr>
        <p:xfrm>
          <a:off x="2057400" y="2240894"/>
          <a:ext cx="5029200" cy="2377679"/>
        </p:xfrm>
        <a:graphic>
          <a:graphicData uri="http://schemas.openxmlformats.org/drawingml/2006/table">
            <a:tbl>
              <a:tblPr/>
              <a:tblGrid>
                <a:gridCol w="173355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tblGrid>
              <a:tr h="278606">
                <a:tc gridSpan="4">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dirty="0">
                          <a:ln>
                            <a:noFill/>
                          </a:ln>
                          <a:solidFill>
                            <a:schemeClr val="bg1"/>
                          </a:solidFill>
                          <a:effectLst/>
                          <a:latin typeface="Arial" charset="0"/>
                          <a:cs typeface="Times New Roman" pitchFamily="18" charset="0"/>
                        </a:rPr>
                        <a:t>FY2025 Funds</a:t>
                      </a:r>
                      <a:endParaRPr kumimoji="0" lang="en-US" sz="900" b="1" i="0" u="none" strike="noStrike" cap="none" normalizeH="0" baseline="0" dirty="0">
                        <a:ln>
                          <a:noFill/>
                        </a:ln>
                        <a:solidFill>
                          <a:schemeClr val="bg1"/>
                        </a:solidFill>
                        <a:effectLst/>
                        <a:latin typeface="Arial" charset="0"/>
                      </a:endParaRP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07194">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Directly Funded Federal Performer(s)</a:t>
                      </a: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Funds Received</a:t>
                      </a:r>
                      <a:endParaRPr kumimoji="0" lang="en-US" sz="900" b="1" i="0" u="none" strike="noStrike" cap="none" normalizeH="0" baseline="0">
                        <a:ln>
                          <a:noFill/>
                        </a:ln>
                        <a:solidFill>
                          <a:schemeClr val="bg1"/>
                        </a:solidFill>
                        <a:effectLst/>
                        <a:latin typeface="Arial" charset="0"/>
                      </a:endParaRP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Funds Obligated*</a:t>
                      </a:r>
                      <a:endParaRPr kumimoji="0" lang="en-US" sz="900" b="1" i="0" u="none" strike="noStrike" cap="none" normalizeH="0" baseline="0">
                        <a:ln>
                          <a:noFill/>
                        </a:ln>
                        <a:solidFill>
                          <a:schemeClr val="bg1"/>
                        </a:solidFill>
                        <a:effectLst/>
                        <a:latin typeface="Arial" charset="0"/>
                      </a:endParaRP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Percent Funding Obligated</a:t>
                      </a: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extLst>
                  <a:ext uri="{0D108BD9-81ED-4DB2-BD59-A6C34878D82A}">
                    <a16:rowId xmlns:a16="http://schemas.microsoft.com/office/drawing/2014/main" val="10001"/>
                  </a:ext>
                </a:extLst>
              </a:tr>
              <a:tr h="422672">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dirty="0">
                          <a:ln>
                            <a:noFill/>
                          </a:ln>
                          <a:solidFill>
                            <a:srgbClr val="006600"/>
                          </a:solidFill>
                          <a:effectLst/>
                          <a:latin typeface="Arial" charset="0"/>
                          <a:cs typeface="Times New Roman" pitchFamily="18" charset="0"/>
                        </a:rPr>
                        <a:t>USACE</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dirty="0">
                          <a:ln>
                            <a:noFill/>
                          </a:ln>
                          <a:solidFill>
                            <a:srgbClr val="006600"/>
                          </a:solidFill>
                          <a:effectLst/>
                          <a:latin typeface="Arial" charset="0"/>
                          <a:cs typeface="Times New Roman" pitchFamily="18" charset="0"/>
                        </a:rPr>
                        <a:t> - Direct Cite MIPR</a:t>
                      </a:r>
                      <a:endParaRPr kumimoji="0" lang="en-US" sz="900" b="0" i="0" u="none" strike="noStrike" cap="none" normalizeH="0" baseline="0" dirty="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dirty="0">
                          <a:ln>
                            <a:noFill/>
                          </a:ln>
                          <a:solidFill>
                            <a:srgbClr val="006600"/>
                          </a:solidFill>
                          <a:effectLst/>
                          <a:latin typeface="Arial" charset="0"/>
                        </a:rPr>
                        <a:t>264</a:t>
                      </a: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dirty="0">
                          <a:ln>
                            <a:noFill/>
                          </a:ln>
                          <a:solidFill>
                            <a:srgbClr val="006600"/>
                          </a:solidFill>
                          <a:effectLst/>
                          <a:latin typeface="Arial" charset="0"/>
                        </a:rPr>
                        <a:t>157 </a:t>
                      </a: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dirty="0">
                          <a:ln>
                            <a:noFill/>
                          </a:ln>
                          <a:solidFill>
                            <a:srgbClr val="006600"/>
                          </a:solidFill>
                          <a:effectLst/>
                          <a:latin typeface="Arial" charset="0"/>
                        </a:rPr>
                        <a:t>59%</a:t>
                      </a: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22672">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A</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Reimbursable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dirty="0">
                          <a:ln>
                            <a:noFill/>
                          </a:ln>
                          <a:solidFill>
                            <a:srgbClr val="006600"/>
                          </a:solidFill>
                          <a:effectLst/>
                          <a:latin typeface="Arial" charset="0"/>
                        </a:rPr>
                        <a:t>180</a:t>
                      </a: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dirty="0">
                          <a:ln>
                            <a:noFill/>
                          </a:ln>
                          <a:solidFill>
                            <a:srgbClr val="006600"/>
                          </a:solidFill>
                          <a:effectLst/>
                          <a:latin typeface="Arial" charset="0"/>
                        </a:rPr>
                        <a:t>0</a:t>
                      </a: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dirty="0">
                          <a:ln>
                            <a:noFill/>
                          </a:ln>
                          <a:solidFill>
                            <a:srgbClr val="006600"/>
                          </a:solidFill>
                          <a:effectLst/>
                          <a:latin typeface="Arial" charset="0"/>
                        </a:rPr>
                        <a:t>0%</a:t>
                      </a: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23863">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B</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Direct Cite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dirty="0">
                          <a:ln>
                            <a:noFill/>
                          </a:ln>
                          <a:solidFill>
                            <a:srgbClr val="006600"/>
                          </a:solidFill>
                          <a:effectLst/>
                          <a:latin typeface="Arial" charset="0"/>
                        </a:rPr>
                        <a:t>15</a:t>
                      </a: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dirty="0">
                          <a:ln>
                            <a:noFill/>
                          </a:ln>
                          <a:solidFill>
                            <a:srgbClr val="006600"/>
                          </a:solidFill>
                          <a:effectLst/>
                          <a:latin typeface="Arial" charset="0"/>
                        </a:rPr>
                        <a:t>1</a:t>
                      </a: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rPr>
                        <a:t>7%</a:t>
                      </a:r>
                      <a:endParaRPr kumimoji="0" lang="en-US" sz="900" b="0" i="0" u="none" strike="noStrike" cap="none" normalizeH="0" baseline="0" dirty="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22672">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B</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Reimbursable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dirty="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590" name="Rectangle 38"/>
          <p:cNvSpPr>
            <a:spLocks noChangeArrowheads="1"/>
          </p:cNvSpPr>
          <p:nvPr/>
        </p:nvSpPr>
        <p:spPr bwMode="auto">
          <a:xfrm>
            <a:off x="2120153" y="4618573"/>
            <a:ext cx="457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75000"/>
              <a:buFont typeface="Arial" charset="0"/>
              <a:buChar char="●"/>
              <a:defRPr sz="2400">
                <a:solidFill>
                  <a:schemeClr val="tx1"/>
                </a:solidFill>
                <a:latin typeface="Arial" charset="0"/>
                <a:ea typeface="ＭＳ Ｐゴシック" charset="-128"/>
              </a:defRPr>
            </a:lvl1pPr>
            <a:lvl2pPr marL="742950" indent="-285750">
              <a:spcBef>
                <a:spcPct val="20000"/>
              </a:spcBef>
              <a:buSzPct val="80000"/>
              <a:buFont typeface="Wingdings" charset="2"/>
              <a:buChar char="t"/>
              <a:defRPr sz="2000">
                <a:solidFill>
                  <a:schemeClr val="tx1"/>
                </a:solidFill>
                <a:latin typeface="Arial" charset="0"/>
                <a:ea typeface="ＭＳ Ｐゴシック" charset="-128"/>
              </a:defRPr>
            </a:lvl2pPr>
            <a:lvl3pPr marL="1143000" indent="-228600">
              <a:spcBef>
                <a:spcPct val="20000"/>
              </a:spcBef>
              <a:buSzPct val="100000"/>
              <a:buFont typeface="Wingdings" charset="2"/>
              <a:buChar char="§"/>
              <a:defRPr>
                <a:solidFill>
                  <a:schemeClr val="tx1"/>
                </a:solidFill>
                <a:latin typeface="Arial" charset="0"/>
                <a:ea typeface="ＭＳ Ｐゴシック" charset="-128"/>
              </a:defRPr>
            </a:lvl3pPr>
            <a:lvl4pPr marL="1600200" indent="-228600">
              <a:spcBef>
                <a:spcPct val="20000"/>
              </a:spcBef>
              <a:buChar char="–"/>
              <a:defRPr sz="1600">
                <a:solidFill>
                  <a:schemeClr val="tx1"/>
                </a:solidFill>
                <a:latin typeface="Arial" charset="0"/>
                <a:ea typeface="ＭＳ Ｐゴシック" charset="-128"/>
              </a:defRPr>
            </a:lvl4pPr>
            <a:lvl5pPr marL="2057400" indent="-228600">
              <a:spcBef>
                <a:spcPct val="20000"/>
              </a:spcBef>
              <a:buChar char="»"/>
              <a:defRPr sz="14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14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14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14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1400">
                <a:solidFill>
                  <a:schemeClr val="tx1"/>
                </a:solidFill>
                <a:latin typeface="Arial" charset="0"/>
                <a:ea typeface="ＭＳ Ｐゴシック" charset="-128"/>
              </a:defRPr>
            </a:lvl9pPr>
          </a:lstStyle>
          <a:p>
            <a:pPr>
              <a:spcBef>
                <a:spcPct val="0"/>
              </a:spcBef>
              <a:buSzTx/>
              <a:buFontTx/>
              <a:buNone/>
            </a:pPr>
            <a:r>
              <a:rPr lang="en-US" altLang="en-US" sz="900" dirty="0">
                <a:solidFill>
                  <a:srgbClr val="006600"/>
                </a:solidFill>
                <a:latin typeface="Arial" panose="020B0604020202020204" pitchFamily="34" charset="0"/>
                <a:cs typeface="Arial" panose="020B0604020202020204" pitchFamily="34" charset="0"/>
              </a:rPr>
              <a:t>* Funds put on contracts and/or purchase orders that have been issued, and funds associated with internal labor or travel expenses that have been incurred.</a:t>
            </a:r>
          </a:p>
        </p:txBody>
      </p:sp>
    </p:spTree>
    <p:extLst>
      <p:ext uri="{BB962C8B-B14F-4D97-AF65-F5344CB8AC3E}">
        <p14:creationId xmlns:p14="http://schemas.microsoft.com/office/powerpoint/2010/main" val="2724740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a:t>Publications</a:t>
            </a:r>
          </a:p>
        </p:txBody>
      </p:sp>
      <p:sp>
        <p:nvSpPr>
          <p:cNvPr id="24579" name="Rectangle 3"/>
          <p:cNvSpPr>
            <a:spLocks noGrp="1" noChangeArrowheads="1"/>
          </p:cNvSpPr>
          <p:nvPr>
            <p:ph idx="1"/>
          </p:nvPr>
        </p:nvSpPr>
        <p:spPr/>
        <p:txBody>
          <a:bodyPr/>
          <a:lstStyle/>
          <a:p>
            <a:pPr eaLnBrk="1" hangingPunct="1">
              <a:buClr>
                <a:srgbClr val="32859B"/>
              </a:buClr>
              <a:buFont typeface="Wingdings" panose="05000000000000000000" pitchFamily="2" charset="2"/>
              <a:buChar char="§"/>
            </a:pPr>
            <a:r>
              <a:rPr lang="en-US" altLang="en-US" dirty="0"/>
              <a:t>Smith, M., M. Abellera, J. Olszewski, T. Steissberg, in prep. “Evaluating hydrodynamic and biophysical feedbacks leading to steady state conditions in a coastal salt marsh of San Francisco, CA”</a:t>
            </a:r>
          </a:p>
        </p:txBody>
      </p:sp>
      <p:sp>
        <p:nvSpPr>
          <p:cNvPr id="2458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E650E0F8-E0FC-4E56-8149-57E0F848F19A}" type="slidenum">
              <a:rPr lang="en-US" altLang="en-US" sz="1050"/>
              <a:pPr>
                <a:spcBef>
                  <a:spcPct val="0"/>
                </a:spcBef>
                <a:buSzTx/>
                <a:buFontTx/>
                <a:buNone/>
              </a:pPr>
              <a:t>27</a:t>
            </a:fld>
            <a:endParaRPr lang="en-US" altLang="en-US" sz="1050"/>
          </a:p>
        </p:txBody>
      </p:sp>
    </p:spTree>
    <p:extLst>
      <p:ext uri="{BB962C8B-B14F-4D97-AF65-F5344CB8AC3E}">
        <p14:creationId xmlns:p14="http://schemas.microsoft.com/office/powerpoint/2010/main" val="1704224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Literature Cited</a:t>
            </a:r>
          </a:p>
        </p:txBody>
      </p:sp>
      <p:sp>
        <p:nvSpPr>
          <p:cNvPr id="3" name="Rectangle 3">
            <a:extLst>
              <a:ext uri="{FF2B5EF4-FFF2-40B4-BE49-F238E27FC236}">
                <a16:creationId xmlns:a16="http://schemas.microsoft.com/office/drawing/2014/main" id="{3375DB91-2D1C-DB26-7117-FE70D136A5B6}"/>
              </a:ext>
            </a:extLst>
          </p:cNvPr>
          <p:cNvSpPr>
            <a:spLocks noGrp="1" noChangeArrowheads="1"/>
          </p:cNvSpPr>
          <p:nvPr>
            <p:ph idx="1"/>
          </p:nvPr>
        </p:nvSpPr>
        <p:spPr/>
        <p:txBody>
          <a:bodyPr/>
          <a:lstStyle/>
          <a:p>
            <a:pPr algn="l"/>
            <a:endParaRPr lang="en-US" sz="1100" b="0" i="0" u="none" strike="noStrike" baseline="0" dirty="0">
              <a:solidFill>
                <a:srgbClr val="000000"/>
              </a:solidFill>
              <a:latin typeface="Times New Roman" panose="02020603050405020304" pitchFamily="18" charset="0"/>
            </a:endParaRPr>
          </a:p>
          <a:p>
            <a:r>
              <a:rPr lang="en-US" sz="1200" b="0" i="0" u="none" strike="noStrike" baseline="0" dirty="0">
                <a:solidFill>
                  <a:srgbClr val="000000"/>
                </a:solidFill>
                <a:latin typeface="Times New Roman" panose="02020603050405020304" pitchFamily="18" charset="0"/>
              </a:rPr>
              <a:t>Brand, M. W., Buffington, K., Rogers, J. B., Thorne, K., Stein, E. D., &amp; Sanders, B. F. (2022). Multi‐decadal simulation of marsh topography under sea level rise and episodic sediment loads. </a:t>
            </a:r>
            <a:r>
              <a:rPr lang="en-US" sz="1200" b="0" i="1" u="none" strike="noStrike" baseline="0" dirty="0">
                <a:solidFill>
                  <a:srgbClr val="000000"/>
                </a:solidFill>
                <a:latin typeface="Times New Roman" panose="02020603050405020304" pitchFamily="18" charset="0"/>
              </a:rPr>
              <a:t>Journal of Geophysical Research: Earth Surface</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127</a:t>
            </a:r>
            <a:r>
              <a:rPr lang="en-US" sz="1200" b="0" i="0" u="none" strike="noStrike" baseline="0" dirty="0">
                <a:solidFill>
                  <a:srgbClr val="000000"/>
                </a:solidFill>
                <a:latin typeface="Times New Roman" panose="02020603050405020304" pitchFamily="18" charset="0"/>
              </a:rPr>
              <a:t>(9), e2021JF006526. </a:t>
            </a:r>
          </a:p>
          <a:p>
            <a:r>
              <a:rPr lang="en-US" sz="1200" b="0" i="0" u="none" strike="noStrike" baseline="0" dirty="0">
                <a:solidFill>
                  <a:srgbClr val="000000"/>
                </a:solidFill>
                <a:latin typeface="Times New Roman" panose="02020603050405020304" pitchFamily="18" charset="0"/>
              </a:rPr>
              <a:t>Buffington, K. J., </a:t>
            </a:r>
            <a:r>
              <a:rPr lang="en-US" sz="1200" b="0" i="0" u="none" strike="noStrike" baseline="0" dirty="0" err="1">
                <a:solidFill>
                  <a:srgbClr val="000000"/>
                </a:solidFill>
                <a:latin typeface="Times New Roman" panose="02020603050405020304" pitchFamily="18" charset="0"/>
              </a:rPr>
              <a:t>Dugger</a:t>
            </a:r>
            <a:r>
              <a:rPr lang="en-US" sz="1200" b="0" i="0" u="none" strike="noStrike" baseline="0" dirty="0">
                <a:solidFill>
                  <a:srgbClr val="000000"/>
                </a:solidFill>
                <a:latin typeface="Times New Roman" panose="02020603050405020304" pitchFamily="18" charset="0"/>
              </a:rPr>
              <a:t>, B. D., Thorne, K. M., &amp; </a:t>
            </a:r>
            <a:r>
              <a:rPr lang="en-US" sz="1200" b="0" i="0" u="none" strike="noStrike" baseline="0" dirty="0" err="1">
                <a:solidFill>
                  <a:srgbClr val="000000"/>
                </a:solidFill>
                <a:latin typeface="Times New Roman" panose="02020603050405020304" pitchFamily="18" charset="0"/>
              </a:rPr>
              <a:t>Takekawa</a:t>
            </a:r>
            <a:r>
              <a:rPr lang="en-US" sz="1200" b="0" i="0" u="none" strike="noStrike" baseline="0" dirty="0">
                <a:solidFill>
                  <a:srgbClr val="000000"/>
                </a:solidFill>
                <a:latin typeface="Times New Roman" panose="02020603050405020304" pitchFamily="18" charset="0"/>
              </a:rPr>
              <a:t>, J. Y. (2016). Statistical correction of lidar-derived digital elevation models with multispectral airborne imagery in tidal marshes. </a:t>
            </a:r>
            <a:r>
              <a:rPr lang="en-US" sz="1200" b="0" i="1" u="none" strike="noStrike" baseline="0" dirty="0">
                <a:solidFill>
                  <a:srgbClr val="000000"/>
                </a:solidFill>
                <a:latin typeface="Times New Roman" panose="02020603050405020304" pitchFamily="18" charset="0"/>
              </a:rPr>
              <a:t>Remote Sensing of Environment</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186</a:t>
            </a:r>
            <a:r>
              <a:rPr lang="en-US" sz="1200" b="0" i="0" u="none" strike="noStrike" baseline="0" dirty="0">
                <a:solidFill>
                  <a:srgbClr val="000000"/>
                </a:solidFill>
                <a:latin typeface="Times New Roman" panose="02020603050405020304" pitchFamily="18" charset="0"/>
              </a:rPr>
              <a:t>, 616-625. </a:t>
            </a:r>
          </a:p>
          <a:p>
            <a:r>
              <a:rPr lang="en-US" sz="1200" b="0" i="0" u="none" strike="noStrike" baseline="0" dirty="0">
                <a:solidFill>
                  <a:srgbClr val="000000"/>
                </a:solidFill>
                <a:latin typeface="Times New Roman" panose="02020603050405020304" pitchFamily="18" charset="0"/>
              </a:rPr>
              <a:t>Foster-Martinez, M. R., Lacy, J. R., </a:t>
            </a:r>
            <a:r>
              <a:rPr lang="en-US" sz="1200" b="0" i="0" u="none" strike="noStrike" baseline="0" dirty="0" err="1">
                <a:solidFill>
                  <a:srgbClr val="000000"/>
                </a:solidFill>
                <a:latin typeface="Times New Roman" panose="02020603050405020304" pitchFamily="18" charset="0"/>
              </a:rPr>
              <a:t>Ferner</a:t>
            </a:r>
            <a:r>
              <a:rPr lang="en-US" sz="1200" b="0" i="0" u="none" strike="noStrike" baseline="0" dirty="0">
                <a:solidFill>
                  <a:srgbClr val="000000"/>
                </a:solidFill>
                <a:latin typeface="Times New Roman" panose="02020603050405020304" pitchFamily="18" charset="0"/>
              </a:rPr>
              <a:t>, M. C., &amp; </a:t>
            </a:r>
            <a:r>
              <a:rPr lang="en-US" sz="1200" b="0" i="0" u="none" strike="noStrike" baseline="0" dirty="0" err="1">
                <a:solidFill>
                  <a:srgbClr val="000000"/>
                </a:solidFill>
                <a:latin typeface="Times New Roman" panose="02020603050405020304" pitchFamily="18" charset="0"/>
              </a:rPr>
              <a:t>Variano</a:t>
            </a:r>
            <a:r>
              <a:rPr lang="en-US" sz="1200" b="0" i="0" u="none" strike="noStrike" baseline="0" dirty="0">
                <a:solidFill>
                  <a:srgbClr val="000000"/>
                </a:solidFill>
                <a:latin typeface="Times New Roman" panose="02020603050405020304" pitchFamily="18" charset="0"/>
              </a:rPr>
              <a:t>, E. A. (2018). Wave attenuation across a tidal marsh in San Francisco Bay. </a:t>
            </a:r>
            <a:r>
              <a:rPr lang="en-US" sz="1200" b="0" i="1" u="none" strike="noStrike" baseline="0" dirty="0">
                <a:solidFill>
                  <a:srgbClr val="000000"/>
                </a:solidFill>
                <a:latin typeface="Times New Roman" panose="02020603050405020304" pitchFamily="18" charset="0"/>
              </a:rPr>
              <a:t>Coastal Engineering</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136</a:t>
            </a:r>
            <a:r>
              <a:rPr lang="en-US" sz="1200" b="0" i="0" u="none" strike="noStrike" baseline="0" dirty="0">
                <a:solidFill>
                  <a:srgbClr val="000000"/>
                </a:solidFill>
                <a:latin typeface="Times New Roman" panose="02020603050405020304" pitchFamily="18" charset="0"/>
              </a:rPr>
              <a:t>, 26-40. </a:t>
            </a:r>
          </a:p>
          <a:p>
            <a:r>
              <a:rPr lang="en-US" sz="1200" b="0" i="0" u="none" strike="noStrike" baseline="0" dirty="0">
                <a:solidFill>
                  <a:srgbClr val="000000"/>
                </a:solidFill>
                <a:latin typeface="Times New Roman" panose="02020603050405020304" pitchFamily="18" charset="0"/>
              </a:rPr>
              <a:t>Nederhoff, K., Saleh, R., </a:t>
            </a:r>
            <a:r>
              <a:rPr lang="en-US" sz="1200" b="0" i="0" u="none" strike="noStrike" baseline="0" dirty="0" err="1">
                <a:solidFill>
                  <a:srgbClr val="000000"/>
                </a:solidFill>
                <a:latin typeface="Times New Roman" panose="02020603050405020304" pitchFamily="18" charset="0"/>
              </a:rPr>
              <a:t>Tehranirad</a:t>
            </a:r>
            <a:r>
              <a:rPr lang="en-US" sz="1200" b="0" i="0" u="none" strike="noStrike" baseline="0" dirty="0">
                <a:solidFill>
                  <a:srgbClr val="000000"/>
                </a:solidFill>
                <a:latin typeface="Times New Roman" panose="02020603050405020304" pitchFamily="18" charset="0"/>
              </a:rPr>
              <a:t>, B., </a:t>
            </a:r>
            <a:r>
              <a:rPr lang="en-US" sz="1200" b="0" i="0" u="none" strike="noStrike" baseline="0" dirty="0" err="1">
                <a:solidFill>
                  <a:srgbClr val="000000"/>
                </a:solidFill>
                <a:latin typeface="Times New Roman" panose="02020603050405020304" pitchFamily="18" charset="0"/>
              </a:rPr>
              <a:t>Herdman</a:t>
            </a:r>
            <a:r>
              <a:rPr lang="en-US" sz="1200" b="0" i="0" u="none" strike="noStrike" baseline="0" dirty="0">
                <a:solidFill>
                  <a:srgbClr val="000000"/>
                </a:solidFill>
                <a:latin typeface="Times New Roman" panose="02020603050405020304" pitchFamily="18" charset="0"/>
              </a:rPr>
              <a:t>, L., Erikson, L., Barnard, P. L., &amp; Van der Wegen, M. (2021). Drivers of extreme water levels in a large, urban, high-energy coastal estuary–A case study of the San Francisco Bay. </a:t>
            </a:r>
            <a:r>
              <a:rPr lang="en-US" sz="1200" b="0" i="1" u="none" strike="noStrike" baseline="0" dirty="0">
                <a:solidFill>
                  <a:srgbClr val="000000"/>
                </a:solidFill>
                <a:latin typeface="Times New Roman" panose="02020603050405020304" pitchFamily="18" charset="0"/>
              </a:rPr>
              <a:t>Coastal Engineering</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170</a:t>
            </a:r>
            <a:r>
              <a:rPr lang="en-US" sz="1200" b="0" i="0" u="none" strike="noStrike" baseline="0" dirty="0">
                <a:solidFill>
                  <a:srgbClr val="000000"/>
                </a:solidFill>
                <a:latin typeface="Times New Roman" panose="02020603050405020304" pitchFamily="18" charset="0"/>
              </a:rPr>
              <a:t>, 103984 </a:t>
            </a:r>
          </a:p>
          <a:p>
            <a:r>
              <a:rPr lang="en-US" sz="1200" b="0" i="0" u="none" strike="noStrike" baseline="0" dirty="0">
                <a:solidFill>
                  <a:srgbClr val="000000"/>
                </a:solidFill>
                <a:latin typeface="Times New Roman" panose="02020603050405020304" pitchFamily="18" charset="0"/>
              </a:rPr>
              <a:t>Thorne, K. M., Elliott-Fisk, D. L., Wylie, G. D., Perry, W. M., &amp; </a:t>
            </a:r>
            <a:r>
              <a:rPr lang="en-US" sz="1200" b="0" i="0" u="none" strike="noStrike" baseline="0" dirty="0" err="1">
                <a:solidFill>
                  <a:srgbClr val="000000"/>
                </a:solidFill>
                <a:latin typeface="Times New Roman" panose="02020603050405020304" pitchFamily="18" charset="0"/>
              </a:rPr>
              <a:t>Takekawa</a:t>
            </a:r>
            <a:r>
              <a:rPr lang="en-US" sz="1200" b="0" i="0" u="none" strike="noStrike" baseline="0" dirty="0">
                <a:solidFill>
                  <a:srgbClr val="000000"/>
                </a:solidFill>
                <a:latin typeface="Times New Roman" panose="02020603050405020304" pitchFamily="18" charset="0"/>
              </a:rPr>
              <a:t>, J. Y. (2014). Importance of </a:t>
            </a:r>
            <a:r>
              <a:rPr lang="en-US" sz="1200" b="0" i="0" u="none" strike="noStrike" baseline="0" dirty="0" err="1">
                <a:solidFill>
                  <a:srgbClr val="000000"/>
                </a:solidFill>
                <a:latin typeface="Times New Roman" panose="02020603050405020304" pitchFamily="18" charset="0"/>
              </a:rPr>
              <a:t>biogeomorphic</a:t>
            </a:r>
            <a:r>
              <a:rPr lang="en-US" sz="1200" b="0" i="0" u="none" strike="noStrike" baseline="0" dirty="0">
                <a:solidFill>
                  <a:srgbClr val="000000"/>
                </a:solidFill>
                <a:latin typeface="Times New Roman" panose="02020603050405020304" pitchFamily="18" charset="0"/>
              </a:rPr>
              <a:t> and spatial properties in assessing a tidal salt marsh vulnerability to sea-level rise. </a:t>
            </a:r>
            <a:r>
              <a:rPr lang="en-US" sz="1200" b="0" i="1" u="none" strike="noStrike" baseline="0" dirty="0">
                <a:solidFill>
                  <a:srgbClr val="000000"/>
                </a:solidFill>
                <a:latin typeface="Times New Roman" panose="02020603050405020304" pitchFamily="18" charset="0"/>
              </a:rPr>
              <a:t>Estuaries and Coasts</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37</a:t>
            </a:r>
            <a:r>
              <a:rPr lang="en-US" sz="1200" b="0" i="0" u="none" strike="noStrike" baseline="0" dirty="0">
                <a:solidFill>
                  <a:srgbClr val="000000"/>
                </a:solidFill>
                <a:latin typeface="Times New Roman" panose="02020603050405020304" pitchFamily="18" charset="0"/>
              </a:rPr>
              <a:t>, 941-951. </a:t>
            </a:r>
          </a:p>
          <a:p>
            <a:r>
              <a:rPr lang="en-US" sz="1200" b="0" i="0" u="none" strike="noStrike" baseline="0" dirty="0">
                <a:solidFill>
                  <a:srgbClr val="000000"/>
                </a:solidFill>
                <a:latin typeface="Times New Roman" panose="02020603050405020304" pitchFamily="18" charset="0"/>
              </a:rPr>
              <a:t>Willemsen, P. W. J. M., Smits, B. P., </a:t>
            </a:r>
            <a:r>
              <a:rPr lang="en-US" sz="1200" b="0" i="0" u="none" strike="noStrike" baseline="0" dirty="0" err="1">
                <a:solidFill>
                  <a:srgbClr val="000000"/>
                </a:solidFill>
                <a:latin typeface="Times New Roman" panose="02020603050405020304" pitchFamily="18" charset="0"/>
              </a:rPr>
              <a:t>Borsje</a:t>
            </a:r>
            <a:r>
              <a:rPr lang="en-US" sz="1200" b="0" i="0" u="none" strike="noStrike" baseline="0" dirty="0">
                <a:solidFill>
                  <a:srgbClr val="000000"/>
                </a:solidFill>
                <a:latin typeface="Times New Roman" panose="02020603050405020304" pitchFamily="18" charset="0"/>
              </a:rPr>
              <a:t>, B. W., Herman, P. M. J., Dijkstra, J. T., Bouma, T. J., &amp; </a:t>
            </a:r>
            <a:r>
              <a:rPr lang="en-US" sz="1200" b="0" i="0" u="none" strike="noStrike" baseline="0" dirty="0" err="1">
                <a:solidFill>
                  <a:srgbClr val="000000"/>
                </a:solidFill>
                <a:latin typeface="Times New Roman" panose="02020603050405020304" pitchFamily="18" charset="0"/>
              </a:rPr>
              <a:t>Hulscher</a:t>
            </a:r>
            <a:r>
              <a:rPr lang="en-US" sz="1200" b="0" i="0" u="none" strike="noStrike" baseline="0" dirty="0">
                <a:solidFill>
                  <a:srgbClr val="000000"/>
                </a:solidFill>
                <a:latin typeface="Times New Roman" panose="02020603050405020304" pitchFamily="18" charset="0"/>
              </a:rPr>
              <a:t>, S. J. M. H. (2022). Modeling decadal salt marsh development: variability of the salt marsh edge under influence of waves and sediment availability. </a:t>
            </a:r>
            <a:r>
              <a:rPr lang="en-US" sz="1200" b="0" i="1" u="none" strike="noStrike" baseline="0" dirty="0">
                <a:solidFill>
                  <a:srgbClr val="000000"/>
                </a:solidFill>
                <a:latin typeface="Times New Roman" panose="02020603050405020304" pitchFamily="18" charset="0"/>
              </a:rPr>
              <a:t>Water Resources Research</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58</a:t>
            </a:r>
            <a:r>
              <a:rPr lang="en-US" sz="1200" b="0" i="0" u="none" strike="noStrike" baseline="0" dirty="0">
                <a:solidFill>
                  <a:srgbClr val="000000"/>
                </a:solidFill>
                <a:latin typeface="Times New Roman" panose="02020603050405020304" pitchFamily="18" charset="0"/>
              </a:rPr>
              <a:t>(1), e2020WR028962. </a:t>
            </a:r>
          </a:p>
          <a:p>
            <a:pPr eaLnBrk="1" hangingPunct="1">
              <a:buFont typeface="Arial" charset="0"/>
              <a:buNone/>
            </a:pPr>
            <a:endParaRPr lang="en-US" sz="1100" dirty="0"/>
          </a:p>
          <a:p>
            <a:pPr eaLnBrk="1" hangingPunct="1"/>
            <a:endParaRPr lang="en-US" sz="1100" dirty="0"/>
          </a:p>
        </p:txBody>
      </p:sp>
      <p:sp>
        <p:nvSpPr>
          <p:cNvPr id="4" name="Slide Number Placeholder 3"/>
          <p:cNvSpPr>
            <a:spLocks noGrp="1"/>
          </p:cNvSpPr>
          <p:nvPr>
            <p:ph type="sldNum" sz="quarter" idx="12"/>
          </p:nvPr>
        </p:nvSpPr>
        <p:spPr/>
        <p:txBody>
          <a:bodyPr/>
          <a:lstStyle/>
          <a:p>
            <a:pPr>
              <a:defRPr/>
            </a:pPr>
            <a:fld id="{F15A45AE-750E-4F8E-A267-BC9BE80CBA4E}" type="slidenum">
              <a:rPr lang="en-US" smtClean="0"/>
              <a:pPr>
                <a:defRPr/>
              </a:pPr>
              <a:t>28</a:t>
            </a:fld>
            <a:endParaRPr lang="en-US"/>
          </a:p>
        </p:txBody>
      </p:sp>
    </p:spTree>
    <p:extLst>
      <p:ext uri="{BB962C8B-B14F-4D97-AF65-F5344CB8AC3E}">
        <p14:creationId xmlns:p14="http://schemas.microsoft.com/office/powerpoint/2010/main" val="237096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Technical Risks</a:t>
            </a:r>
          </a:p>
        </p:txBody>
      </p:sp>
      <p:sp>
        <p:nvSpPr>
          <p:cNvPr id="24579" name="Rectangle 3"/>
          <p:cNvSpPr>
            <a:spLocks noGrp="1" noChangeArrowheads="1"/>
          </p:cNvSpPr>
          <p:nvPr>
            <p:ph idx="1"/>
          </p:nvPr>
        </p:nvSpPr>
        <p:spPr>
          <a:xfrm>
            <a:off x="438150" y="1239679"/>
            <a:ext cx="7886700" cy="3263504"/>
          </a:xfrm>
        </p:spPr>
        <p:txBody>
          <a:bodyPr/>
          <a:lstStyle/>
          <a:p>
            <a:pPr marL="0" lvl="0" indent="0" algn="l" rtl="0">
              <a:spcBef>
                <a:spcPts val="0"/>
              </a:spcBef>
              <a:spcAft>
                <a:spcPts val="0"/>
              </a:spcAft>
              <a:buClr>
                <a:schemeClr val="dk1"/>
              </a:buClr>
              <a:buSzPts val="1500"/>
              <a:buFont typeface="Arial"/>
              <a:buNone/>
            </a:pPr>
            <a:r>
              <a:rPr lang="en-US" sz="1600" b="1" dirty="0">
                <a:solidFill>
                  <a:schemeClr val="dk1"/>
                </a:solidFill>
              </a:rPr>
              <a:t>ASSUMPTIONS</a:t>
            </a:r>
            <a:endParaRPr lang="en-US" sz="1600" dirty="0"/>
          </a:p>
          <a:p>
            <a:pPr marL="342906" lvl="0" indent="-342906" algn="l" rtl="0">
              <a:spcBef>
                <a:spcPts val="400"/>
              </a:spcBef>
              <a:spcAft>
                <a:spcPts val="0"/>
              </a:spcAft>
              <a:buClr>
                <a:srgbClr val="000000"/>
              </a:buClr>
              <a:buSzPts val="1500"/>
              <a:buFont typeface="Arial"/>
              <a:buChar char="•"/>
            </a:pPr>
            <a:r>
              <a:rPr lang="en-US" sz="1600" dirty="0"/>
              <a:t>Appropriate sites and data are available</a:t>
            </a:r>
          </a:p>
          <a:p>
            <a:pPr marL="342906" lvl="0" indent="-342906" algn="l" rtl="0">
              <a:spcBef>
                <a:spcPts val="400"/>
              </a:spcBef>
              <a:spcAft>
                <a:spcPts val="0"/>
              </a:spcAft>
              <a:buClr>
                <a:srgbClr val="000000"/>
              </a:buClr>
              <a:buSzPts val="1500"/>
              <a:buFont typeface="Arial"/>
              <a:buChar char="•"/>
            </a:pPr>
            <a:r>
              <a:rPr lang="en-US" sz="1600" dirty="0"/>
              <a:t>Significant relationships exist between marsh characteristics and performance objectives</a:t>
            </a:r>
          </a:p>
          <a:p>
            <a:pPr marL="342906" lvl="0" indent="-342906" algn="l" rtl="0">
              <a:spcBef>
                <a:spcPts val="400"/>
              </a:spcBef>
              <a:spcAft>
                <a:spcPts val="0"/>
              </a:spcAft>
              <a:buClr>
                <a:srgbClr val="000000"/>
              </a:buClr>
              <a:buSzPts val="1500"/>
              <a:buFont typeface="Arial"/>
              <a:buChar char="•"/>
            </a:pPr>
            <a:r>
              <a:rPr lang="en-US" sz="1600" dirty="0"/>
              <a:t>Relationships identified in San Francisco Bay will be transferable to other parts of the US.</a:t>
            </a:r>
          </a:p>
          <a:p>
            <a:pPr marL="342906" lvl="0" indent="-247656" algn="l" rtl="0">
              <a:spcBef>
                <a:spcPts val="400"/>
              </a:spcBef>
              <a:spcAft>
                <a:spcPts val="0"/>
              </a:spcAft>
              <a:buClr>
                <a:srgbClr val="000000"/>
              </a:buClr>
              <a:buSzPts val="1500"/>
              <a:buFont typeface="Arial"/>
              <a:buNone/>
            </a:pPr>
            <a:endParaRPr lang="en-US" sz="1600" dirty="0"/>
          </a:p>
          <a:p>
            <a:pPr marL="0" lvl="0" indent="0" algn="l" rtl="0">
              <a:spcBef>
                <a:spcPts val="400"/>
              </a:spcBef>
              <a:spcAft>
                <a:spcPts val="0"/>
              </a:spcAft>
              <a:buClr>
                <a:srgbClr val="000000"/>
              </a:buClr>
              <a:buSzPts val="1500"/>
              <a:buFont typeface="Arial"/>
              <a:buNone/>
            </a:pPr>
            <a:r>
              <a:rPr lang="en-US" sz="1600" b="1" dirty="0"/>
              <a:t>RISK MANAGEMENT PLAN</a:t>
            </a:r>
            <a:endParaRPr lang="en-US" sz="1600" dirty="0"/>
          </a:p>
          <a:p>
            <a:pPr marL="342906" lvl="0" indent="-342906" algn="l" rtl="0">
              <a:spcBef>
                <a:spcPts val="400"/>
              </a:spcBef>
              <a:spcAft>
                <a:spcPts val="0"/>
              </a:spcAft>
              <a:buClr>
                <a:srgbClr val="000000"/>
              </a:buClr>
              <a:buSzPts val="2000"/>
              <a:buFont typeface="Arial"/>
              <a:buChar char="•"/>
            </a:pPr>
            <a:r>
              <a:rPr lang="en-US" sz="1600" dirty="0"/>
              <a:t>Careful site and data review / selection</a:t>
            </a:r>
          </a:p>
          <a:p>
            <a:pPr marL="342906" lvl="0" indent="-342906" algn="l" rtl="0">
              <a:spcBef>
                <a:spcPts val="400"/>
              </a:spcBef>
              <a:spcAft>
                <a:spcPts val="0"/>
              </a:spcAft>
              <a:buClr>
                <a:srgbClr val="000000"/>
              </a:buClr>
              <a:buSzPts val="2000"/>
              <a:buFont typeface="Arial"/>
              <a:buChar char="•"/>
            </a:pPr>
            <a:r>
              <a:rPr lang="en-US" sz="1600" dirty="0"/>
              <a:t>Careful scenario selection</a:t>
            </a:r>
          </a:p>
          <a:p>
            <a:pPr marL="342906" lvl="0" indent="-215906" algn="l" rtl="0">
              <a:spcBef>
                <a:spcPts val="400"/>
              </a:spcBef>
              <a:spcAft>
                <a:spcPts val="0"/>
              </a:spcAft>
              <a:buClr>
                <a:srgbClr val="000000"/>
              </a:buClr>
              <a:buSzPts val="2000"/>
              <a:buFont typeface="Arial"/>
              <a:buNone/>
            </a:pPr>
            <a:endParaRPr lang="en-US" sz="1600" dirty="0"/>
          </a:p>
          <a:p>
            <a:pPr marL="0" lvl="0" indent="0" algn="l" rtl="0">
              <a:spcBef>
                <a:spcPts val="400"/>
              </a:spcBef>
              <a:spcAft>
                <a:spcPts val="0"/>
              </a:spcAft>
              <a:buClr>
                <a:srgbClr val="000000"/>
              </a:buClr>
              <a:buSzPts val="2000"/>
              <a:buFont typeface="Arial"/>
              <a:buNone/>
            </a:pPr>
            <a:r>
              <a:rPr lang="en-US" sz="1600" b="1" dirty="0"/>
              <a:t>SCALE-UP STRATEGY</a:t>
            </a:r>
            <a:endParaRPr lang="en-US" sz="1600" dirty="0"/>
          </a:p>
          <a:p>
            <a:pPr marL="0" lvl="0" indent="0" algn="l" rtl="0">
              <a:spcBef>
                <a:spcPts val="400"/>
              </a:spcBef>
              <a:spcAft>
                <a:spcPts val="0"/>
              </a:spcAft>
              <a:buClr>
                <a:srgbClr val="000000"/>
              </a:buClr>
              <a:buSzPts val="1500"/>
              <a:buFont typeface="Arial"/>
              <a:buNone/>
            </a:pPr>
            <a:r>
              <a:rPr lang="en-US" sz="1600" dirty="0"/>
              <a:t>In order to scale this technology to all relevant coastal DoD installations, additional pilots would be required in future years across the main coastal US regions.</a:t>
            </a:r>
          </a:p>
        </p:txBody>
      </p:sp>
      <p:sp>
        <p:nvSpPr>
          <p:cNvPr id="2458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E650E0F8-E0FC-4E56-8149-57E0F848F19A}" type="slidenum">
              <a:rPr lang="en-US" altLang="en-US" sz="1050"/>
              <a:pPr>
                <a:spcBef>
                  <a:spcPct val="0"/>
                </a:spcBef>
                <a:buSzTx/>
                <a:buFontTx/>
                <a:buNone/>
              </a:pPr>
              <a:t>29</a:t>
            </a:fld>
            <a:endParaRPr lang="en-US" altLang="en-US" sz="1050"/>
          </a:p>
        </p:txBody>
      </p:sp>
    </p:spTree>
    <p:extLst>
      <p:ext uri="{BB962C8B-B14F-4D97-AF65-F5344CB8AC3E}">
        <p14:creationId xmlns:p14="http://schemas.microsoft.com/office/powerpoint/2010/main" val="38578901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01BC8-5609-67EF-9603-0DDB19D0A689}"/>
              </a:ext>
            </a:extLst>
          </p:cNvPr>
          <p:cNvSpPr>
            <a:spLocks noGrp="1"/>
          </p:cNvSpPr>
          <p:nvPr>
            <p:ph type="title"/>
          </p:nvPr>
        </p:nvSpPr>
        <p:spPr/>
        <p:txBody>
          <a:bodyPr>
            <a:normAutofit fontScale="90000"/>
          </a:bodyPr>
          <a:lstStyle/>
          <a:p>
            <a:r>
              <a:rPr lang="en-US"/>
              <a:t>Additional Slide(s) for High-Quality Photos</a:t>
            </a:r>
          </a:p>
        </p:txBody>
      </p:sp>
      <p:sp>
        <p:nvSpPr>
          <p:cNvPr id="3" name="Slide Number Placeholder 2">
            <a:extLst>
              <a:ext uri="{FF2B5EF4-FFF2-40B4-BE49-F238E27FC236}">
                <a16:creationId xmlns:a16="http://schemas.microsoft.com/office/drawing/2014/main" id="{C4555B36-FBF9-523D-C85B-AF6363BF7EEC}"/>
              </a:ext>
            </a:extLst>
          </p:cNvPr>
          <p:cNvSpPr>
            <a:spLocks noGrp="1"/>
          </p:cNvSpPr>
          <p:nvPr>
            <p:ph type="sldNum" sz="quarter" idx="12"/>
          </p:nvPr>
        </p:nvSpPr>
        <p:spPr/>
        <p:txBody>
          <a:bodyPr/>
          <a:lstStyle/>
          <a:p>
            <a:fld id="{48F63A3B-78C7-47BE-AE5E-E10140E04643}" type="slidenum">
              <a:rPr lang="en-US" smtClean="0"/>
              <a:t>30</a:t>
            </a:fld>
            <a:endParaRPr lang="en-US"/>
          </a:p>
        </p:txBody>
      </p:sp>
      <p:pic>
        <p:nvPicPr>
          <p:cNvPr id="4" name="Google Shape;213;p9">
            <a:extLst>
              <a:ext uri="{FF2B5EF4-FFF2-40B4-BE49-F238E27FC236}">
                <a16:creationId xmlns:a16="http://schemas.microsoft.com/office/drawing/2014/main" id="{299C9060-D159-62CF-177E-F8D2EA57F8B3}"/>
              </a:ext>
            </a:extLst>
          </p:cNvPr>
          <p:cNvPicPr preferRelativeResize="0"/>
          <p:nvPr/>
        </p:nvPicPr>
        <p:blipFill rotWithShape="1">
          <a:blip r:embed="rId2">
            <a:alphaModFix/>
          </a:blip>
          <a:srcRect/>
          <a:stretch/>
        </p:blipFill>
        <p:spPr>
          <a:xfrm>
            <a:off x="1624753" y="1175657"/>
            <a:ext cx="5894493" cy="3530850"/>
          </a:xfrm>
          <a:prstGeom prst="rect">
            <a:avLst/>
          </a:prstGeom>
          <a:noFill/>
          <a:ln>
            <a:noFill/>
          </a:ln>
        </p:spPr>
      </p:pic>
    </p:spTree>
    <p:extLst>
      <p:ext uri="{BB962C8B-B14F-4D97-AF65-F5344CB8AC3E}">
        <p14:creationId xmlns:p14="http://schemas.microsoft.com/office/powerpoint/2010/main" val="3530632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D4D9-C2F5-FD52-7BC7-718A150283EA}"/>
              </a:ext>
            </a:extLst>
          </p:cNvPr>
          <p:cNvSpPr>
            <a:spLocks noGrp="1"/>
          </p:cNvSpPr>
          <p:nvPr>
            <p:ph type="title"/>
          </p:nvPr>
        </p:nvSpPr>
        <p:spPr/>
        <p:txBody>
          <a:bodyPr/>
          <a:lstStyle/>
          <a:p>
            <a:r>
              <a:rPr lang="en-US"/>
              <a:t>Acronym List</a:t>
            </a:r>
          </a:p>
        </p:txBody>
      </p:sp>
      <p:sp>
        <p:nvSpPr>
          <p:cNvPr id="3" name="Slide Number Placeholder 2">
            <a:extLst>
              <a:ext uri="{FF2B5EF4-FFF2-40B4-BE49-F238E27FC236}">
                <a16:creationId xmlns:a16="http://schemas.microsoft.com/office/drawing/2014/main" id="{BA580A5D-7B3B-47D9-070A-1CFBB25EB29E}"/>
              </a:ext>
            </a:extLst>
          </p:cNvPr>
          <p:cNvSpPr>
            <a:spLocks noGrp="1"/>
          </p:cNvSpPr>
          <p:nvPr>
            <p:ph type="sldNum" sz="quarter" idx="12"/>
          </p:nvPr>
        </p:nvSpPr>
        <p:spPr/>
        <p:txBody>
          <a:bodyPr/>
          <a:lstStyle/>
          <a:p>
            <a:fld id="{48F63A3B-78C7-47BE-AE5E-E10140E04643}" type="slidenum">
              <a:rPr lang="en-US" smtClean="0"/>
              <a:t>31</a:t>
            </a:fld>
            <a:endParaRPr lang="en-US"/>
          </a:p>
        </p:txBody>
      </p:sp>
      <p:sp>
        <p:nvSpPr>
          <p:cNvPr id="4" name="Rectangle 3">
            <a:extLst>
              <a:ext uri="{FF2B5EF4-FFF2-40B4-BE49-F238E27FC236}">
                <a16:creationId xmlns:a16="http://schemas.microsoft.com/office/drawing/2014/main" id="{567F277B-676E-4145-847F-6E988440881F}"/>
              </a:ext>
            </a:extLst>
          </p:cNvPr>
          <p:cNvSpPr txBox="1">
            <a:spLocks noChangeArrowheads="1"/>
          </p:cNvSpPr>
          <p:nvPr/>
        </p:nvSpPr>
        <p:spPr>
          <a:xfrm>
            <a:off x="628650" y="1369219"/>
            <a:ext cx="7886700" cy="3263504"/>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Clr>
                <a:srgbClr val="32859B"/>
              </a:buClr>
              <a:buFont typeface="Wingdings" panose="05000000000000000000" pitchFamily="2" charset="2"/>
              <a:buChar char="§"/>
            </a:pPr>
            <a:r>
              <a:rPr lang="en-US" altLang="en-US" dirty="0"/>
              <a:t>Delft3D-FM: Delft 3-Dimensional Flexible Mesh</a:t>
            </a:r>
          </a:p>
          <a:p>
            <a:pPr>
              <a:buClr>
                <a:srgbClr val="32859B"/>
              </a:buClr>
              <a:buFont typeface="Wingdings" panose="05000000000000000000" pitchFamily="2" charset="2"/>
              <a:buChar char="§"/>
            </a:pPr>
            <a:r>
              <a:rPr lang="en-US" altLang="en-US" dirty="0" err="1"/>
              <a:t>NBSDynamics</a:t>
            </a:r>
            <a:r>
              <a:rPr lang="en-US" altLang="en-US" dirty="0"/>
              <a:t>: Nature Based Solutions Dynamics</a:t>
            </a:r>
          </a:p>
          <a:p>
            <a:pPr>
              <a:buClr>
                <a:srgbClr val="32859B"/>
              </a:buClr>
              <a:buFont typeface="Wingdings" panose="05000000000000000000" pitchFamily="2" charset="2"/>
              <a:buChar char="§"/>
            </a:pPr>
            <a:r>
              <a:rPr lang="en-US" altLang="en-US" dirty="0"/>
              <a:t>RMSE: Root Mean Square Error</a:t>
            </a:r>
          </a:p>
          <a:p>
            <a:pPr>
              <a:buClr>
                <a:srgbClr val="32859B"/>
              </a:buClr>
              <a:buFont typeface="Wingdings" panose="05000000000000000000" pitchFamily="2" charset="2"/>
              <a:buChar char="§"/>
            </a:pPr>
            <a:r>
              <a:rPr lang="en-US" altLang="en-US" dirty="0"/>
              <a:t>SEMIDEC: </a:t>
            </a:r>
            <a:r>
              <a:rPr lang="en-US" altLang="en-US" b="1" u="sng" dirty="0" err="1"/>
              <a:t>SE</a:t>
            </a:r>
            <a:r>
              <a:rPr lang="en-US" altLang="en-US" dirty="0" err="1"/>
              <a:t>dimentation</a:t>
            </a:r>
            <a:r>
              <a:rPr lang="en-US" altLang="en-US" dirty="0"/>
              <a:t>, </a:t>
            </a:r>
            <a:r>
              <a:rPr lang="en-US" altLang="en-US" b="1" u="sng" dirty="0" err="1"/>
              <a:t>MI</a:t>
            </a:r>
            <a:r>
              <a:rPr lang="en-US" altLang="en-US" dirty="0" err="1"/>
              <a:t>neralization</a:t>
            </a:r>
            <a:r>
              <a:rPr lang="en-US" altLang="en-US" dirty="0"/>
              <a:t>, and </a:t>
            </a:r>
            <a:r>
              <a:rPr lang="en-US" altLang="en-US" b="1" u="sng" dirty="0" err="1"/>
              <a:t>DEC</a:t>
            </a:r>
            <a:r>
              <a:rPr lang="en-US" altLang="en-US" dirty="0" err="1"/>
              <a:t>omposition</a:t>
            </a:r>
            <a:r>
              <a:rPr lang="en-US" altLang="en-US" dirty="0"/>
              <a:t> model</a:t>
            </a:r>
          </a:p>
        </p:txBody>
      </p:sp>
    </p:spTree>
    <p:extLst>
      <p:ext uri="{BB962C8B-B14F-4D97-AF65-F5344CB8AC3E}">
        <p14:creationId xmlns:p14="http://schemas.microsoft.com/office/powerpoint/2010/main" val="302707701"/>
      </p:ext>
    </p:extLst>
  </p:cSld>
  <p:clrMapOvr>
    <a:masterClrMapping/>
  </p:clrMapOvr>
</p:sld>
</file>

<file path=ppt/theme/theme1.xml><?xml version="1.0" encoding="utf-8"?>
<a:theme xmlns:a="http://schemas.openxmlformats.org/drawingml/2006/main" name="Office Theme">
  <a:themeElements>
    <a:clrScheme name="SERDP">
      <a:dk1>
        <a:srgbClr val="000000"/>
      </a:dk1>
      <a:lt1>
        <a:srgbClr val="FFFFFF"/>
      </a:lt1>
      <a:dk2>
        <a:srgbClr val="0F202F"/>
      </a:dk2>
      <a:lt2>
        <a:srgbClr val="F3F6F6"/>
      </a:lt2>
      <a:accent1>
        <a:srgbClr val="005C8F"/>
      </a:accent1>
      <a:accent2>
        <a:srgbClr val="612771"/>
      </a:accent2>
      <a:accent3>
        <a:srgbClr val="6B7780"/>
      </a:accent3>
      <a:accent4>
        <a:srgbClr val="30869D"/>
      </a:accent4>
      <a:accent5>
        <a:srgbClr val="C59C61"/>
      </a:accent5>
      <a:accent6>
        <a:srgbClr val="3A5F51"/>
      </a:accent6>
      <a:hlink>
        <a:srgbClr val="333366"/>
      </a:hlink>
      <a:folHlink>
        <a:srgbClr val="80303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STCP Widescreen" id="{5F948F49-CEA6-524B-8FBC-D2E6C0DDCAFF}" vid="{60799A39-BA57-A740-9D2C-85538A567F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AA7F2495C784438523B28F5A4E3CC1" ma:contentTypeVersion="25" ma:contentTypeDescription="Create a new document." ma:contentTypeScope="" ma:versionID="7f2f22bb52623fa47f3d4cdff037e4fc">
  <xsd:schema xmlns:xsd="http://www.w3.org/2001/XMLSchema" xmlns:xs="http://www.w3.org/2001/XMLSchema" xmlns:p="http://schemas.microsoft.com/office/2006/metadata/properties" xmlns:ns1="http://schemas.microsoft.com/sharepoint/v3" xmlns:ns2="7c0c7961-a94e-4c02-a114-ff0e48d18c5f" xmlns:ns3="ef8f0426-4313-429c-93ea-5f56b643f096" targetNamespace="http://schemas.microsoft.com/office/2006/metadata/properties" ma:root="true" ma:fieldsID="98a649346854e8225bd9fde271a07fce" ns1:_="" ns2:_="" ns3:_="">
    <xsd:import namespace="http://schemas.microsoft.com/sharepoint/v3"/>
    <xsd:import namespace="7c0c7961-a94e-4c02-a114-ff0e48d18c5f"/>
    <xsd:import namespace="ef8f0426-4313-429c-93ea-5f56b643f09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DateTaken" minOccurs="0"/>
                <xsd:element ref="ns2:MediaServiceLocation" minOccurs="0"/>
                <xsd:element ref="ns2:MediaServiceOCR" minOccurs="0"/>
                <xsd:element ref="ns2:MediaServiceEventHashCode" minOccurs="0"/>
                <xsd:element ref="ns2:MediaServiceGenerationTime" minOccurs="0"/>
                <xsd:element ref="ns2:MediaLengthInSeconds" minOccurs="0"/>
                <xsd:element ref="ns1:_ip_UnifiedCompliancePolicyProperties" minOccurs="0"/>
                <xsd:element ref="ns1:_ip_UnifiedCompliancePolicyUIAc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c0c7961-a94e-4c02-a114-ff0e48d18c5f" elementFormDefault="qualified">
    <xsd:import namespace="http://schemas.microsoft.com/office/2006/documentManagement/types"/>
    <xsd:import namespace="http://schemas.microsoft.com/office/infopath/2007/PartnerControls"/>
    <xsd:element name="MediaServiceMetadata" ma:index="4" nillable="true" ma:displayName="MediaServiceMetadata" ma:hidden="true" ma:internalName="MediaServiceMetadata" ma:readOnly="true">
      <xsd:simpleType>
        <xsd:restriction base="dms:Note"/>
      </xsd:simpleType>
    </xsd:element>
    <xsd:element name="MediaServiceFastMetadata" ma:index="5" nillable="true" ma:displayName="MediaServiceFastMetadata" ma:hidden="true" ma:internalName="MediaServiceFastMetadata" ma:readOnly="true">
      <xsd:simpleType>
        <xsd:restriction base="dms:Note"/>
      </xsd:simpleType>
    </xsd:element>
    <xsd:element name="MediaServiceAutoTags" ma:index="8" nillable="true" ma:displayName="Tags" ma:internalName="MediaServiceAutoTags" ma:readOnly="true">
      <xsd:simpleType>
        <xsd:restriction base="dms:Text"/>
      </xsd:simpleType>
    </xsd:element>
    <xsd:element name="MediaServiceDateTaken" ma:index="9" nillable="true" ma:displayName="MediaServiceDateTaken" ma:hidden="true" ma:internalName="MediaServiceDateTaken" ma:readOnly="true">
      <xsd:simpleType>
        <xsd:restriction base="dms:Text"/>
      </xsd:simpleType>
    </xsd:element>
    <xsd:element name="MediaServiceLocation" ma:index="10" nillable="true" ma:displayName="Location" ma:internalName="MediaServiceLocatio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LengthInSeconds" ma:index="14" nillable="true" ma:displayName="MediaLengthInSeconds" ma:description=""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e03786b-7b34-4d5f-a8ee-586c7f7c044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f8f0426-4313-429c-93ea-5f56b643f096" elementFormDefault="qualified">
    <xsd:import namespace="http://schemas.microsoft.com/office/2006/documentManagement/types"/>
    <xsd:import namespace="http://schemas.microsoft.com/office/infopath/2007/PartnerControls"/>
    <xsd:element name="SharedWithUsers" ma:index="6"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389f39f6-5f9b-4fbc-8853-057715d2ab51}" ma:internalName="TaxCatchAll" ma:showField="CatchAllData" ma:web="ef8f0426-4313-429c-93ea-5f56b643f0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c0c7961-a94e-4c02-a114-ff0e48d18c5f">
      <Terms xmlns="http://schemas.microsoft.com/office/infopath/2007/PartnerControls"/>
    </lcf76f155ced4ddcb4097134ff3c332f>
    <_ip_UnifiedCompliancePolicyUIAction xmlns="http://schemas.microsoft.com/sharepoint/v3" xsi:nil="true"/>
    <TaxCatchAll xmlns="ef8f0426-4313-429c-93ea-5f56b643f096"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057F7C-938B-4911-8DA5-06A3ACCC582C}">
  <ds:schemaRefs>
    <ds:schemaRef ds:uri="7c0c7961-a94e-4c02-a114-ff0e48d18c5f"/>
    <ds:schemaRef ds:uri="ef8f0426-4313-429c-93ea-5f56b643f0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1657EDA-717D-4B1C-8B5A-06104291BE3A}">
  <ds:schemaRefs>
    <ds:schemaRef ds:uri="http://schemas.microsoft.com/sharepoint/v3"/>
    <ds:schemaRef ds:uri="http://www.w3.org/XML/1998/namespace"/>
    <ds:schemaRef ds:uri="http://schemas.microsoft.com/office/2006/metadata/properties"/>
    <ds:schemaRef ds:uri="http://purl.org/dc/dcmityp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ef8f0426-4313-429c-93ea-5f56b643f096"/>
    <ds:schemaRef ds:uri="7c0c7961-a94e-4c02-a114-ff0e48d18c5f"/>
    <ds:schemaRef ds:uri="http://purl.org/dc/terms/"/>
  </ds:schemaRefs>
</ds:datastoreItem>
</file>

<file path=customXml/itemProps3.xml><?xml version="1.0" encoding="utf-8"?>
<ds:datastoreItem xmlns:ds="http://schemas.openxmlformats.org/officeDocument/2006/customXml" ds:itemID="{D4577CA0-C319-4D10-83F4-1805D7640BBC}">
  <ds:schemaRefs>
    <ds:schemaRef ds:uri="http://schemas.microsoft.com/sharepoint/v3/contenttype/forms"/>
  </ds:schemaRefs>
</ds:datastoreItem>
</file>

<file path=docMetadata/LabelInfo.xml><?xml version="1.0" encoding="utf-8"?>
<clbl:labelList xmlns:clbl="http://schemas.microsoft.com/office/2020/mipLabelMetadata">
  <clbl:label id="{3ce0b61c-3e9d-4790-85f1-d44a713bf642}" enabled="0" method="" siteId="{3ce0b61c-3e9d-4790-85f1-d44a713bf642}" removed="1"/>
</clbl:labelList>
</file>

<file path=docProps/app.xml><?xml version="1.0" encoding="utf-8"?>
<Properties xmlns="http://schemas.openxmlformats.org/officeDocument/2006/extended-properties" xmlns:vt="http://schemas.openxmlformats.org/officeDocument/2006/docPropsVTypes">
  <Template>Office Theme</Template>
  <TotalTime>557</TotalTime>
  <Words>4650</Words>
  <Application>Microsoft Macintosh PowerPoint</Application>
  <PresentationFormat>On-screen Show (16:9)</PresentationFormat>
  <Paragraphs>664</Paragraphs>
  <Slides>31</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ＭＳ Ｐゴシック</vt:lpstr>
      <vt:lpstr>Aptos</vt:lpstr>
      <vt:lpstr>Arial</vt:lpstr>
      <vt:lpstr>Calibri</vt:lpstr>
      <vt:lpstr>Proxima Nova</vt:lpstr>
      <vt:lpstr>Times New Roman</vt:lpstr>
      <vt:lpstr>Wingdings</vt:lpstr>
      <vt:lpstr>Office Theme</vt:lpstr>
      <vt:lpstr>Advancing Engineering Design Guidance for Constructed Salt Marshes with High Fidelity Modeling and Long-Term Monitoring</vt:lpstr>
      <vt:lpstr>Project Team</vt:lpstr>
      <vt:lpstr>Bottom Line Up Front</vt:lpstr>
      <vt:lpstr>Bottom Line Up Front (continued)</vt:lpstr>
      <vt:lpstr>Site Description</vt:lpstr>
      <vt:lpstr>Technical Approach and Test Design</vt:lpstr>
      <vt:lpstr>Technical Approach and Test Design (Technical Approach Example diagram on next slide)</vt:lpstr>
      <vt:lpstr>Technical Approach and Test Design (Technical Approach Example diagram on next slide)</vt:lpstr>
      <vt:lpstr>Technical Approach and Test Design</vt:lpstr>
      <vt:lpstr>Technical Approach</vt:lpstr>
      <vt:lpstr>Performance Objectives</vt:lpstr>
      <vt:lpstr>Results to Date</vt:lpstr>
      <vt:lpstr>Results to Date</vt:lpstr>
      <vt:lpstr>Results to Date</vt:lpstr>
      <vt:lpstr>Issues</vt:lpstr>
      <vt:lpstr>Next Steps</vt:lpstr>
      <vt:lpstr>Impact to DoD Mission  </vt:lpstr>
      <vt:lpstr>Impact to DoD Mission (continued)  </vt:lpstr>
      <vt:lpstr>Impact to DoD Mission (continued)  </vt:lpstr>
      <vt:lpstr>Technology Transfer</vt:lpstr>
      <vt:lpstr>Project Funding (Submit this table to your Program Office 2 weeks in advance of the IPR)</vt:lpstr>
      <vt:lpstr>BACKUP MATERIAL</vt:lpstr>
      <vt:lpstr>PowerPoint Presentation</vt:lpstr>
      <vt:lpstr>Plain Language Summary</vt:lpstr>
      <vt:lpstr>Action Items</vt:lpstr>
      <vt:lpstr>Status of Funds for Federal Performers</vt:lpstr>
      <vt:lpstr>Publications</vt:lpstr>
      <vt:lpstr>Literature Cited</vt:lpstr>
      <vt:lpstr>Technical Risks</vt:lpstr>
      <vt:lpstr>Additional Slide(s) for High-Quality Photos</vt:lpstr>
      <vt:lpstr>Acronym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ESTCP PROJECT</dc:title>
  <dc:creator>Mack, Laura</dc:creator>
  <cp:lastModifiedBy>Steissberg, Todd E CIV USARMY CEERD-EL (USA)</cp:lastModifiedBy>
  <cp:revision>62</cp:revision>
  <dcterms:created xsi:type="dcterms:W3CDTF">2024-01-05T21:40:12Z</dcterms:created>
  <dcterms:modified xsi:type="dcterms:W3CDTF">2025-06-06T22:06:01Z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0x01010026AA7F2495C784438523B28F5A4E3CC1</vt:lpwstr>
  </property>
  <property fmtid="{D5CDD505-2E9C-101B-9397-08002B2CF9AE}" pid="3" name="MediaServiceImageTags">
    <vt:lpwstr/>
  </property>
</Properties>
</file>